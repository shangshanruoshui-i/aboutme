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  <Relationship Id="rId27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各位好，我今天介绍的项目是货拉拉智能物流大模型助手。我想先用一句话给出定位：它不是一个对话 Demo，而是一套可编排、可治理、可评测、可观测的企业级物流多 Agent 平台。封面上这四个数字是整个项目的骨架：四个业务编排器、十个 Agent 模板、二十一个 Skill、七个治理模块，后面每一页都会回到它们。技术栈是 Java 十七、Spring Boot 三点五加 React 前端，模型层通过统一的路由接入多家供应商。接下来我会沿着业务场景、检索链路、Agent 执行、治理和工程底座这条线，用大约十二分钟讲完。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这页是内容导航，也是我讲解的路线图。整个介绍分六个部分：先看项目概览，再用一页讲清双端业务场景和四类业务流水线；第三部分是 RAG 链路，从查询改写到流式输出；第四部分是多 Agent 执行，包括编排模式、任务队列和可靠性设计，这也是项目最核心的部分；第五部分讲治理体系；最后是评测、可观测这些工程底座和后续演进。每一部分都可以独立回答一类问题，如果您对某一段特别感兴趣，我们也可以跳过去展开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页用一组数字建立项目的规模感。项目面向货主、司机和运营三类角色，覆盖计价、下单、调度、跨境、纠纷这些真实货运场景。我最想强调的是下面三行：业务上，双端对话直接服务货运场景；平台上，持久化任务队列驱动多个 Agent 可靠执行；工程上，评测、可观测、安全防护和审计是开箱即用的。右下角六个数字里，两个大 Harness 指的是评测和可观测两套自研底座，五个 Maven 模块说明它不是单体堆出来的，而是按职责拆分的工程结构。这里通常会被追问和直接用开源框架拼装的区别，我的回答是：编排、队列、治理全部自研，所以每一层的设计取舍我都说得清楚。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进入业务场景。货主端关心运费预估、下单咨询、理赔指引和网点查询；司机端关心收益、附近订单、接单指引和安全规范。关键设计在于底部这条共享链路：两类角色走的是同一套意图树、RAG 检索和 MCP 工具，差别只在装配——角色决定提示词、意图树根节点和工具白名单，比如司机才能调收益查询工具；区域决定币种和业务规则，大陆和香港是两套配置。这样做的好处是新增一个角色或区域不需要新写一条链路，只改装配元数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这页是业务场景的章节枢纽，四类业务各自对应一个编排器。运单规划是典型的串行主链加并行聚合：先解析意图，然后多车型报价、司机匹配，最后路线和解释并行生成。司机调度用的是 Agent Loop，模型自己决定先查司机还是先查状态，完整工具轨迹会保留下来。跨境物流把清关、路线、时效三路互不依赖的分析并行跑，报价和解释串行在后。异常处理从检测到归因和方案推荐并行，再到高额赔付必须人工审批。四个编排器共用同一套任务队列和 Agent 底座，这个底座就是第四部分的主角。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现在拆开 RAG 链路。一条消息进来要经过八段流水线：先加载会话记忆，查询改写负责指代消解和复杂问题拆分，比如用户一句话里同时问了价格和时效，会被拆成两个子问题分别处理；然后意图识别，如果问题有歧义会走引导澄清提前结束，纯闲聊则系统直答；命中后进入双通道检索、Rerank 精排、按场景组装提示词、模型路由调用，最后流式输出。我想强调的是每段职责单一、可独立替换，对应实现类都列在页面底部，欢迎落地时逐个核对。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检索这页回答一个经典问题：为什么不用一路向量检索。全局通道在全库范围保召回，防止意图误判导致彻底漏召回；意图定向通道只去命中的知识库集合里找，保精度、噪声低。两路用线程池并行执行互不阻塞，合并去重之后交给 Rerank 精排，底层是 pgvector 的一千五百三十六维向量和 HNSW 索引。如果重排服务不可用，会降级直通，不让检索变成单点故障。一句话总结：召回负责不漏，精排负责排对。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页解释提示词是怎么来的。角色、区域、意图三个维度共同决定一次请求的上下文：角色给系统提示词和工具白名单，区域给币种语言和业务规则，意图节点绑定知识库、提示词模板和可能的工具。右边深色卡片就是一次请求最终组装出来的四样东西。组装时还会按检索来源自动选择模板，纯知识、纯工具、混合三种场景各一套，温度参数也不同，工具场景放宽到零点三避免输出过于随机。所以面试里我说提示词体系，指的不是一段写死的 Prompt，而是这套三维装配机制。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工具这页的链路是：工具 Bean 启动时自动注册，意图节点绑定工具 ID，命中后由模型从自然语言里提取结构化参数，再按 MCP 协议调用独立部署的 mcp-server，结构化结果作为证据回到提示词里。下面五个工具覆盖了运费预估、司机收益、附近订单、网点和地理编码。这一页我也想给三层概念划清边界：Function Call 是模型表达调用意图的方式，MCP 是标准化的工具发现与执行协议，Skill 决定什么时候该用哪个工具——它们是三层能力，不是三选一。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进入多 Agent 执行部分，先看三种编排模式。第一种是 Mono.zip 并行聚合，没有依赖的 Agent 同时启动，全部完成后聚合，跨境物流的三路分析就是典型。第二种是串行流水线，上一步的输出是下一步的输入，运单规划主链就是这样。第三种是 Agent Loop，模型在思考、调工具、观察结果之间循环直到收敛，司机调度用的就是它，失败时还有降级兜底。选择的标准很朴素：依赖关系决定串行还是并行，不确定性决定要不要交给模型自主决策。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这页是整个平台的地基：基于 PostgreSQL 的持久化任务队列。状态机从排队、领取到执行中，正常走到完成；失败的任务按重试次数重新入队；需要人工时进入等待人工状态，审批或交接后恢复执行。左下角是事件流设计：每个任务有独立单调的事件序号，用 PostgreSQL 的 advisory lock 保证并发下不重不乱，事件类型覆盖开始、进度、工具调用、重试这些节点。右下角是断点回放，前端刷新后从上次的序号增量拉取，进度不丢。面试里被问到为什么不用消息队列时，我的答案是：长任务需要可查询、可审批、可审计，关系库才是它的事实来源，项目里 RocketMQ 负责的是文档分块这类事件解耦。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可靠性这页把四个机制和四类故障一一对应。幂等键防的是重复提交，浏览器重试不会产生两个任务；CAS 原子领取防的是多消费者竞争，条件更新只有一个消费者能改成功；执行租约防的是消费者宕机任务卡死，租约一百二十秒可续期，过期回收重新入队；失败重试防的是偶发异常直接终局，三次以内重新入队，超过就标记失败并触发自动化事件。四个机制合起来是至少成功一次的语义，业务侧再靠幂等键兜底去重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Agent 体系是配置出来的，不是写死的。左边模板相当于岗位说明书，定义角色、目标和推荐技能清单；中间是按模板创建的运行实例，携带配置快照；右边二十一个 Skill 是能力包，由注入器在执行时装配进上下文。下面列了十个预置模板，从意图分析到通知生成正好覆盖四类流水线；REQUIRED 级的 Skill 是实例创建时的硬校验项，缺了就建不起来。这套结构的价值是新增一个 Agent 角色的成本被降到了配置级别。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治理体系是我在项目里投入精力最多、也最能区分 Demo 和平台的部分。七个模块按职能分组：策略引擎做三级判定，允许、需审批、拒绝；审批和交接负责人机协作，拒绝必须附理由；自动化引擎和定时调度让平台能事件驱动也能时间驱动；审计台账回答谁在什么时候对什么做了什么；安全防护在输入输出两侧把关。核心思想一句话：模型负责生成动作，治理层用确定性规则决定这个动作能不能执行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这页把审批和安全展开走一遍。上面是审批链：Agent 提议动作，策略引擎判定需要审批，任务进入等待人工状态，管理员在审批中心通过或拒绝，拒绝要附理由，然后回调恢复或终止，全程留痕。下面是双侧防护：输入侧防提示注入、敏感词、个人信息并做频控；输出侧做内容安全和价格一致性校验，物流场景价格说错是要出事故的。这些防护项在管理后台可以实时启停，拦截记录可查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评测这页回答怎么证明改动是变好还是变坏。流水线是四步：YAML 用例加载、按类型分派执行器、线程池并行执行、输出报告。表格是三类用例和各自的校验方式：意图评测校验命中意图和置信区间，正例要高于下限、负例要压到上限以内；工具调用评测校验工具和参数，宽松模式查参数存在，严格模式精确比对；端到端评测按步骤校验槽位。支持全量回归、按标签快跑和按类型三种模式。我的原则是：改提示词不靠感觉，跑同一把尺子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可观测和评测是互补的：评测回答离线质量，可观测回答线上到底发生了什么。链路是两个注解声明采集点，追踪管理器和指标采集器聚合，落库后由看板接口输出。指标视图用滑动窗口统计成功率、分位延迟、拦截数和模型降级次数；追踪视图把意图、检索、精排、模型路由画成一棵 Span 树，每个节点有耗时和输入输出摘要。排障方式从翻日志变成了看哪一段变慢变红，这也是坏例归因的起点。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这页把前面所有能力放回全景。前端 React 十八加 TypeScript，十二个多 Agent 工作台页加十三个管理页；中间主应用承载 RAG、编排、Harness 和管理接口；右边模型路由和工具服务各自独立；再往下是角色路由、意图树和通用框架层；数据层是 PostgreSQL 加 pgvector、Redis、RocketMQ 各司其职。最想强调的是最下面一行：四家模型供应商的差异被收敛到统一的客户端抽象之后，业务代码只依赖接口，换模型不改业务。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项目是按九个阶段逐步长出来的：从任务协议、模板、队列，到 Skill、审批、人工协作、自动化调度、可观测，最后是前端全量管理页面，这个顺序本身体现了先地基后能力的工程节奏。下一阶段有四个方向：模型训练平台，用线上对话和点赞点踩做数据，LoRA 微调加 DPO 对齐，再通过 vLLM 部署接回现有模型路由；混合检索增强，补 BM25 通道和 RRF 融合；开放互联，对齐 A2A 协议和 Skill 开放格式；以及记忆体系升级。架构上扩展点都留好了，演进不打翻已有设计。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最后收束到八个字：可编排、可治理、可评测、可观测。它对应三层价值：真实货运业务场景、可靠的多 Agent 执行、全链路工程化底座。仓库地址在屏幕上，README 和建表脚本齐备，可以本地复现。感谢各位的时间，任何一页的实现细节我都欢迎深入追问。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uolala_agent_intr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uolala_agent_intr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1517142" y="616268"/>
            <a:ext cx="4734306" cy="264033"/>
            <a:chOff x="1517142" y="616268"/>
            <a:chExt cx="4734306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1517142" y="616268"/>
              <a:ext cx="47343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项目介绍 · LALAMOVE AI AGENT PLATFORM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04950" y="1539240"/>
            <a:ext cx="7792212" cy="933450"/>
            <a:chOff x="1504950" y="1539240"/>
            <a:chExt cx="7792212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1504950" y="1539240"/>
              <a:ext cx="779221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货拉拉智能物流大模型助手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11808" y="2541270"/>
            <a:ext cx="5427805" cy="469392"/>
            <a:chOff x="1511808" y="2541270"/>
            <a:chExt cx="5427805" cy="469392"/>
          </a:xfrm>
        </p:grpSpPr>
        <p:sp>
          <p:nvSpPr>
            <p:cNvPr id="7" name="TextBox 7"/>
            <p:cNvSpPr txBox="1"/>
            <p:nvPr/>
          </p:nvSpPr>
          <p:spPr>
            <a:xfrm>
              <a:off x="1511808" y="2541270"/>
              <a:ext cx="542780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从对话 Demo 到</a:t>
              </a: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企业级多 Agent 平台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17142" y="3130868"/>
            <a:ext cx="6292705" cy="264033"/>
            <a:chOff x="1517142" y="3130868"/>
            <a:chExt cx="6292705" cy="264033"/>
          </a:xfrm>
        </p:grpSpPr>
        <p:sp>
          <p:nvSpPr>
            <p:cNvPr id="9" name="TextBox 9"/>
            <p:cNvSpPr txBox="1"/>
            <p:nvPr/>
          </p:nvSpPr>
          <p:spPr>
            <a:xfrm>
              <a:off x="1517142" y="3130868"/>
              <a:ext cx="62927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Java 17 · Spring Boot 3.5 · React 18 · PostgreSQL · Redis · RocketMQ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04950" y="4339590"/>
            <a:ext cx="8468106" cy="1169861"/>
            <a:chOff x="1504950" y="4339590"/>
            <a:chExt cx="8468106" cy="1169861"/>
          </a:xfrm>
        </p:grpSpPr>
        <p:grpSp>
          <p:nvGrpSpPr>
            <p:cNvPr id="14" name="Group 14"/>
            <p:cNvGrpSpPr/>
            <p:nvPr/>
          </p:nvGrpSpPr>
          <p:grpSpPr>
            <a:xfrm>
              <a:off x="1504950" y="4339590"/>
              <a:ext cx="752856" cy="1169861"/>
              <a:chOff x="1504950" y="4339590"/>
              <a:chExt cx="752856" cy="1169861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504950" y="4339590"/>
                <a:ext cx="411267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524000" y="5048250"/>
                <a:ext cx="266700" cy="2857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517142" y="52454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大编排器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076700" y="4339590"/>
              <a:ext cx="954070" cy="1169861"/>
              <a:chOff x="4076700" y="4339590"/>
              <a:chExt cx="954070" cy="1169861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4076700" y="4339590"/>
                <a:ext cx="784433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10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4095750" y="5048250"/>
                <a:ext cx="266700" cy="2857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088892" y="5245418"/>
                <a:ext cx="9418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Agent 模板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648450" y="4339590"/>
              <a:ext cx="816224" cy="1169861"/>
              <a:chOff x="6648450" y="4339590"/>
              <a:chExt cx="816224" cy="1169861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6648450" y="4339590"/>
                <a:ext cx="784433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21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6667500" y="5048250"/>
                <a:ext cx="266700" cy="2857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660642" y="5245418"/>
                <a:ext cx="8040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Skill 技能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9220200" y="4339590"/>
              <a:ext cx="752856" cy="1169861"/>
              <a:chOff x="9220200" y="4339590"/>
              <a:chExt cx="752856" cy="1169861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9220200" y="4339590"/>
                <a:ext cx="411267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7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9239250" y="5048250"/>
                <a:ext cx="266700" cy="2857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232392" y="52454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治理模块</a:t>
                </a: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1517904" y="6134100"/>
            <a:ext cx="10070592" cy="371856"/>
            <a:chOff x="1517904" y="6134100"/>
            <a:chExt cx="10070592" cy="371856"/>
          </a:xfrm>
        </p:grpSpPr>
        <p:sp>
          <p:nvSpPr>
            <p:cNvPr id="28" name="Line 28"/>
            <p:cNvSpPr/>
            <p:nvPr/>
          </p:nvSpPr>
          <p:spPr>
            <a:xfrm>
              <a:off x="1524000" y="61341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517904" y="627126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项目介绍 · 2026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76232" y="62712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基于真实业务场景的全栈实践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17142" y="616268"/>
            <a:ext cx="2334006" cy="264033"/>
            <a:chOff x="1517142" y="616268"/>
            <a:chExt cx="233400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1517142" y="616268"/>
              <a:ext cx="2334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内容导航 · CONTENTS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7998" y="1107758"/>
            <a:ext cx="4696587" cy="616077"/>
            <a:chOff x="1507998" y="1107758"/>
            <a:chExt cx="4696587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1507998" y="1107758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六个部分，一条完整链路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11808" y="2026920"/>
            <a:ext cx="9734550" cy="3898392"/>
            <a:chOff x="1511808" y="2026920"/>
            <a:chExt cx="9734550" cy="3898392"/>
          </a:xfrm>
        </p:grpSpPr>
        <p:grpSp>
          <p:nvGrpSpPr>
            <p:cNvPr id="10" name="Group 10"/>
            <p:cNvGrpSpPr/>
            <p:nvPr/>
          </p:nvGrpSpPr>
          <p:grpSpPr>
            <a:xfrm>
              <a:off x="1511808" y="2026920"/>
              <a:ext cx="9734550" cy="469392"/>
              <a:chOff x="1511808" y="2026920"/>
              <a:chExt cx="9734550" cy="469392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511808" y="2026920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2273808" y="2026920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项目概览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232142" y="214026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一页看懂定位与技术栈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915802" y="2140268"/>
                <a:ext cx="3305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P03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511808" y="2712720"/>
              <a:ext cx="9734550" cy="469392"/>
              <a:chOff x="1511808" y="2712720"/>
              <a:chExt cx="9734550" cy="469392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511808" y="2712720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273808" y="2712720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业务场景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232142" y="2826068"/>
                <a:ext cx="23838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双端对话与四类业务 Pipeline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78135" y="2826068"/>
                <a:ext cx="8682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P04 - P05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511808" y="3398520"/>
              <a:ext cx="9734550" cy="469392"/>
              <a:chOff x="1511808" y="3398520"/>
              <a:chExt cx="9734550" cy="469392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1511808" y="3398520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273808" y="3398520"/>
                <a:ext cx="140610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RAG 链路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232142" y="3511868"/>
                <a:ext cx="2558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检索增强、动态装配与模型路由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378135" y="3511868"/>
                <a:ext cx="8682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P06 - P09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511808" y="4084320"/>
              <a:ext cx="9734550" cy="469392"/>
              <a:chOff x="1511808" y="4084320"/>
              <a:chExt cx="9734550" cy="469392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1511808" y="4084320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04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273808" y="4084320"/>
                <a:ext cx="215394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多 Agent 执行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232142" y="419766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编排模式、任务队列与可靠性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378135" y="4197668"/>
                <a:ext cx="8682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P10 - P13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511808" y="4770120"/>
              <a:ext cx="9734550" cy="469392"/>
              <a:chOff x="1511808" y="4770120"/>
              <a:chExt cx="9734550" cy="469392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1511808" y="4770120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05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273808" y="4770120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治理体系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232142" y="488346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策略审批与安全防护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378135" y="4883468"/>
                <a:ext cx="8682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P14 - P15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511808" y="5455920"/>
              <a:ext cx="9734550" cy="469392"/>
              <a:chOff x="1511808" y="5455920"/>
              <a:chExt cx="9734550" cy="469392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1511808" y="5455920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06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273808" y="5455920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工程底座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2142" y="556926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评测、可观测、架构与演进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378135" y="5569268"/>
                <a:ext cx="8682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P16 - P19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1517904" y="6134100"/>
            <a:ext cx="10070592" cy="371856"/>
            <a:chOff x="1517904" y="6134100"/>
            <a:chExt cx="10070592" cy="371856"/>
          </a:xfrm>
        </p:grpSpPr>
        <p:sp>
          <p:nvSpPr>
            <p:cNvPr id="37" name="Line 37"/>
            <p:cNvSpPr/>
            <p:nvPr/>
          </p:nvSpPr>
          <p:spPr>
            <a:xfrm>
              <a:off x="1524000" y="61341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517904" y="62712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货拉拉智能物流大模型助手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035132" y="62712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17142" y="616268"/>
            <a:ext cx="2689250" cy="264033"/>
            <a:chOff x="1517142" y="616268"/>
            <a:chExt cx="2689250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1517142" y="616268"/>
              <a:ext cx="2689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项目概览 · OVERVIEW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7998" y="1069658"/>
            <a:ext cx="1728216" cy="616077"/>
            <a:chOff x="1507998" y="1069658"/>
            <a:chExt cx="1728216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1507998" y="1069658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项目速览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13332" y="1716405"/>
            <a:ext cx="8325211" cy="725996"/>
            <a:chOff x="1513332" y="1716405"/>
            <a:chExt cx="8325211" cy="725996"/>
          </a:xfrm>
        </p:grpSpPr>
        <p:sp>
          <p:nvSpPr>
            <p:cNvPr id="6" name="TextBox 6"/>
            <p:cNvSpPr txBox="1"/>
            <p:nvPr/>
          </p:nvSpPr>
          <p:spPr>
            <a:xfrm>
              <a:off x="1513332" y="1716405"/>
              <a:ext cx="76542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</a:t>
              </a: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货主、司机与运营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的物流智能助手，覆盖真实货运全场景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17142" y="2178368"/>
              <a:ext cx="8321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Java 17 / Spring Boot 3.5 / React 18 / PostgreSQL+pgvector / Redis / RocketMQ / 多模型路由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517142" y="2743200"/>
            <a:ext cx="10359771" cy="1242251"/>
            <a:chOff x="1517142" y="2743200"/>
            <a:chExt cx="10359771" cy="1242251"/>
          </a:xfrm>
        </p:grpSpPr>
        <p:grpSp>
          <p:nvGrpSpPr>
            <p:cNvPr id="17" name="Group 17"/>
            <p:cNvGrpSpPr/>
            <p:nvPr/>
          </p:nvGrpSpPr>
          <p:grpSpPr>
            <a:xfrm>
              <a:off x="1517142" y="2743200"/>
              <a:ext cx="3245358" cy="1242251"/>
              <a:chOff x="1517142" y="2743200"/>
              <a:chExt cx="3245358" cy="1242251"/>
            </a:xfrm>
          </p:grpSpPr>
          <p:sp>
            <p:nvSpPr>
              <p:cNvPr id="9" name="Line 9"/>
              <p:cNvSpPr/>
              <p:nvPr/>
            </p:nvSpPr>
            <p:spPr>
              <a:xfrm>
                <a:off x="1524000" y="2743200"/>
                <a:ext cx="323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9525">
                    <a:moveTo>
                      <a:pt x="0" y="0"/>
                    </a:moveTo>
                    <a:lnTo>
                      <a:pt x="32385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562100" y="2997200"/>
                <a:ext cx="228599" cy="177800"/>
                <a:chOff x="1562100" y="2997200"/>
                <a:chExt cx="228599" cy="17780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587500" y="31242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714500" y="31242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562100" y="2997200"/>
                  <a:ext cx="228599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52400">
                      <a:moveTo>
                        <a:pt x="25400" y="152400"/>
                      </a:moveTo>
                      <a:lnTo>
                        <a:pt x="0" y="152400"/>
                      </a:lnTo>
                      <a:lnTo>
                        <a:pt x="0" y="12700"/>
                      </a:ln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127000" y="0"/>
                      </a:lnTo>
                      <a:lnTo>
                        <a:pt x="127000" y="152400"/>
                      </a:lnTo>
                      <a:moveTo>
                        <a:pt x="76200" y="152400"/>
                      </a:moveTo>
                      <a:lnTo>
                        <a:pt x="152400" y="152400"/>
                      </a:lnTo>
                      <a:moveTo>
                        <a:pt x="203199" y="152400"/>
                      </a:moveTo>
                      <a:lnTo>
                        <a:pt x="228599" y="152400"/>
                      </a:lnTo>
                      <a:lnTo>
                        <a:pt x="228599" y="76200"/>
                      </a:lnTo>
                      <a:lnTo>
                        <a:pt x="127000" y="76200"/>
                      </a:lnTo>
                      <a:moveTo>
                        <a:pt x="127000" y="12700"/>
                      </a:moveTo>
                      <a:lnTo>
                        <a:pt x="190500" y="12700"/>
                      </a:lnTo>
                      <a:lnTo>
                        <a:pt x="228599" y="7620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933956" y="29679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业务价值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517142" y="3473768"/>
                <a:ext cx="22008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双端对话与四类 Pipeline，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517142" y="3721418"/>
                <a:ext cx="31032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直接服务计价、调度、跨境与纠纷场景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5327142" y="2743200"/>
              <a:ext cx="3245358" cy="1242251"/>
              <a:chOff x="5327142" y="2743200"/>
              <a:chExt cx="3245358" cy="1242251"/>
            </a:xfrm>
          </p:grpSpPr>
          <p:sp>
            <p:nvSpPr>
              <p:cNvPr id="18" name="Line 18"/>
              <p:cNvSpPr/>
              <p:nvPr/>
            </p:nvSpPr>
            <p:spPr>
              <a:xfrm>
                <a:off x="5334000" y="2743200"/>
                <a:ext cx="323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9525">
                    <a:moveTo>
                      <a:pt x="0" y="0"/>
                    </a:moveTo>
                    <a:lnTo>
                      <a:pt x="32385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5372100" y="2971800"/>
                <a:ext cx="228599" cy="228599"/>
                <a:chOff x="5372100" y="2971800"/>
                <a:chExt cx="228599" cy="228599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5397500" y="2997200"/>
                  <a:ext cx="177800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77800">
                      <a:moveTo>
                        <a:pt x="0" y="12700"/>
                      </a:move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165100" y="0"/>
                      </a:lnTo>
                      <a:cubicBezTo>
                        <a:pt x="172114" y="0"/>
                        <a:pt x="177800" y="5686"/>
                        <a:pt x="177800" y="12700"/>
                      </a:cubicBezTo>
                      <a:lnTo>
                        <a:pt x="177800" y="165100"/>
                      </a:lnTo>
                      <a:cubicBezTo>
                        <a:pt x="177800" y="172114"/>
                        <a:pt x="172114" y="177800"/>
                        <a:pt x="165100" y="177800"/>
                      </a:cubicBezTo>
                      <a:lnTo>
                        <a:pt x="12700" y="177800"/>
                      </a:lnTo>
                      <a:cubicBezTo>
                        <a:pt x="5686" y="177800"/>
                        <a:pt x="0" y="172114"/>
                        <a:pt x="0" y="165100"/>
                      </a:cubicBezTo>
                      <a:lnTo>
                        <a:pt x="0" y="1270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5448300" y="30480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0"/>
                      </a:lnTo>
                      <a:lnTo>
                        <a:pt x="76200" y="76200"/>
                      </a:lnTo>
                      <a:lnTo>
                        <a:pt x="0" y="762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5372100" y="3060700"/>
                  <a:ext cx="2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9525">
                      <a:moveTo>
                        <a:pt x="0" y="0"/>
                      </a:moveTo>
                      <a:lnTo>
                        <a:pt x="25400" y="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5372100" y="3111500"/>
                  <a:ext cx="2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9525">
                      <a:moveTo>
                        <a:pt x="0" y="0"/>
                      </a:moveTo>
                      <a:lnTo>
                        <a:pt x="25400" y="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5461000" y="2971800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5511800" y="2971800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5575299" y="3060700"/>
                  <a:ext cx="2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9525">
                      <a:moveTo>
                        <a:pt x="2540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5575299" y="3111500"/>
                  <a:ext cx="2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9525">
                      <a:moveTo>
                        <a:pt x="2540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5511800" y="3174999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254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5461000" y="3174999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254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5743956" y="29679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平台能力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327142" y="3473768"/>
                <a:ext cx="24122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持久化任务队列驱动多 Agent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327142" y="3721418"/>
                <a:ext cx="27397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可靠执行，三种编排模式按需组合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9137142" y="2743200"/>
              <a:ext cx="2739771" cy="1242251"/>
              <a:chOff x="9137142" y="2743200"/>
              <a:chExt cx="2739771" cy="1242251"/>
            </a:xfrm>
          </p:grpSpPr>
          <p:sp>
            <p:nvSpPr>
              <p:cNvPr id="34" name="Line 34"/>
              <p:cNvSpPr/>
              <p:nvPr/>
            </p:nvSpPr>
            <p:spPr>
              <a:xfrm>
                <a:off x="9144000" y="2743200"/>
                <a:ext cx="243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38400" h="9525">
                    <a:moveTo>
                      <a:pt x="0" y="0"/>
                    </a:moveTo>
                    <a:lnTo>
                      <a:pt x="2438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182100" y="2984500"/>
                <a:ext cx="2285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03199">
                    <a:moveTo>
                      <a:pt x="0" y="101600"/>
                    </a:moveTo>
                    <a:lnTo>
                      <a:pt x="50800" y="101600"/>
                    </a:lnTo>
                    <a:lnTo>
                      <a:pt x="88900" y="203199"/>
                    </a:lnTo>
                    <a:lnTo>
                      <a:pt x="139700" y="0"/>
                    </a:lnTo>
                    <a:lnTo>
                      <a:pt x="177800" y="101600"/>
                    </a:lnTo>
                    <a:lnTo>
                      <a:pt x="228599" y="1016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9553956" y="29679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工程底座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137142" y="3473768"/>
                <a:ext cx="27397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评测、可观测、安全防护与审计，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137142" y="372141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全链路治理开箱即用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1504950" y="4625340"/>
            <a:ext cx="9372829" cy="1112711"/>
            <a:chOff x="1504950" y="4625340"/>
            <a:chExt cx="9372829" cy="1112711"/>
          </a:xfrm>
        </p:grpSpPr>
        <p:grpSp>
          <p:nvGrpSpPr>
            <p:cNvPr id="44" name="Group 44"/>
            <p:cNvGrpSpPr/>
            <p:nvPr/>
          </p:nvGrpSpPr>
          <p:grpSpPr>
            <a:xfrm>
              <a:off x="1504950" y="4625340"/>
              <a:ext cx="752856" cy="1112711"/>
              <a:chOff x="1504950" y="4625340"/>
              <a:chExt cx="752856" cy="1112711"/>
            </a:xfrm>
          </p:grpSpPr>
          <p:sp>
            <p:nvSpPr>
              <p:cNvPr id="41" name="TextBox 41"/>
              <p:cNvSpPr txBox="1"/>
              <p:nvPr/>
            </p:nvSpPr>
            <p:spPr>
              <a:xfrm>
                <a:off x="1504950" y="4625340"/>
                <a:ext cx="411267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1524000" y="5295900"/>
                <a:ext cx="266700" cy="2857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517142" y="54740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大编排器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3181350" y="4625340"/>
              <a:ext cx="954070" cy="1112711"/>
              <a:chOff x="3181350" y="4625340"/>
              <a:chExt cx="954070" cy="1112711"/>
            </a:xfrm>
          </p:grpSpPr>
          <p:sp>
            <p:nvSpPr>
              <p:cNvPr id="45" name="TextBox 45"/>
              <p:cNvSpPr txBox="1"/>
              <p:nvPr/>
            </p:nvSpPr>
            <p:spPr>
              <a:xfrm>
                <a:off x="3181350" y="4625340"/>
                <a:ext cx="784433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10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3200400" y="5295900"/>
                <a:ext cx="266700" cy="2857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3193542" y="5474018"/>
                <a:ext cx="9418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Agent 模板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4857750" y="4625340"/>
              <a:ext cx="816224" cy="1112711"/>
              <a:chOff x="4857750" y="4625340"/>
              <a:chExt cx="816224" cy="1112711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4857750" y="4625340"/>
                <a:ext cx="784433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21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4876800" y="5295900"/>
                <a:ext cx="266700" cy="2857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4869942" y="5474018"/>
                <a:ext cx="8040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Skill 技能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6534150" y="4625340"/>
              <a:ext cx="752856" cy="1112711"/>
              <a:chOff x="6534150" y="4625340"/>
              <a:chExt cx="752856" cy="1112711"/>
            </a:xfrm>
          </p:grpSpPr>
          <p:sp>
            <p:nvSpPr>
              <p:cNvPr id="53" name="TextBox 53"/>
              <p:cNvSpPr txBox="1"/>
              <p:nvPr/>
            </p:nvSpPr>
            <p:spPr>
              <a:xfrm>
                <a:off x="6534150" y="4625340"/>
                <a:ext cx="411267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7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6553200" y="5295900"/>
                <a:ext cx="266700" cy="2857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546342" y="54740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治理模块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8210550" y="4625340"/>
              <a:ext cx="969422" cy="1112711"/>
              <a:chOff x="8210550" y="4625340"/>
              <a:chExt cx="969422" cy="1112711"/>
            </a:xfrm>
          </p:grpSpPr>
          <p:sp>
            <p:nvSpPr>
              <p:cNvPr id="57" name="TextBox 57"/>
              <p:cNvSpPr txBox="1"/>
              <p:nvPr/>
            </p:nvSpPr>
            <p:spPr>
              <a:xfrm>
                <a:off x="8210550" y="4625340"/>
                <a:ext cx="411267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8229600" y="5295900"/>
                <a:ext cx="266700" cy="2857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8222742" y="5474018"/>
                <a:ext cx="95723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大 Harness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9886950" y="4625340"/>
              <a:ext cx="990829" cy="1112711"/>
              <a:chOff x="9886950" y="4625340"/>
              <a:chExt cx="990829" cy="1112711"/>
            </a:xfrm>
          </p:grpSpPr>
          <p:sp>
            <p:nvSpPr>
              <p:cNvPr id="61" name="TextBox 61"/>
              <p:cNvSpPr txBox="1"/>
              <p:nvPr/>
            </p:nvSpPr>
            <p:spPr>
              <a:xfrm>
                <a:off x="9886950" y="4625340"/>
                <a:ext cx="411267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5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9906000" y="5295900"/>
                <a:ext cx="266700" cy="2857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9899142" y="5474018"/>
                <a:ext cx="9786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Maven 模块</a:t>
                </a:r>
              </a:p>
            </p:txBody>
          </p:sp>
        </p:grpSp>
      </p:grpSp>
      <p:grpSp>
        <p:nvGrpSpPr>
          <p:cNvPr id="69" name="Group 69"/>
          <p:cNvGrpSpPr/>
          <p:nvPr/>
        </p:nvGrpSpPr>
        <p:grpSpPr>
          <a:xfrm>
            <a:off x="1517904" y="6134100"/>
            <a:ext cx="10070592" cy="371856"/>
            <a:chOff x="1517904" y="6134100"/>
            <a:chExt cx="10070592" cy="371856"/>
          </a:xfrm>
        </p:grpSpPr>
        <p:sp>
          <p:nvSpPr>
            <p:cNvPr id="66" name="Line 66"/>
            <p:cNvSpPr/>
            <p:nvPr/>
          </p:nvSpPr>
          <p:spPr>
            <a:xfrm>
              <a:off x="1524000" y="61341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517904" y="62712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关键能力均为自研落地，非框架拼装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035132" y="62712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17142" y="616268"/>
            <a:ext cx="2612441" cy="264033"/>
            <a:chOff x="1517142" y="616268"/>
            <a:chExt cx="2612441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1517142" y="616268"/>
              <a:ext cx="26124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业务场景 · BUSINESS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7998" y="1069658"/>
            <a:ext cx="2576322" cy="616077"/>
            <a:chOff x="1507998" y="1069658"/>
            <a:chExt cx="2576322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1507998" y="1069658"/>
              <a:ext cx="2576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双端业务场景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24000" y="1752600"/>
            <a:ext cx="4762500" cy="2705100"/>
            <a:chOff x="1524000" y="1752600"/>
            <a:chExt cx="4762500" cy="2705100"/>
          </a:xfrm>
        </p:grpSpPr>
        <p:sp>
          <p:nvSpPr>
            <p:cNvPr id="6" name="Rectangle 6"/>
            <p:cNvSpPr/>
            <p:nvPr/>
          </p:nvSpPr>
          <p:spPr>
            <a:xfrm>
              <a:off x="1524000" y="1752600"/>
              <a:ext cx="4762500" cy="2705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871662" y="2062162"/>
              <a:ext cx="257175" cy="257176"/>
              <a:chOff x="1871662" y="2062162"/>
              <a:chExt cx="257175" cy="25717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900238" y="206216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871662" y="223361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2057400" y="2064020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085975" y="2235756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2313432" y="205930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货主端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21180" y="2657475"/>
              <a:ext cx="19945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运费预估与车型推荐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21180" y="3114675"/>
              <a:ext cx="23983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下单流程与搬家服务咨询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21180" y="3571875"/>
              <a:ext cx="19945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货物保障与理赔指引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21180" y="4029075"/>
              <a:ext cx="19945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附近网点与政策查询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29400" y="1752600"/>
            <a:ext cx="4953000" cy="2705100"/>
            <a:chOff x="6629400" y="1752600"/>
            <a:chExt cx="4953000" cy="2705100"/>
          </a:xfrm>
        </p:grpSpPr>
        <p:sp>
          <p:nvSpPr>
            <p:cNvPr id="18" name="Rectangle 18"/>
            <p:cNvSpPr/>
            <p:nvPr/>
          </p:nvSpPr>
          <p:spPr>
            <a:xfrm>
              <a:off x="6629400" y="1752600"/>
              <a:ext cx="4953000" cy="2705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977062" y="2090738"/>
              <a:ext cx="257175" cy="200024"/>
              <a:chOff x="6977062" y="2090738"/>
              <a:chExt cx="257175" cy="20002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005638" y="223361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148512" y="223361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977062" y="2090738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28575" y="171450"/>
                    </a:moveTo>
                    <a:lnTo>
                      <a:pt x="0" y="171450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142875" y="0"/>
                    </a:lnTo>
                    <a:lnTo>
                      <a:pt x="142875" y="171450"/>
                    </a:lnTo>
                    <a:moveTo>
                      <a:pt x="85725" y="171450"/>
                    </a:moveTo>
                    <a:lnTo>
                      <a:pt x="171450" y="171450"/>
                    </a:lnTo>
                    <a:moveTo>
                      <a:pt x="228600" y="171450"/>
                    </a:moveTo>
                    <a:lnTo>
                      <a:pt x="257175" y="171450"/>
                    </a:lnTo>
                    <a:lnTo>
                      <a:pt x="257175" y="85725"/>
                    </a:lnTo>
                    <a:lnTo>
                      <a:pt x="142875" y="85725"/>
                    </a:lnTo>
                    <a:moveTo>
                      <a:pt x="142875" y="14288"/>
                    </a:moveTo>
                    <a:lnTo>
                      <a:pt x="214312" y="14288"/>
                    </a:lnTo>
                    <a:lnTo>
                      <a:pt x="257175" y="85725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7418832" y="205930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司机端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26580" y="2657475"/>
              <a:ext cx="15906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收益与结算查询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26580" y="3114675"/>
              <a:ext cx="13887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附近订单推荐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26580" y="3571875"/>
              <a:ext cx="9848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接单指引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26580" y="4029075"/>
              <a:ext cx="13887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安全规范问答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517142" y="4769168"/>
            <a:ext cx="9594462" cy="1260538"/>
            <a:chOff x="1517142" y="4769168"/>
            <a:chExt cx="9594462" cy="1260538"/>
          </a:xfrm>
        </p:grpSpPr>
        <p:sp>
          <p:nvSpPr>
            <p:cNvPr id="29" name="TextBox 29"/>
            <p:cNvSpPr txBox="1"/>
            <p:nvPr/>
          </p:nvSpPr>
          <p:spPr>
            <a:xfrm>
              <a:off x="1517142" y="47691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共享底座：同一套链路，按角色与区域动态装配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1524000" y="5029200"/>
              <a:ext cx="2095500" cy="5334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3733800" y="5029200"/>
              <a:ext cx="2095500" cy="5334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5943600" y="5029200"/>
              <a:ext cx="2095500" cy="5334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153400" y="5029200"/>
              <a:ext cx="2095500" cy="5334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817375" y="5210175"/>
              <a:ext cx="1470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 · 区域路由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51985" y="52101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意图树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32893" y="5210175"/>
              <a:ext cx="8788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RAG 检索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20290" y="5210175"/>
              <a:ext cx="923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MCP 工具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17904" y="5795010"/>
              <a:ext cx="9593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货主: pricing_estimate · nearest_branch · geocoding | 司机: driver_earnings · nearby_order | 区域: CN_MAINLAND / CN_HK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517904" y="6134100"/>
            <a:ext cx="10070592" cy="371856"/>
            <a:chOff x="1517904" y="6134100"/>
            <a:chExt cx="10070592" cy="371856"/>
          </a:xfrm>
        </p:grpSpPr>
        <p:sp>
          <p:nvSpPr>
            <p:cNvPr id="40" name="Line 40"/>
            <p:cNvSpPr/>
            <p:nvPr/>
          </p:nvSpPr>
          <p:spPr>
            <a:xfrm>
              <a:off x="1524000" y="61341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517904" y="6271260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提示词、意图树根节点与工具白名单均随角色切换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035132" y="62712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2286000" cy="6858000"/>
            <a:chOff x="0" y="0"/>
            <a:chExt cx="2286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228600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91059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8808" y="168402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业务场景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381000" y="22098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74904" y="5966460"/>
              <a:ext cx="771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P04 - P05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60142" y="616268"/>
            <a:ext cx="2702052" cy="264033"/>
            <a:chOff x="2660142" y="616268"/>
            <a:chExt cx="2702052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2660142" y="616268"/>
              <a:ext cx="2702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业务场景 · PIPELINES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650998" y="1069658"/>
            <a:ext cx="3511421" cy="616077"/>
            <a:chOff x="2650998" y="1069658"/>
            <a:chExt cx="3511421" cy="616077"/>
          </a:xfrm>
        </p:grpSpPr>
        <p:sp>
          <p:nvSpPr>
            <p:cNvPr id="10" name="TextBox 10"/>
            <p:cNvSpPr txBox="1"/>
            <p:nvPr/>
          </p:nvSpPr>
          <p:spPr>
            <a:xfrm>
              <a:off x="2650998" y="1069658"/>
              <a:ext cx="35114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四类业务 Pipeline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667000" y="1866900"/>
            <a:ext cx="4305300" cy="1962150"/>
            <a:chOff x="2667000" y="1866900"/>
            <a:chExt cx="4305300" cy="1962150"/>
          </a:xfrm>
        </p:grpSpPr>
        <p:sp>
          <p:nvSpPr>
            <p:cNvPr id="12" name="Rectangle 12"/>
            <p:cNvSpPr/>
            <p:nvPr/>
          </p:nvSpPr>
          <p:spPr>
            <a:xfrm>
              <a:off x="2667000" y="1866900"/>
              <a:ext cx="4305300" cy="1962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2967038" y="2147888"/>
              <a:ext cx="200025" cy="200025"/>
              <a:chOff x="2967038" y="2147888"/>
              <a:chExt cx="200025" cy="2000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2967038" y="230346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122613" y="21478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44450"/>
                    </a:move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989263" y="2170113"/>
                <a:ext cx="16668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55575">
                    <a:moveTo>
                      <a:pt x="66675" y="155575"/>
                    </a:moveTo>
                    <a:lnTo>
                      <a:pt x="127794" y="155575"/>
                    </a:lnTo>
                    <a:cubicBezTo>
                      <a:pt x="149275" y="155575"/>
                      <a:pt x="166688" y="138162"/>
                      <a:pt x="166688" y="116682"/>
                    </a:cubicBezTo>
                    <a:cubicBezTo>
                      <a:pt x="166688" y="95201"/>
                      <a:pt x="149275" y="77788"/>
                      <a:pt x="127794" y="77788"/>
                    </a:cubicBezTo>
                    <a:lnTo>
                      <a:pt x="38894" y="77788"/>
                    </a:lnTo>
                    <a:cubicBezTo>
                      <a:pt x="17413" y="77788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3304032" y="20974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运单规划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26842" y="2635568"/>
              <a:ext cx="39119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意图解析 → 多车型报价 → 司机匹配 → 路线与解释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26842" y="2921318"/>
              <a:ext cx="34305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Mono.zip 并行聚合，推测性搜索提前启动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28366" y="3449002"/>
              <a:ext cx="34430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OrderIntentAgent · PricingAgent · DispatchAgent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162800" y="1866900"/>
            <a:ext cx="4305300" cy="1962150"/>
            <a:chOff x="7162800" y="1866900"/>
            <a:chExt cx="4305300" cy="1962150"/>
          </a:xfrm>
        </p:grpSpPr>
        <p:sp>
          <p:nvSpPr>
            <p:cNvPr id="22" name="Rectangle 22"/>
            <p:cNvSpPr/>
            <p:nvPr/>
          </p:nvSpPr>
          <p:spPr>
            <a:xfrm>
              <a:off x="7162800" y="1866900"/>
              <a:ext cx="4305300" cy="1962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462838" y="2170113"/>
              <a:ext cx="200026" cy="155575"/>
              <a:chOff x="7462838" y="2170113"/>
              <a:chExt cx="200026" cy="15557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485063" y="22812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596188" y="22812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462838" y="2170113"/>
                <a:ext cx="200026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33350">
                    <a:moveTo>
                      <a:pt x="22225" y="133350"/>
                    </a:moveTo>
                    <a:lnTo>
                      <a:pt x="0" y="133350"/>
                    </a:ln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  <a:lnTo>
                      <a:pt x="111125" y="0"/>
                    </a:lnTo>
                    <a:lnTo>
                      <a:pt x="111125" y="133350"/>
                    </a:lnTo>
                    <a:moveTo>
                      <a:pt x="66675" y="133350"/>
                    </a:moveTo>
                    <a:lnTo>
                      <a:pt x="133350" y="133350"/>
                    </a:lnTo>
                    <a:moveTo>
                      <a:pt x="177801" y="133350"/>
                    </a:moveTo>
                    <a:lnTo>
                      <a:pt x="200026" y="133350"/>
                    </a:lnTo>
                    <a:lnTo>
                      <a:pt x="200026" y="66675"/>
                    </a:lnTo>
                    <a:lnTo>
                      <a:pt x="111125" y="66675"/>
                    </a:lnTo>
                    <a:moveTo>
                      <a:pt x="111125" y="11113"/>
                    </a:moveTo>
                    <a:lnTo>
                      <a:pt x="166688" y="11113"/>
                    </a:lnTo>
                    <a:lnTo>
                      <a:pt x="200026" y="66675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799832" y="20974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司机调度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22642" y="2635568"/>
              <a:ext cx="3372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Loop：模型自主决定工具调用序列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22642" y="2921318"/>
              <a:ext cx="35212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查司机 → 查状态 → 算匹配分，保留完整轨迹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24166" y="3449002"/>
              <a:ext cx="31861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DispatchConcierge · fallbackDispatch 降级兜底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667000" y="4133850"/>
            <a:ext cx="4305300" cy="1847850"/>
            <a:chOff x="2667000" y="4133850"/>
            <a:chExt cx="4305300" cy="1847850"/>
          </a:xfrm>
        </p:grpSpPr>
        <p:sp>
          <p:nvSpPr>
            <p:cNvPr id="32" name="Rectangle 32"/>
            <p:cNvSpPr/>
            <p:nvPr/>
          </p:nvSpPr>
          <p:spPr>
            <a:xfrm>
              <a:off x="2667000" y="4133850"/>
              <a:ext cx="4305300" cy="1847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2967038" y="4395788"/>
              <a:ext cx="200026" cy="200026"/>
              <a:chOff x="2967038" y="4395788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2967038" y="43957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2973705" y="4462463"/>
                <a:ext cx="1866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6691" h="9525">
                    <a:moveTo>
                      <a:pt x="0" y="0"/>
                    </a:moveTo>
                    <a:lnTo>
                      <a:pt x="186691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2973705" y="4529138"/>
                <a:ext cx="1866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6691" h="9525">
                    <a:moveTo>
                      <a:pt x="0" y="0"/>
                    </a:moveTo>
                    <a:lnTo>
                      <a:pt x="186691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3023300" y="4395788"/>
                <a:ext cx="38194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38194" h="200026">
                    <a:moveTo>
                      <a:pt x="38194" y="0"/>
                    </a:moveTo>
                    <a:cubicBezTo>
                      <a:pt x="0" y="61205"/>
                      <a:pt x="0" y="138820"/>
                      <a:pt x="38194" y="200026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3072607" y="4395788"/>
                <a:ext cx="38194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38194" h="200026">
                    <a:moveTo>
                      <a:pt x="0" y="0"/>
                    </a:moveTo>
                    <a:cubicBezTo>
                      <a:pt x="38194" y="61205"/>
                      <a:pt x="38194" y="138820"/>
                      <a:pt x="0" y="200026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3304032" y="43453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跨境物流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926842" y="4864418"/>
              <a:ext cx="26670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清关 / 路线 / 时效 三路并行分析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926842" y="51501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双币报价与方案解释串行其后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928366" y="5620702"/>
              <a:ext cx="3980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CustomsAgent · RouteAgent · TimeAgent · CurrencyAgent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162800" y="4133850"/>
            <a:ext cx="4305300" cy="1847850"/>
            <a:chOff x="7162800" y="4133850"/>
            <a:chExt cx="4305300" cy="1847850"/>
          </a:xfrm>
        </p:grpSpPr>
        <p:sp>
          <p:nvSpPr>
            <p:cNvPr id="44" name="Rectangle 44"/>
            <p:cNvSpPr/>
            <p:nvPr/>
          </p:nvSpPr>
          <p:spPr>
            <a:xfrm>
              <a:off x="7162800" y="4133850"/>
              <a:ext cx="4305300" cy="1847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450779" y="4392096"/>
              <a:ext cx="224134" cy="192560"/>
              <a:chOff x="7450779" y="4392096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562850" y="44624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450779" y="43920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562850" y="45402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7799832" y="43453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异常处理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22642" y="4864418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异常检测 → 原因分析与方案推荐并行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22642" y="51501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高额赔付进入人工审批后生成通知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24166" y="5620702"/>
              <a:ext cx="3478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AnomalyDetectAgent · CauseAgent · SolutionAgent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2660904" y="6134100"/>
            <a:ext cx="8813292" cy="371856"/>
            <a:chOff x="2660904" y="6134100"/>
            <a:chExt cx="8813292" cy="371856"/>
          </a:xfrm>
        </p:grpSpPr>
        <p:sp>
          <p:nvSpPr>
            <p:cNvPr id="54" name="Line 54"/>
            <p:cNvSpPr/>
            <p:nvPr/>
          </p:nvSpPr>
          <p:spPr>
            <a:xfrm>
              <a:off x="2667000" y="6134100"/>
              <a:ext cx="8801100" cy="9525"/>
            </a:xfrm>
            <a:custGeom>
              <a:avLst/>
              <a:gdLst/>
              <a:ahLst/>
              <a:cxnLst/>
              <a:rect l="l" t="t" r="r" b="b"/>
              <a:pathLst>
                <a:path w="8801100" h="9525">
                  <a:moveTo>
                    <a:pt x="0" y="0"/>
                  </a:moveTo>
                  <a:lnTo>
                    <a:pt x="8801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660904" y="6271260"/>
              <a:ext cx="3173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全部编排器共用同一任务队列与 Agent 底座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920832" y="62712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17142" y="616268"/>
            <a:ext cx="3121304" cy="264033"/>
            <a:chOff x="1517142" y="616268"/>
            <a:chExt cx="312130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1517142" y="616268"/>
              <a:ext cx="31213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RAG 链路 · RAG PIPELINE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7998" y="1069658"/>
            <a:ext cx="2576322" cy="616077"/>
            <a:chOff x="1507998" y="1069658"/>
            <a:chExt cx="2576322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1507998" y="1069658"/>
              <a:ext cx="2576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对话链路全图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24000" y="1866900"/>
            <a:ext cx="10020300" cy="723900"/>
            <a:chOff x="1524000" y="1866900"/>
            <a:chExt cx="10020300" cy="723900"/>
          </a:xfrm>
        </p:grpSpPr>
        <p:grpSp>
          <p:nvGrpSpPr>
            <p:cNvPr id="9" name="Group 9"/>
            <p:cNvGrpSpPr/>
            <p:nvPr/>
          </p:nvGrpSpPr>
          <p:grpSpPr>
            <a:xfrm>
              <a:off x="1524000" y="1866900"/>
              <a:ext cx="2190750" cy="723900"/>
              <a:chOff x="1524000" y="1866900"/>
              <a:chExt cx="2190750" cy="7239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1524000" y="1866900"/>
                <a:ext cx="2190750" cy="723900"/>
              </a:xfrm>
              <a:prstGeom prst="roundRect">
                <a:avLst>
                  <a:gd name="adj" fmla="val 526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671066" y="20012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2005965" y="216217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会话记忆加载</a:t>
                </a:r>
              </a:p>
            </p:txBody>
          </p:sp>
        </p:grpSp>
        <p:sp>
          <p:nvSpPr>
            <p:cNvPr id="10" name="Line 10"/>
            <p:cNvSpPr/>
            <p:nvPr/>
          </p:nvSpPr>
          <p:spPr>
            <a:xfrm>
              <a:off x="3752850" y="2228850"/>
              <a:ext cx="3238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4133850" y="1866900"/>
              <a:ext cx="2190750" cy="723900"/>
              <a:chOff x="4133850" y="1866900"/>
              <a:chExt cx="2190750" cy="7239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4133850" y="1866900"/>
                <a:ext cx="2190750" cy="723900"/>
              </a:xfrm>
              <a:prstGeom prst="roundRect">
                <a:avLst>
                  <a:gd name="adj" fmla="val 526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280916" y="20012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817745" y="216217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查询改写</a:t>
                </a: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6362700" y="2228850"/>
              <a:ext cx="3238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6743700" y="1866900"/>
              <a:ext cx="2190750" cy="723900"/>
              <a:chOff x="6743700" y="1866900"/>
              <a:chExt cx="2190750" cy="7239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6743700" y="1866900"/>
                <a:ext cx="2190750" cy="723900"/>
              </a:xfrm>
              <a:prstGeom prst="roundRect">
                <a:avLst>
                  <a:gd name="adj" fmla="val 526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890766" y="20012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427595" y="216217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意图识别</a:t>
                </a:r>
              </a:p>
            </p:txBody>
          </p:sp>
        </p:grpSp>
        <p:sp>
          <p:nvSpPr>
            <p:cNvPr id="20" name="Line 20"/>
            <p:cNvSpPr/>
            <p:nvPr/>
          </p:nvSpPr>
          <p:spPr>
            <a:xfrm>
              <a:off x="8972550" y="2228850"/>
              <a:ext cx="3238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9353550" y="1866900"/>
              <a:ext cx="2190750" cy="723900"/>
              <a:chOff x="9353550" y="1866900"/>
              <a:chExt cx="2190750" cy="7239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9353550" y="1866900"/>
                <a:ext cx="2190750" cy="723900"/>
              </a:xfrm>
              <a:prstGeom prst="roundRect">
                <a:avLst>
                  <a:gd name="adj" fmla="val 526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500616" y="20012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04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936480" y="2162175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双通道检索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3665220" y="2590800"/>
            <a:ext cx="7255955" cy="785051"/>
            <a:chOff x="3665220" y="2590800"/>
            <a:chExt cx="7255955" cy="785051"/>
          </a:xfrm>
        </p:grpSpPr>
        <p:sp>
          <p:nvSpPr>
            <p:cNvPr id="26" name="Line 26"/>
            <p:cNvSpPr/>
            <p:nvPr/>
          </p:nvSpPr>
          <p:spPr>
            <a:xfrm>
              <a:off x="5905500" y="2590800"/>
              <a:ext cx="1714500" cy="419100"/>
            </a:xfrm>
            <a:custGeom>
              <a:avLst/>
              <a:gdLst/>
              <a:ahLst/>
              <a:cxnLst/>
              <a:rect l="l" t="t" r="r" b="b"/>
              <a:pathLst>
                <a:path w="1714500" h="419100">
                  <a:moveTo>
                    <a:pt x="1714500" y="0"/>
                  </a:moveTo>
                  <a:lnTo>
                    <a:pt x="0" y="419100"/>
                  </a:lnTo>
                </a:path>
              </a:pathLst>
            </a:custGeom>
            <a:noFill/>
            <a:ln w="14288">
              <a:solidFill>
                <a:srgbClr val="64748B"/>
              </a:solidFill>
              <a:prstDash val="dash"/>
            </a:ln>
          </p:spPr>
        </p:sp>
        <p:sp>
          <p:nvSpPr>
            <p:cNvPr id="27" name="Line 27"/>
            <p:cNvSpPr/>
            <p:nvPr/>
          </p:nvSpPr>
          <p:spPr>
            <a:xfrm>
              <a:off x="8058150" y="2590800"/>
              <a:ext cx="1466850" cy="419100"/>
            </a:xfrm>
            <a:custGeom>
              <a:avLst/>
              <a:gdLst/>
              <a:ahLst/>
              <a:cxnLst/>
              <a:rect l="l" t="t" r="r" b="b"/>
              <a:pathLst>
                <a:path w="1466850" h="419100">
                  <a:moveTo>
                    <a:pt x="0" y="0"/>
                  </a:moveTo>
                  <a:lnTo>
                    <a:pt x="1466850" y="419100"/>
                  </a:lnTo>
                </a:path>
              </a:pathLst>
            </a:custGeom>
            <a:noFill/>
            <a:ln w="14288">
              <a:solidFill>
                <a:srgbClr val="64748B"/>
              </a:solidFill>
              <a:prstDash val="dash"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665220" y="31118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歧义引导：反问澄清后结束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271826" y="31118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系统直答：无需检索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524000" y="2590800"/>
            <a:ext cx="10020300" cy="1771650"/>
            <a:chOff x="1524000" y="2590800"/>
            <a:chExt cx="10020300" cy="1771650"/>
          </a:xfrm>
        </p:grpSpPr>
        <p:grpSp>
          <p:nvGrpSpPr>
            <p:cNvPr id="34" name="Group 34"/>
            <p:cNvGrpSpPr/>
            <p:nvPr/>
          </p:nvGrpSpPr>
          <p:grpSpPr>
            <a:xfrm>
              <a:off x="1524000" y="3638550"/>
              <a:ext cx="2190750" cy="723900"/>
              <a:chOff x="1524000" y="3638550"/>
              <a:chExt cx="2190750" cy="7239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1524000" y="3638550"/>
                <a:ext cx="2190750" cy="723900"/>
              </a:xfrm>
              <a:prstGeom prst="roundRect">
                <a:avLst>
                  <a:gd name="adj" fmla="val 526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671066" y="377285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08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966608" y="3933825"/>
                <a:ext cx="130553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SSE 流式输出</a:t>
                </a:r>
              </a:p>
            </p:txBody>
          </p:sp>
        </p:grpSp>
        <p:sp>
          <p:nvSpPr>
            <p:cNvPr id="35" name="Line 35"/>
            <p:cNvSpPr/>
            <p:nvPr/>
          </p:nvSpPr>
          <p:spPr>
            <a:xfrm flipH="1">
              <a:off x="8991600" y="4000500"/>
              <a:ext cx="3238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4133850" y="3638550"/>
              <a:ext cx="2190750" cy="723900"/>
              <a:chOff x="4133850" y="3638550"/>
              <a:chExt cx="2190750" cy="7239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4133850" y="3638550"/>
                <a:ext cx="2190750" cy="723900"/>
              </a:xfrm>
              <a:prstGeom prst="roundRect">
                <a:avLst>
                  <a:gd name="adj" fmla="val 526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280916" y="377285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07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15815" y="393382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模型路由调用</a:t>
                </a:r>
              </a:p>
            </p:txBody>
          </p:sp>
        </p:grpSp>
        <p:sp>
          <p:nvSpPr>
            <p:cNvPr id="40" name="Line 40"/>
            <p:cNvSpPr/>
            <p:nvPr/>
          </p:nvSpPr>
          <p:spPr>
            <a:xfrm flipH="1">
              <a:off x="6381750" y="4000500"/>
              <a:ext cx="3238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743700" y="3638550"/>
              <a:ext cx="2190750" cy="723900"/>
              <a:chOff x="6743700" y="3638550"/>
              <a:chExt cx="2190750" cy="7239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743700" y="3638550"/>
                <a:ext cx="2190750" cy="723900"/>
              </a:xfrm>
              <a:prstGeom prst="roundRect">
                <a:avLst>
                  <a:gd name="adj" fmla="val 526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890766" y="377285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06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220969" y="3933825"/>
                <a:ext cx="123621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Prompt 组装</a:t>
                </a:r>
              </a:p>
            </p:txBody>
          </p:sp>
        </p:grpSp>
        <p:sp>
          <p:nvSpPr>
            <p:cNvPr id="45" name="Line 45"/>
            <p:cNvSpPr/>
            <p:nvPr/>
          </p:nvSpPr>
          <p:spPr>
            <a:xfrm flipH="1">
              <a:off x="3771900" y="4000500"/>
              <a:ext cx="3238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9353550" y="3638550"/>
              <a:ext cx="2190750" cy="723900"/>
              <a:chOff x="9353550" y="3638550"/>
              <a:chExt cx="2190750" cy="7239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9353550" y="3638550"/>
                <a:ext cx="2190750" cy="723900"/>
              </a:xfrm>
              <a:prstGeom prst="roundRect">
                <a:avLst>
                  <a:gd name="adj" fmla="val 526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9500616" y="377285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05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852222" y="3933825"/>
                <a:ext cx="119340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Rerank 精排</a:t>
                </a:r>
              </a:p>
            </p:txBody>
          </p:sp>
        </p:grpSp>
        <p:sp>
          <p:nvSpPr>
            <p:cNvPr id="50" name="Line 50"/>
            <p:cNvSpPr/>
            <p:nvPr/>
          </p:nvSpPr>
          <p:spPr>
            <a:xfrm>
              <a:off x="10448925" y="2590800"/>
              <a:ext cx="1" cy="9906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1517142" y="4838700"/>
            <a:ext cx="10508376" cy="1158811"/>
            <a:chOff x="1517142" y="4838700"/>
            <a:chExt cx="10508376" cy="1158811"/>
          </a:xfrm>
        </p:grpSpPr>
        <p:sp>
          <p:nvSpPr>
            <p:cNvPr id="52" name="Line 52"/>
            <p:cNvSpPr/>
            <p:nvPr/>
          </p:nvSpPr>
          <p:spPr>
            <a:xfrm>
              <a:off x="1524000" y="48387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517142" y="5035868"/>
              <a:ext cx="10508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 组装按检索来源自动选择模板：</a:t>
              </a:r>
              <a:r>
                <a:rPr lang="zh-CN" sz="13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KB_ONLY / MCP_ONLY / MCP+KB 混合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；MCP 场景温度放宽至 0.3，纯知识场景为 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517142" y="537876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每段职责单一、可独立替换，失败不影响相邻阶段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518666" y="5792152"/>
              <a:ext cx="88432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StreamChatPipeline · MultiQuestionRewriteService · IntentResolver · RetrievalEngine · RAGPromptService · RoutingLLMService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517904" y="6134100"/>
            <a:ext cx="10070592" cy="371856"/>
            <a:chOff x="1517904" y="6134100"/>
            <a:chExt cx="10070592" cy="371856"/>
          </a:xfrm>
        </p:grpSpPr>
        <p:sp>
          <p:nvSpPr>
            <p:cNvPr id="57" name="Line 57"/>
            <p:cNvSpPr/>
            <p:nvPr/>
          </p:nvSpPr>
          <p:spPr>
            <a:xfrm>
              <a:off x="1524000" y="61341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517904" y="62712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一条消息的完整旅程：从进来到流式返回共八段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035132" y="62712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17142" y="616268"/>
            <a:ext cx="2804465" cy="264033"/>
            <a:chOff x="1517142" y="616268"/>
            <a:chExt cx="2804465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1517142" y="616268"/>
              <a:ext cx="28044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RAG 链路 · RETRIEVAL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7998" y="1069658"/>
            <a:ext cx="3000375" cy="616077"/>
            <a:chOff x="1507998" y="1069658"/>
            <a:chExt cx="3000375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1507998" y="1069658"/>
              <a:ext cx="300037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混合检索与精排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24000" y="2457450"/>
            <a:ext cx="3124200" cy="1466850"/>
            <a:chOff x="1524000" y="2457450"/>
            <a:chExt cx="3124200" cy="1466850"/>
          </a:xfrm>
        </p:grpSpPr>
        <p:sp>
          <p:nvSpPr>
            <p:cNvPr id="6" name="Rectangle 6"/>
            <p:cNvSpPr/>
            <p:nvPr/>
          </p:nvSpPr>
          <p:spPr>
            <a:xfrm>
              <a:off x="1524000" y="2857500"/>
              <a:ext cx="1714500" cy="685800"/>
            </a:xfrm>
            <a:prstGeom prst="roundRect">
              <a:avLst>
                <a:gd name="adj" fmla="val 555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69770" y="31146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用户问题</a:t>
              </a:r>
            </a:p>
          </p:txBody>
        </p:sp>
        <p:sp>
          <p:nvSpPr>
            <p:cNvPr id="8" name="Line 8"/>
            <p:cNvSpPr/>
            <p:nvPr/>
          </p:nvSpPr>
          <p:spPr>
            <a:xfrm flipV="1">
              <a:off x="3276600" y="2457450"/>
              <a:ext cx="1371600" cy="7429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3276600" y="3200400"/>
              <a:ext cx="1371600" cy="7239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762500" y="2000250"/>
            <a:ext cx="2857500" cy="2381250"/>
            <a:chOff x="4762500" y="2000250"/>
            <a:chExt cx="2857500" cy="2381250"/>
          </a:xfrm>
        </p:grpSpPr>
        <p:sp>
          <p:nvSpPr>
            <p:cNvPr id="11" name="Rectangle 11"/>
            <p:cNvSpPr/>
            <p:nvPr/>
          </p:nvSpPr>
          <p:spPr>
            <a:xfrm>
              <a:off x="4762500" y="2000250"/>
              <a:ext cx="2857500" cy="857250"/>
            </a:xfrm>
            <a:prstGeom prst="roundRect">
              <a:avLst>
                <a:gd name="adj" fmla="val 4444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5024438" y="2224088"/>
              <a:ext cx="200025" cy="200025"/>
              <a:chOff x="5024438" y="2224088"/>
              <a:chExt cx="200025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024438" y="2224088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77788"/>
                    </a:moveTo>
                    <a:cubicBezTo>
                      <a:pt x="0" y="120749"/>
                      <a:pt x="34827" y="155575"/>
                      <a:pt x="77788" y="155575"/>
                    </a:cubicBezTo>
                    <a:cubicBezTo>
                      <a:pt x="120749" y="155575"/>
                      <a:pt x="155575" y="120749"/>
                      <a:pt x="155575" y="77788"/>
                    </a:cubicBezTo>
                    <a:cubicBezTo>
                      <a:pt x="155575" y="34827"/>
                      <a:pt x="120749" y="0"/>
                      <a:pt x="77788" y="0"/>
                    </a:cubicBezTo>
                    <a:cubicBezTo>
                      <a:pt x="34827" y="0"/>
                      <a:pt x="0" y="34827"/>
                      <a:pt x="0" y="77788"/>
                    </a:cubicBez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157788" y="23574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5402580" y="21812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全局向量通道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85004" y="2556510"/>
              <a:ext cx="181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全部知识库范围 · 保召回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762500" y="3524250"/>
              <a:ext cx="2857500" cy="857250"/>
            </a:xfrm>
            <a:prstGeom prst="roundRect">
              <a:avLst>
                <a:gd name="adj" fmla="val 4444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024438" y="3748088"/>
              <a:ext cx="200026" cy="200026"/>
              <a:chOff x="5024438" y="3748088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113338" y="38369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068888" y="3792538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3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024438" y="37480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5402580" y="37052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意图定向通道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85004" y="408051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意图绑定集合 · 保精度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734300" y="2457450"/>
            <a:ext cx="3943350" cy="2076450"/>
            <a:chOff x="7734300" y="2457450"/>
            <a:chExt cx="3943350" cy="2076450"/>
          </a:xfrm>
        </p:grpSpPr>
        <p:sp>
          <p:nvSpPr>
            <p:cNvPr id="25" name="Line 25"/>
            <p:cNvSpPr/>
            <p:nvPr/>
          </p:nvSpPr>
          <p:spPr>
            <a:xfrm>
              <a:off x="7734300" y="2457450"/>
              <a:ext cx="552450" cy="5143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6" name="Line 26"/>
            <p:cNvSpPr/>
            <p:nvPr/>
          </p:nvSpPr>
          <p:spPr>
            <a:xfrm flipV="1">
              <a:off x="7734300" y="3276600"/>
              <a:ext cx="552450" cy="6477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382000" y="2762250"/>
              <a:ext cx="1619250" cy="6858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821293" y="3035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合并去重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10039350" y="3105150"/>
              <a:ext cx="1714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10287000" y="2762250"/>
              <a:ext cx="1295400" cy="685800"/>
            </a:xfrm>
            <a:prstGeom prst="roundRect">
              <a:avLst>
                <a:gd name="adj" fmla="val 555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397667" y="3035618"/>
              <a:ext cx="1074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Rerank 精排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10934700" y="3486150"/>
              <a:ext cx="1" cy="3810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191750" y="3924300"/>
              <a:ext cx="1485900" cy="6096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191750" y="3924300"/>
              <a:ext cx="1485900" cy="609600"/>
            </a:xfrm>
            <a:prstGeom prst="roundRect">
              <a:avLst>
                <a:gd name="adj" fmla="val 6250"/>
              </a:avLst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495681" y="4140518"/>
              <a:ext cx="8780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TopN 证据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517904" y="5143500"/>
            <a:ext cx="10064496" cy="829056"/>
            <a:chOff x="1517904" y="5143500"/>
            <a:chExt cx="10064496" cy="829056"/>
          </a:xfrm>
        </p:grpSpPr>
        <p:sp>
          <p:nvSpPr>
            <p:cNvPr id="37" name="Line 37"/>
            <p:cNvSpPr/>
            <p:nvPr/>
          </p:nvSpPr>
          <p:spPr>
            <a:xfrm>
              <a:off x="1524000" y="51435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24000" y="53911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726692" y="5359718"/>
              <a:ext cx="39745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两通道 CompletableFuture 并行执行，互不阻塞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0" y="53911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536692" y="5359718"/>
              <a:ext cx="33261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pgvector · vector(1536) · HNSW 索引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572500" y="53911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775192" y="5359718"/>
              <a:ext cx="24765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Rerank 失败时 Noop 降级直通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17904" y="5737860"/>
              <a:ext cx="55683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RRF 思路：多通道融合扩大有效候选集，Rerank 用交叉编码换最终排序精度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517904" y="6134100"/>
            <a:ext cx="10070592" cy="371856"/>
            <a:chOff x="1517904" y="6134100"/>
            <a:chExt cx="10070592" cy="371856"/>
          </a:xfrm>
        </p:grpSpPr>
        <p:sp>
          <p:nvSpPr>
            <p:cNvPr id="46" name="Line 46"/>
            <p:cNvSpPr/>
            <p:nvPr/>
          </p:nvSpPr>
          <p:spPr>
            <a:xfrm>
              <a:off x="1524000" y="61341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517904" y="62712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召回负责不漏，精排负责排对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035132" y="62712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17142" y="616268"/>
            <a:ext cx="3844595" cy="264033"/>
            <a:chOff x="1517142" y="616268"/>
            <a:chExt cx="3844595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1517142" y="616268"/>
              <a:ext cx="3844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RAG 链路 · CONTEXT ASSEMBLY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7998" y="1069658"/>
            <a:ext cx="5720675" cy="616077"/>
            <a:chOff x="1507998" y="1069658"/>
            <a:chExt cx="5720675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1507998" y="1069658"/>
              <a:ext cx="572067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动态装配：角色 × 区域 × 意图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24000" y="1809750"/>
            <a:ext cx="4000500" cy="3733800"/>
            <a:chOff x="1524000" y="1809750"/>
            <a:chExt cx="4000500" cy="3733800"/>
          </a:xfrm>
        </p:grpSpPr>
        <p:grpSp>
          <p:nvGrpSpPr>
            <p:cNvPr id="15" name="Group 15"/>
            <p:cNvGrpSpPr/>
            <p:nvPr/>
          </p:nvGrpSpPr>
          <p:grpSpPr>
            <a:xfrm>
              <a:off x="1524000" y="1809750"/>
              <a:ext cx="4000500" cy="1143000"/>
              <a:chOff x="1524000" y="1809750"/>
              <a:chExt cx="4000500" cy="11430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1524000" y="1809750"/>
                <a:ext cx="4000500" cy="1143000"/>
              </a:xfrm>
              <a:prstGeom prst="roundRect">
                <a:avLst>
                  <a:gd name="adj" fmla="val 33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11" name="Group 11"/>
              <p:cNvGrpSpPr/>
              <p:nvPr/>
            </p:nvGrpSpPr>
            <p:grpSpPr>
              <a:xfrm>
                <a:off x="1783556" y="2031206"/>
                <a:ext cx="185737" cy="185738"/>
                <a:chOff x="1783556" y="2031206"/>
                <a:chExt cx="185737" cy="185738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804194" y="2031206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41275"/>
                      </a:moveTo>
                      <a:cubicBezTo>
                        <a:pt x="0" y="64070"/>
                        <a:pt x="18479" y="82550"/>
                        <a:pt x="41275" y="82550"/>
                      </a:cubicBezTo>
                      <a:cubicBezTo>
                        <a:pt x="64070" y="82550"/>
                        <a:pt x="82550" y="64070"/>
                        <a:pt x="82550" y="41275"/>
                      </a:cubicBezTo>
                      <a:cubicBezTo>
                        <a:pt x="82550" y="18479"/>
                        <a:pt x="64070" y="0"/>
                        <a:pt x="41275" y="0"/>
                      </a:cubicBezTo>
                      <a:cubicBezTo>
                        <a:pt x="18479" y="0"/>
                        <a:pt x="0" y="18479"/>
                        <a:pt x="0" y="41275"/>
                      </a:cubicBez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783556" y="2155031"/>
                  <a:ext cx="123825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61912">
                      <a:moveTo>
                        <a:pt x="0" y="61912"/>
                      </a:moveTo>
                      <a:lnTo>
                        <a:pt x="0" y="41275"/>
                      </a:lnTo>
                      <a:cubicBezTo>
                        <a:pt x="0" y="18479"/>
                        <a:pt x="18479" y="0"/>
                        <a:pt x="41275" y="0"/>
                      </a:cubicBezTo>
                      <a:lnTo>
                        <a:pt x="82550" y="0"/>
                      </a:lnTo>
                      <a:cubicBezTo>
                        <a:pt x="105345" y="0"/>
                        <a:pt x="123825" y="18479"/>
                        <a:pt x="123825" y="41275"/>
                      </a:cubicBezTo>
                      <a:lnTo>
                        <a:pt x="123825" y="61912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917699" y="2032548"/>
                  <a:ext cx="31037" cy="79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37" h="79970">
                      <a:moveTo>
                        <a:pt x="0" y="0"/>
                      </a:moveTo>
                      <a:cubicBezTo>
                        <a:pt x="18263" y="4676"/>
                        <a:pt x="31037" y="21133"/>
                        <a:pt x="31037" y="39985"/>
                      </a:cubicBezTo>
                      <a:cubicBezTo>
                        <a:pt x="31037" y="58837"/>
                        <a:pt x="18263" y="75294"/>
                        <a:pt x="0" y="79970"/>
                      </a:cubicBez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938337" y="2156579"/>
                  <a:ext cx="30956" cy="60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60365">
                      <a:moveTo>
                        <a:pt x="30956" y="60365"/>
                      </a:moveTo>
                      <a:lnTo>
                        <a:pt x="30956" y="39727"/>
                      </a:lnTo>
                      <a:cubicBezTo>
                        <a:pt x="30848" y="20994"/>
                        <a:pt x="18138" y="4683"/>
                        <a:pt x="0" y="0"/>
                      </a:cubicBez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2125980" y="202882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角色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746504" y="2366010"/>
                <a:ext cx="342884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货主 / 司机各自绑定系统提示词与意图树根节点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746504" y="2632710"/>
                <a:ext cx="208605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MCP 工具白名单随角色切换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524000" y="3105150"/>
              <a:ext cx="4000500" cy="1143000"/>
              <a:chOff x="1524000" y="3105150"/>
              <a:chExt cx="4000500" cy="11430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1524000" y="3105150"/>
                <a:ext cx="4000500" cy="1143000"/>
              </a:xfrm>
              <a:prstGeom prst="roundRect">
                <a:avLst>
                  <a:gd name="adj" fmla="val 33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1783556" y="3326606"/>
                <a:ext cx="185737" cy="185737"/>
                <a:chOff x="1783556" y="3326606"/>
                <a:chExt cx="185737" cy="185737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1783556" y="3326606"/>
                  <a:ext cx="185737" cy="185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185737">
                      <a:moveTo>
                        <a:pt x="0" y="92868"/>
                      </a:moveTo>
                      <a:cubicBezTo>
                        <a:pt x="0" y="144158"/>
                        <a:pt x="41579" y="185737"/>
                        <a:pt x="92868" y="185737"/>
                      </a:cubicBezTo>
                      <a:cubicBezTo>
                        <a:pt x="144158" y="185737"/>
                        <a:pt x="185737" y="144158"/>
                        <a:pt x="185737" y="92868"/>
                      </a:cubicBezTo>
                      <a:cubicBezTo>
                        <a:pt x="185737" y="41579"/>
                        <a:pt x="144158" y="0"/>
                        <a:pt x="92868" y="0"/>
                      </a:cubicBezTo>
                      <a:cubicBezTo>
                        <a:pt x="41579" y="0"/>
                        <a:pt x="0" y="41579"/>
                        <a:pt x="0" y="92868"/>
                      </a:cubicBez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789747" y="3388518"/>
                  <a:ext cx="17335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354" h="9525">
                      <a:moveTo>
                        <a:pt x="0" y="0"/>
                      </a:moveTo>
                      <a:lnTo>
                        <a:pt x="173354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789747" y="3450431"/>
                  <a:ext cx="17335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354" h="9525">
                      <a:moveTo>
                        <a:pt x="0" y="0"/>
                      </a:moveTo>
                      <a:lnTo>
                        <a:pt x="173354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835799" y="3326606"/>
                  <a:ext cx="35466" cy="185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66" h="185737">
                      <a:moveTo>
                        <a:pt x="35466" y="0"/>
                      </a:moveTo>
                      <a:cubicBezTo>
                        <a:pt x="0" y="56833"/>
                        <a:pt x="0" y="128904"/>
                        <a:pt x="35466" y="185737"/>
                      </a:cubicBez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881584" y="3326606"/>
                  <a:ext cx="35466" cy="185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66" h="185737">
                      <a:moveTo>
                        <a:pt x="0" y="0"/>
                      </a:moveTo>
                      <a:cubicBezTo>
                        <a:pt x="35466" y="56833"/>
                        <a:pt x="35466" y="128904"/>
                        <a:pt x="0" y="185737"/>
                      </a:cubicBez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2125980" y="332422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区域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746504" y="3661410"/>
                <a:ext cx="311017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CN_MAINLAND：人民币 · 大陆车型与规则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746504" y="3928110"/>
                <a:ext cx="275173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CN_HK：港币 · 繁体语境 · 跨境规则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524000" y="4400550"/>
              <a:ext cx="4000500" cy="1143000"/>
              <a:chOff x="1524000" y="4400550"/>
              <a:chExt cx="4000500" cy="11430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1524000" y="4400550"/>
                <a:ext cx="4000500" cy="1143000"/>
              </a:xfrm>
              <a:prstGeom prst="roundRect">
                <a:avLst>
                  <a:gd name="adj" fmla="val 33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1783556" y="4622006"/>
                <a:ext cx="185737" cy="185737"/>
                <a:chOff x="1783556" y="4622006"/>
                <a:chExt cx="185737" cy="185737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1866106" y="4704556"/>
                  <a:ext cx="20637" cy="20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20637">
                      <a:moveTo>
                        <a:pt x="0" y="10319"/>
                      </a:moveTo>
                      <a:cubicBezTo>
                        <a:pt x="0" y="16018"/>
                        <a:pt x="4620" y="20637"/>
                        <a:pt x="10319" y="20637"/>
                      </a:cubicBezTo>
                      <a:cubicBezTo>
                        <a:pt x="16018" y="20637"/>
                        <a:pt x="20637" y="16018"/>
                        <a:pt x="20637" y="10319"/>
                      </a:cubicBezTo>
                      <a:cubicBezTo>
                        <a:pt x="20637" y="4620"/>
                        <a:pt x="16018" y="0"/>
                        <a:pt x="10319" y="0"/>
                      </a:cubicBezTo>
                      <a:cubicBezTo>
                        <a:pt x="4620" y="0"/>
                        <a:pt x="0" y="4620"/>
                        <a:pt x="0" y="10319"/>
                      </a:cubicBez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824831" y="4663281"/>
                  <a:ext cx="103187" cy="103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87" h="103187">
                      <a:moveTo>
                        <a:pt x="0" y="51594"/>
                      </a:moveTo>
                      <a:cubicBezTo>
                        <a:pt x="0" y="80088"/>
                        <a:pt x="23099" y="103187"/>
                        <a:pt x="51594" y="103187"/>
                      </a:cubicBezTo>
                      <a:cubicBezTo>
                        <a:pt x="80088" y="103187"/>
                        <a:pt x="103187" y="80088"/>
                        <a:pt x="103187" y="51594"/>
                      </a:cubicBezTo>
                      <a:cubicBezTo>
                        <a:pt x="103187" y="23099"/>
                        <a:pt x="80088" y="0"/>
                        <a:pt x="51594" y="0"/>
                      </a:cubicBezTo>
                      <a:cubicBezTo>
                        <a:pt x="23099" y="0"/>
                        <a:pt x="0" y="23099"/>
                        <a:pt x="0" y="51594"/>
                      </a:cubicBez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783556" y="4622006"/>
                  <a:ext cx="185737" cy="185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185737">
                      <a:moveTo>
                        <a:pt x="0" y="92868"/>
                      </a:moveTo>
                      <a:cubicBezTo>
                        <a:pt x="0" y="144158"/>
                        <a:pt x="41579" y="185737"/>
                        <a:pt x="92868" y="185737"/>
                      </a:cubicBezTo>
                      <a:cubicBezTo>
                        <a:pt x="144158" y="185737"/>
                        <a:pt x="185737" y="144158"/>
                        <a:pt x="185737" y="92868"/>
                      </a:cubicBezTo>
                      <a:cubicBezTo>
                        <a:pt x="185737" y="41579"/>
                        <a:pt x="144158" y="0"/>
                        <a:pt x="92868" y="0"/>
                      </a:cubicBezTo>
                      <a:cubicBezTo>
                        <a:pt x="41579" y="0"/>
                        <a:pt x="0" y="41579"/>
                        <a:pt x="0" y="92868"/>
                      </a:cubicBez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2125980" y="461962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意图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746504" y="4956810"/>
                <a:ext cx="30778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节点绑定知识库集合、Prompt 模板与片段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746504" y="5223510"/>
                <a:ext cx="21795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可选 mcpToolId 触发工具调用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5638800" y="2286000"/>
            <a:ext cx="5943600" cy="2686050"/>
            <a:chOff x="5638800" y="2286000"/>
            <a:chExt cx="5943600" cy="2686050"/>
          </a:xfrm>
        </p:grpSpPr>
        <p:sp>
          <p:nvSpPr>
            <p:cNvPr id="37" name="Line 37"/>
            <p:cNvSpPr/>
            <p:nvPr/>
          </p:nvSpPr>
          <p:spPr>
            <a:xfrm>
              <a:off x="5638800" y="2381250"/>
              <a:ext cx="1466850" cy="6858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8" name="Line 38"/>
            <p:cNvSpPr/>
            <p:nvPr/>
          </p:nvSpPr>
          <p:spPr>
            <a:xfrm flipV="1">
              <a:off x="5638800" y="3429000"/>
              <a:ext cx="1466850" cy="2476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9" name="Line 39"/>
            <p:cNvSpPr/>
            <p:nvPr/>
          </p:nvSpPr>
          <p:spPr>
            <a:xfrm flipV="1">
              <a:off x="5638800" y="3790950"/>
              <a:ext cx="1466850" cy="11811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239000" y="2286000"/>
              <a:ext cx="4343400" cy="2286000"/>
            </a:xfrm>
            <a:prstGeom prst="roundRect">
              <a:avLst>
                <a:gd name="adj" fmla="val 1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34656" y="25107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本次请求上下文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7543800" y="2895600"/>
              <a:ext cx="1028700" cy="9525"/>
            </a:xfrm>
            <a:custGeom>
              <a:avLst/>
              <a:gdLst/>
              <a:ahLst/>
              <a:cxnLst/>
              <a:rect l="l" t="t" r="r" b="b"/>
              <a:pathLst>
                <a:path w="1028700" h="9525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36942" y="3111818"/>
              <a:ext cx="27310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E2E8F0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系统提示词（角色 + 区域约束）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36942" y="3435668"/>
              <a:ext cx="1431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E2E8F0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知识库检索范围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36942" y="3759518"/>
              <a:ext cx="15324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E2E8F0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MCP 工具白名单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36942" y="4083368"/>
              <a:ext cx="1795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E2E8F0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采样温度与思考开关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517904" y="5775960"/>
            <a:ext cx="7080091" cy="234696"/>
            <a:chOff x="1517904" y="5775960"/>
            <a:chExt cx="7080091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1517904" y="5775960"/>
              <a:ext cx="70800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区域经请求头 → RegionInterceptor → ThreadLocal 上下文；温度策略：MCP 场景 0.3，纯知识 0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517904" y="6134100"/>
            <a:ext cx="10070592" cy="371856"/>
            <a:chOff x="1517904" y="6134100"/>
            <a:chExt cx="10070592" cy="371856"/>
          </a:xfrm>
        </p:grpSpPr>
        <p:sp>
          <p:nvSpPr>
            <p:cNvPr id="50" name="Line 50"/>
            <p:cNvSpPr/>
            <p:nvPr/>
          </p:nvSpPr>
          <p:spPr>
            <a:xfrm>
              <a:off x="1524000" y="61341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517904" y="6271260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每一次请求的提示词都是实时组装的，不是写死的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035132" y="62712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17142" y="616268"/>
            <a:ext cx="3646170" cy="264033"/>
            <a:chOff x="1517142" y="616268"/>
            <a:chExt cx="3646170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1517142" y="616268"/>
              <a:ext cx="36461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RAG 链路 · TOOL ECOSYSTEM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7998" y="1069658"/>
            <a:ext cx="2835714" cy="616077"/>
            <a:chOff x="1507998" y="1069658"/>
            <a:chExt cx="2835714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1507998" y="1069658"/>
              <a:ext cx="283571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MCP 工具生态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24000" y="1866900"/>
            <a:ext cx="10039350" cy="914400"/>
            <a:chOff x="1524000" y="1866900"/>
            <a:chExt cx="10039350" cy="914400"/>
          </a:xfrm>
        </p:grpSpPr>
        <p:sp>
          <p:nvSpPr>
            <p:cNvPr id="6" name="Rectangle 6"/>
            <p:cNvSpPr/>
            <p:nvPr/>
          </p:nvSpPr>
          <p:spPr>
            <a:xfrm>
              <a:off x="1524000" y="1866900"/>
              <a:ext cx="1809750" cy="914400"/>
            </a:xfrm>
            <a:prstGeom prst="roundRect">
              <a:avLst>
                <a:gd name="adj" fmla="val 41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38147" y="2099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工具自动注册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55310" y="2401252"/>
              <a:ext cx="11471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McpToolRegistry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3371850" y="2324100"/>
              <a:ext cx="1714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581400" y="1866900"/>
              <a:ext cx="1809750" cy="914400"/>
            </a:xfrm>
            <a:prstGeom prst="roundRect">
              <a:avLst>
                <a:gd name="adj" fmla="val 41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995547" y="2099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意图节点绑定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48166" y="2401252"/>
              <a:ext cx="676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mcpToolId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429250" y="2324100"/>
              <a:ext cx="1714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638800" y="1866900"/>
              <a:ext cx="1809750" cy="914400"/>
            </a:xfrm>
            <a:prstGeom prst="roundRect">
              <a:avLst>
                <a:gd name="adj" fmla="val 41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18195" y="2099310"/>
              <a:ext cx="12509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LLM 结构化提参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20029" y="2401252"/>
              <a:ext cx="14472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ParameterExtractor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486650" y="2324100"/>
              <a:ext cx="1714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96200" y="1866900"/>
              <a:ext cx="1809750" cy="914400"/>
            </a:xfrm>
            <a:prstGeom prst="roundRect">
              <a:avLst>
                <a:gd name="adj" fmla="val 41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91119" y="20993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协议化调用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09929" y="2401252"/>
              <a:ext cx="1582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McpClientToolExecutor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544050" y="2324100"/>
              <a:ext cx="1714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753600" y="1866900"/>
              <a:ext cx="1809750" cy="914400"/>
            </a:xfrm>
            <a:prstGeom prst="roundRect">
              <a:avLst>
                <a:gd name="adj" fmla="val 41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167747" y="2099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独立服务执行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50291" y="2401252"/>
              <a:ext cx="8163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mcp-server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524000" y="3352800"/>
            <a:ext cx="10039350" cy="1390650"/>
            <a:chOff x="1524000" y="3352800"/>
            <a:chExt cx="10039350" cy="1390650"/>
          </a:xfrm>
        </p:grpSpPr>
        <p:grpSp>
          <p:nvGrpSpPr>
            <p:cNvPr id="35" name="Group 35"/>
            <p:cNvGrpSpPr/>
            <p:nvPr/>
          </p:nvGrpSpPr>
          <p:grpSpPr>
            <a:xfrm>
              <a:off x="1524000" y="3352800"/>
              <a:ext cx="1809750" cy="1390650"/>
              <a:chOff x="1524000" y="3352800"/>
              <a:chExt cx="1809750" cy="13906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1524000" y="3352800"/>
                <a:ext cx="1809750" cy="13906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1524000" y="3352800"/>
                <a:ext cx="1809750" cy="1390650"/>
              </a:xfrm>
              <a:prstGeom prst="rect">
                <a:avLst/>
              </a:prstGeom>
              <a:noFill/>
              <a:ln w="9525">
                <a:solidFill>
                  <a:schemeClr val="accent6"/>
                </a:solidFill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1783556" y="3622675"/>
                <a:ext cx="185737" cy="174624"/>
                <a:chOff x="1783556" y="3622675"/>
                <a:chExt cx="185737" cy="174624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1783556" y="3705225"/>
                  <a:ext cx="61912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82550">
                      <a:moveTo>
                        <a:pt x="0" y="10319"/>
                      </a:move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51594" y="0"/>
                      </a:lnTo>
                      <a:cubicBezTo>
                        <a:pt x="57292" y="0"/>
                        <a:pt x="61912" y="4620"/>
                        <a:pt x="61912" y="10319"/>
                      </a:cubicBezTo>
                      <a:lnTo>
                        <a:pt x="61912" y="72231"/>
                      </a:lnTo>
                      <a:cubicBezTo>
                        <a:pt x="61912" y="77930"/>
                        <a:pt x="57292" y="82550"/>
                        <a:pt x="51594" y="82550"/>
                      </a:cubicBezTo>
                      <a:lnTo>
                        <a:pt x="10319" y="82550"/>
                      </a:lnTo>
                      <a:cubicBezTo>
                        <a:pt x="4620" y="82550"/>
                        <a:pt x="0" y="77930"/>
                        <a:pt x="0" y="72231"/>
                      </a:cubicBezTo>
                      <a:lnTo>
                        <a:pt x="0" y="10319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907381" y="3663950"/>
                  <a:ext cx="61912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123825">
                      <a:moveTo>
                        <a:pt x="0" y="10319"/>
                      </a:move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51594" y="0"/>
                      </a:lnTo>
                      <a:cubicBezTo>
                        <a:pt x="57292" y="0"/>
                        <a:pt x="61912" y="4620"/>
                        <a:pt x="61912" y="10319"/>
                      </a:cubicBezTo>
                      <a:lnTo>
                        <a:pt x="61912" y="113506"/>
                      </a:lnTo>
                      <a:cubicBezTo>
                        <a:pt x="61912" y="119205"/>
                        <a:pt x="57292" y="123825"/>
                        <a:pt x="51594" y="123825"/>
                      </a:cubicBezTo>
                      <a:lnTo>
                        <a:pt x="10319" y="123825"/>
                      </a:lnTo>
                      <a:cubicBezTo>
                        <a:pt x="4620" y="123825"/>
                        <a:pt x="0" y="119205"/>
                        <a:pt x="0" y="113506"/>
                      </a:cubicBezTo>
                      <a:lnTo>
                        <a:pt x="0" y="10319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845468" y="3622675"/>
                  <a:ext cx="61912" cy="165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165099">
                      <a:moveTo>
                        <a:pt x="0" y="10319"/>
                      </a:move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51594" y="0"/>
                      </a:lnTo>
                      <a:cubicBezTo>
                        <a:pt x="57292" y="0"/>
                        <a:pt x="61912" y="4620"/>
                        <a:pt x="61912" y="10319"/>
                      </a:cubicBezTo>
                      <a:lnTo>
                        <a:pt x="61912" y="154781"/>
                      </a:lnTo>
                      <a:cubicBezTo>
                        <a:pt x="61912" y="160480"/>
                        <a:pt x="57292" y="165099"/>
                        <a:pt x="51594" y="165099"/>
                      </a:cubicBezTo>
                      <a:lnTo>
                        <a:pt x="10319" y="165099"/>
                      </a:lnTo>
                      <a:cubicBezTo>
                        <a:pt x="4620" y="165099"/>
                        <a:pt x="0" y="160480"/>
                        <a:pt x="0" y="154781"/>
                      </a:cubicBezTo>
                      <a:lnTo>
                        <a:pt x="0" y="10319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793875" y="3787774"/>
                  <a:ext cx="14446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2" h="9525">
                      <a:moveTo>
                        <a:pt x="0" y="0"/>
                      </a:moveTo>
                      <a:lnTo>
                        <a:pt x="144462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1747266" y="4077652"/>
                <a:ext cx="11768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pricing_estimate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746504" y="434721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多车型运费预估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3581400" y="3352800"/>
              <a:ext cx="1809750" cy="1390650"/>
              <a:chOff x="3581400" y="3352800"/>
              <a:chExt cx="1809750" cy="13906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3581400" y="3352800"/>
                <a:ext cx="1809750" cy="13906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3581400" y="3352800"/>
                <a:ext cx="1809750" cy="1390650"/>
              </a:xfrm>
              <a:prstGeom prst="rect">
                <a:avLst/>
              </a:prstGeom>
              <a:noFill/>
              <a:ln w="9525">
                <a:solidFill>
                  <a:schemeClr val="accent6"/>
                </a:solidFill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3851275" y="3612356"/>
                <a:ext cx="165099" cy="185737"/>
                <a:chOff x="3851275" y="3612356"/>
                <a:chExt cx="165099" cy="185737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3851275" y="3612356"/>
                  <a:ext cx="165099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61912">
                      <a:moveTo>
                        <a:pt x="0" y="30956"/>
                      </a:moveTo>
                      <a:cubicBezTo>
                        <a:pt x="0" y="48053"/>
                        <a:pt x="36959" y="61912"/>
                        <a:pt x="82550" y="61912"/>
                      </a:cubicBezTo>
                      <a:cubicBezTo>
                        <a:pt x="128141" y="61912"/>
                        <a:pt x="165099" y="48053"/>
                        <a:pt x="165099" y="30956"/>
                      </a:cubicBezTo>
                      <a:cubicBezTo>
                        <a:pt x="165099" y="13860"/>
                        <a:pt x="128141" y="0"/>
                        <a:pt x="82550" y="0"/>
                      </a:cubicBezTo>
                      <a:cubicBezTo>
                        <a:pt x="36959" y="0"/>
                        <a:pt x="0" y="13860"/>
                        <a:pt x="0" y="30956"/>
                      </a:cubicBez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3851275" y="3643312"/>
                  <a:ext cx="165099" cy="92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92868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8"/>
                        <a:pt x="82550" y="92868"/>
                      </a:cubicBezTo>
                      <a:cubicBezTo>
                        <a:pt x="128141" y="92868"/>
                        <a:pt x="165099" y="79009"/>
                        <a:pt x="165099" y="61912"/>
                      </a:cubicBezTo>
                      <a:lnTo>
                        <a:pt x="165099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3851275" y="3705225"/>
                  <a:ext cx="165099" cy="92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92868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8"/>
                        <a:pt x="82550" y="92868"/>
                      </a:cubicBezTo>
                      <a:cubicBezTo>
                        <a:pt x="128141" y="92868"/>
                        <a:pt x="165099" y="79009"/>
                        <a:pt x="165099" y="61912"/>
                      </a:cubicBezTo>
                      <a:lnTo>
                        <a:pt x="165099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3804666" y="4077652"/>
                <a:ext cx="110613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driver_earnings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3803904" y="434721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司机收益查询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5638800" y="3352800"/>
              <a:ext cx="1809750" cy="1390650"/>
              <a:chOff x="5638800" y="3352800"/>
              <a:chExt cx="1809750" cy="13906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5638800" y="3352800"/>
                <a:ext cx="1809750" cy="13906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5638800" y="3352800"/>
                <a:ext cx="1809750" cy="1390650"/>
              </a:xfrm>
              <a:prstGeom prst="rect">
                <a:avLst/>
              </a:prstGeom>
              <a:noFill/>
              <a:ln w="9525">
                <a:solidFill>
                  <a:schemeClr val="accent6"/>
                </a:solidFill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5900615" y="3604300"/>
                <a:ext cx="181219" cy="200811"/>
                <a:chOff x="5900615" y="3604300"/>
                <a:chExt cx="181219" cy="200811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5960268" y="3663950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0" y="30956"/>
                      </a:moveTo>
                      <a:cubicBezTo>
                        <a:pt x="0" y="48053"/>
                        <a:pt x="13860" y="61912"/>
                        <a:pt x="30956" y="61912"/>
                      </a:cubicBezTo>
                      <a:cubicBezTo>
                        <a:pt x="48053" y="61912"/>
                        <a:pt x="61912" y="48053"/>
                        <a:pt x="61912" y="30956"/>
                      </a:cubicBezTo>
                      <a:cubicBezTo>
                        <a:pt x="61912" y="13860"/>
                        <a:pt x="48053" y="0"/>
                        <a:pt x="30956" y="0"/>
                      </a:cubicBezTo>
                      <a:cubicBezTo>
                        <a:pt x="13860" y="0"/>
                        <a:pt x="0" y="13860"/>
                        <a:pt x="0" y="30956"/>
                      </a:cubicBez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5900615" y="3604300"/>
                  <a:ext cx="181219" cy="200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219" h="200811">
                      <a:moveTo>
                        <a:pt x="148982" y="148979"/>
                      </a:moveTo>
                      <a:lnTo>
                        <a:pt x="105200" y="192761"/>
                      </a:lnTo>
                      <a:cubicBezTo>
                        <a:pt x="97142" y="200811"/>
                        <a:pt x="84087" y="200811"/>
                        <a:pt x="76029" y="192761"/>
                      </a:cubicBezTo>
                      <a:lnTo>
                        <a:pt x="32236" y="148979"/>
                      </a:lnTo>
                      <a:cubicBezTo>
                        <a:pt x="0" y="116741"/>
                        <a:pt x="1" y="64474"/>
                        <a:pt x="32238" y="32237"/>
                      </a:cubicBezTo>
                      <a:cubicBezTo>
                        <a:pt x="64476" y="0"/>
                        <a:pt x="116743" y="0"/>
                        <a:pt x="148980" y="32237"/>
                      </a:cubicBezTo>
                      <a:cubicBezTo>
                        <a:pt x="181218" y="64474"/>
                        <a:pt x="181219" y="116741"/>
                        <a:pt x="148982" y="148979"/>
                      </a:cubicBez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5862066" y="4077652"/>
                <a:ext cx="94358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nearby_order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861304" y="434721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附近订单推荐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7696200" y="3352800"/>
              <a:ext cx="1809750" cy="1390650"/>
              <a:chOff x="7696200" y="3352800"/>
              <a:chExt cx="1809750" cy="139065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7696200" y="3352800"/>
                <a:ext cx="1809750" cy="13906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7696200" y="3352800"/>
                <a:ext cx="1809750" cy="1390650"/>
              </a:xfrm>
              <a:prstGeom prst="rect">
                <a:avLst/>
              </a:prstGeom>
              <a:noFill/>
              <a:ln w="9525">
                <a:solidFill>
                  <a:schemeClr val="accent6"/>
                </a:solidFill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7958015" y="3604300"/>
                <a:ext cx="181219" cy="200811"/>
                <a:chOff x="7958015" y="3604300"/>
                <a:chExt cx="181219" cy="200811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8017668" y="3663950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0" y="30956"/>
                      </a:moveTo>
                      <a:cubicBezTo>
                        <a:pt x="0" y="48053"/>
                        <a:pt x="13860" y="61912"/>
                        <a:pt x="30956" y="61912"/>
                      </a:cubicBezTo>
                      <a:cubicBezTo>
                        <a:pt x="48053" y="61912"/>
                        <a:pt x="61912" y="48053"/>
                        <a:pt x="61912" y="30956"/>
                      </a:cubicBezTo>
                      <a:cubicBezTo>
                        <a:pt x="61912" y="13860"/>
                        <a:pt x="48053" y="0"/>
                        <a:pt x="30956" y="0"/>
                      </a:cubicBezTo>
                      <a:cubicBezTo>
                        <a:pt x="13860" y="0"/>
                        <a:pt x="0" y="13860"/>
                        <a:pt x="0" y="30956"/>
                      </a:cubicBez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958015" y="3604300"/>
                  <a:ext cx="181219" cy="200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219" h="200811">
                      <a:moveTo>
                        <a:pt x="148982" y="148979"/>
                      </a:moveTo>
                      <a:lnTo>
                        <a:pt x="105200" y="192761"/>
                      </a:lnTo>
                      <a:cubicBezTo>
                        <a:pt x="97142" y="200811"/>
                        <a:pt x="84087" y="200811"/>
                        <a:pt x="76029" y="192761"/>
                      </a:cubicBezTo>
                      <a:lnTo>
                        <a:pt x="32236" y="148979"/>
                      </a:lnTo>
                      <a:cubicBezTo>
                        <a:pt x="0" y="116741"/>
                        <a:pt x="1" y="64474"/>
                        <a:pt x="32238" y="32237"/>
                      </a:cubicBezTo>
                      <a:cubicBezTo>
                        <a:pt x="64476" y="0"/>
                        <a:pt x="116743" y="0"/>
                        <a:pt x="148980" y="32237"/>
                      </a:cubicBezTo>
                      <a:cubicBezTo>
                        <a:pt x="181218" y="64474"/>
                        <a:pt x="181219" y="116741"/>
                        <a:pt x="148982" y="148979"/>
                      </a:cubicBez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7919466" y="4077652"/>
                <a:ext cx="109907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nearest_branch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918704" y="434721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最近网点查询</a:t>
                </a: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9753600" y="3352800"/>
              <a:ext cx="1809750" cy="1390650"/>
              <a:chOff x="9753600" y="3352800"/>
              <a:chExt cx="1809750" cy="13906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9753600" y="3352800"/>
                <a:ext cx="1809750" cy="13906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9753600" y="3352800"/>
                <a:ext cx="1809750" cy="1390650"/>
              </a:xfrm>
              <a:prstGeom prst="rect">
                <a:avLst/>
              </a:prstGeom>
              <a:noFill/>
              <a:ln w="9525">
                <a:solidFill>
                  <a:schemeClr val="accent6"/>
                </a:solidFill>
              </a:ln>
            </p:spPr>
          </p:sp>
          <p:grpSp>
            <p:nvGrpSpPr>
              <p:cNvPr id="68" name="Group 68"/>
              <p:cNvGrpSpPr/>
              <p:nvPr/>
            </p:nvGrpSpPr>
            <p:grpSpPr>
              <a:xfrm>
                <a:off x="10013156" y="3612356"/>
                <a:ext cx="185737" cy="185737"/>
                <a:chOff x="10013156" y="3612356"/>
                <a:chExt cx="185737" cy="185737"/>
              </a:xfrm>
            </p:grpSpPr>
            <p:sp>
              <p:nvSpPr>
                <p:cNvPr id="63" name="Freeform 63"/>
                <p:cNvSpPr/>
                <p:nvPr/>
              </p:nvSpPr>
              <p:spPr>
                <a:xfrm>
                  <a:off x="10013156" y="3612356"/>
                  <a:ext cx="185737" cy="185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185737">
                      <a:moveTo>
                        <a:pt x="0" y="92868"/>
                      </a:moveTo>
                      <a:cubicBezTo>
                        <a:pt x="0" y="144158"/>
                        <a:pt x="41579" y="185737"/>
                        <a:pt x="92868" y="185737"/>
                      </a:cubicBezTo>
                      <a:cubicBezTo>
                        <a:pt x="144158" y="185737"/>
                        <a:pt x="185737" y="144158"/>
                        <a:pt x="185737" y="92868"/>
                      </a:cubicBezTo>
                      <a:cubicBezTo>
                        <a:pt x="185737" y="41579"/>
                        <a:pt x="144158" y="0"/>
                        <a:pt x="92868" y="0"/>
                      </a:cubicBezTo>
                      <a:cubicBezTo>
                        <a:pt x="41579" y="0"/>
                        <a:pt x="0" y="41579"/>
                        <a:pt x="0" y="92868"/>
                      </a:cubicBez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10019347" y="3674268"/>
                  <a:ext cx="17335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354" h="9525">
                      <a:moveTo>
                        <a:pt x="0" y="0"/>
                      </a:moveTo>
                      <a:lnTo>
                        <a:pt x="173354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10019347" y="3736181"/>
                  <a:ext cx="17335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354" h="9525">
                      <a:moveTo>
                        <a:pt x="0" y="0"/>
                      </a:moveTo>
                      <a:lnTo>
                        <a:pt x="173354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10065399" y="3612356"/>
                  <a:ext cx="35466" cy="185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66" h="185737">
                      <a:moveTo>
                        <a:pt x="35466" y="0"/>
                      </a:moveTo>
                      <a:cubicBezTo>
                        <a:pt x="0" y="56833"/>
                        <a:pt x="0" y="128904"/>
                        <a:pt x="35466" y="185737"/>
                      </a:cubicBez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10111184" y="3612356"/>
                  <a:ext cx="35466" cy="185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66" h="185737">
                      <a:moveTo>
                        <a:pt x="0" y="0"/>
                      </a:moveTo>
                      <a:cubicBezTo>
                        <a:pt x="35466" y="56833"/>
                        <a:pt x="35466" y="128904"/>
                        <a:pt x="0" y="185737"/>
                      </a:cubicBez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</p:grpSp>
          <p:sp>
            <p:nvSpPr>
              <p:cNvPr id="69" name="TextBox 69"/>
              <p:cNvSpPr txBox="1"/>
              <p:nvPr/>
            </p:nvSpPr>
            <p:spPr>
              <a:xfrm>
                <a:off x="9976866" y="4077652"/>
                <a:ext cx="67501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geocoding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9976104" y="434721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地址转坐标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1517142" y="5143500"/>
            <a:ext cx="10065258" cy="790956"/>
            <a:chOff x="1517142" y="5143500"/>
            <a:chExt cx="10065258" cy="790956"/>
          </a:xfrm>
        </p:grpSpPr>
        <p:sp>
          <p:nvSpPr>
            <p:cNvPr id="73" name="Line 73"/>
            <p:cNvSpPr/>
            <p:nvPr/>
          </p:nvSpPr>
          <p:spPr>
            <a:xfrm>
              <a:off x="1524000" y="51435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517142" y="5378768"/>
              <a:ext cx="726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Function Call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表达调用意图 · 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MCP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标准化工具发现与执行 · 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决定何时该用哪个工具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517904" y="5699760"/>
              <a:ext cx="54855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实时结构化数据走工具，知识问答走 RAG，二者作为证据在 Prompt 中汇合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517904" y="6134100"/>
            <a:ext cx="10070592" cy="371856"/>
            <a:chOff x="1517904" y="6134100"/>
            <a:chExt cx="10070592" cy="371856"/>
          </a:xfrm>
        </p:grpSpPr>
        <p:sp>
          <p:nvSpPr>
            <p:cNvPr id="77" name="Line 77"/>
            <p:cNvSpPr/>
            <p:nvPr/>
          </p:nvSpPr>
          <p:spPr>
            <a:xfrm>
              <a:off x="1524000" y="61341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517904" y="6271260"/>
              <a:ext cx="3637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mcp-server 独立进程部署，工具可跨 Agent 复用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035132" y="62712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09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2286000" cy="6858000"/>
            <a:chOff x="0" y="0"/>
            <a:chExt cx="2286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228600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91059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70332" y="1716405"/>
              <a:ext cx="17045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多Agent执行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381000" y="22098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74904" y="5966460"/>
              <a:ext cx="771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P10 - P13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60142" y="616268"/>
            <a:ext cx="4020617" cy="264033"/>
            <a:chOff x="2660142" y="616268"/>
            <a:chExt cx="4020617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2660142" y="616268"/>
              <a:ext cx="4020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多 AGENT 执行 · ORCHESTRATION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650998" y="1069658"/>
            <a:ext cx="4113618" cy="616077"/>
            <a:chOff x="2650998" y="1069658"/>
            <a:chExt cx="4113618" cy="616077"/>
          </a:xfrm>
        </p:grpSpPr>
        <p:sp>
          <p:nvSpPr>
            <p:cNvPr id="10" name="TextBox 10"/>
            <p:cNvSpPr txBox="1"/>
            <p:nvPr/>
          </p:nvSpPr>
          <p:spPr>
            <a:xfrm>
              <a:off x="2650998" y="1069658"/>
              <a:ext cx="411361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 Agent 编排三模式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667000" y="1866900"/>
            <a:ext cx="8801100" cy="1162050"/>
            <a:chOff x="2667000" y="1866900"/>
            <a:chExt cx="8801100" cy="1162050"/>
          </a:xfrm>
        </p:grpSpPr>
        <p:sp>
          <p:nvSpPr>
            <p:cNvPr id="12" name="Rectangle 12"/>
            <p:cNvSpPr/>
            <p:nvPr/>
          </p:nvSpPr>
          <p:spPr>
            <a:xfrm>
              <a:off x="2667000" y="1866900"/>
              <a:ext cx="8801100" cy="1162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2993231" y="2162175"/>
              <a:ext cx="178595" cy="190500"/>
              <a:chOff x="2993231" y="2162175"/>
              <a:chExt cx="178595" cy="1905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2993231" y="23050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993231" y="21621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112294" y="21621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017044" y="220980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040856" y="2245519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100388" y="2245519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3380232" y="2116455"/>
              <a:ext cx="37518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模式一 · Mono.zip 并行聚合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84042" y="2559368"/>
              <a:ext cx="7416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无依赖的 Agent 同时启动，全部完成后 zip 聚合——跨境物流三路并行、运单规划推测性搜索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28366" y="2820352"/>
              <a:ext cx="3671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CrossBorderOrchestrator · OrderPlanOrchestrator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667000" y="3333750"/>
            <a:ext cx="8801100" cy="1162050"/>
            <a:chOff x="2667000" y="3333750"/>
            <a:chExt cx="8801100" cy="1162050"/>
          </a:xfrm>
        </p:grpSpPr>
        <p:sp>
          <p:nvSpPr>
            <p:cNvPr id="24" name="Rectangle 24"/>
            <p:cNvSpPr/>
            <p:nvPr/>
          </p:nvSpPr>
          <p:spPr>
            <a:xfrm>
              <a:off x="2667000" y="3333750"/>
              <a:ext cx="8801100" cy="1162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2969419" y="3617119"/>
              <a:ext cx="214312" cy="214312"/>
              <a:chOff x="2969419" y="3617119"/>
              <a:chExt cx="214312" cy="214312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2969419" y="3783806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136106" y="36171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23812" y="47625"/>
                    </a:move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993231" y="3640931"/>
                <a:ext cx="178594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78594" h="166688">
                    <a:moveTo>
                      <a:pt x="71438" y="166688"/>
                    </a:moveTo>
                    <a:lnTo>
                      <a:pt x="136922" y="166688"/>
                    </a:lnTo>
                    <a:cubicBezTo>
                      <a:pt x="159937" y="166688"/>
                      <a:pt x="178594" y="148030"/>
                      <a:pt x="178594" y="125016"/>
                    </a:cubicBezTo>
                    <a:cubicBezTo>
                      <a:pt x="178594" y="102001"/>
                      <a:pt x="159937" y="83344"/>
                      <a:pt x="136922" y="83344"/>
                    </a:cubicBezTo>
                    <a:lnTo>
                      <a:pt x="41672" y="83344"/>
                    </a:ln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3380232" y="3583305"/>
              <a:ext cx="29694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模式二 · 串行 Pipeline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384042" y="4026218"/>
              <a:ext cx="7383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上一步输出是下一步输入，依赖逐级传递——运单规划主链：意图 → 报价 → 匹配 → 路线与解释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28366" y="4287202"/>
              <a:ext cx="24531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OrderPlanOrchestrator.planOrder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667000" y="4800600"/>
            <a:ext cx="8801100" cy="1162050"/>
            <a:chOff x="2667000" y="4800600"/>
            <a:chExt cx="8801100" cy="1162050"/>
          </a:xfrm>
        </p:grpSpPr>
        <p:sp>
          <p:nvSpPr>
            <p:cNvPr id="33" name="Rectangle 33"/>
            <p:cNvSpPr/>
            <p:nvPr/>
          </p:nvSpPr>
          <p:spPr>
            <a:xfrm>
              <a:off x="2667000" y="4800600"/>
              <a:ext cx="8801100" cy="1162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2969419" y="5083969"/>
              <a:ext cx="214312" cy="214312"/>
              <a:chOff x="2969419" y="5083969"/>
              <a:chExt cx="214312" cy="21431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3076575" y="5203031"/>
                <a:ext cx="83344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0">
                    <a:moveTo>
                      <a:pt x="41672" y="0"/>
                    </a:moveTo>
                    <a:cubicBezTo>
                      <a:pt x="18657" y="0"/>
                      <a:pt x="0" y="18657"/>
                      <a:pt x="0" y="41672"/>
                    </a:cubicBezTo>
                    <a:lnTo>
                      <a:pt x="0" y="53578"/>
                    </a:lnTo>
                    <a:cubicBezTo>
                      <a:pt x="0" y="76593"/>
                      <a:pt x="18657" y="95250"/>
                      <a:pt x="41672" y="95250"/>
                    </a:cubicBezTo>
                    <a:cubicBezTo>
                      <a:pt x="64687" y="95250"/>
                      <a:pt x="83344" y="76593"/>
                      <a:pt x="83344" y="53578"/>
                    </a:cubicBezTo>
                    <a:lnTo>
                      <a:pt x="83344" y="32147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2993231" y="5203031"/>
                <a:ext cx="83344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0">
                    <a:moveTo>
                      <a:pt x="41672" y="0"/>
                    </a:moveTo>
                    <a:cubicBezTo>
                      <a:pt x="64687" y="0"/>
                      <a:pt x="83344" y="18657"/>
                      <a:pt x="83344" y="41672"/>
                    </a:cubicBezTo>
                    <a:lnTo>
                      <a:pt x="83344" y="53578"/>
                    </a:lnTo>
                    <a:cubicBezTo>
                      <a:pt x="83344" y="76593"/>
                      <a:pt x="64687" y="95250"/>
                      <a:pt x="41672" y="95250"/>
                    </a:cubicBezTo>
                    <a:cubicBezTo>
                      <a:pt x="18657" y="95250"/>
                      <a:pt x="0" y="76593"/>
                      <a:pt x="0" y="53578"/>
                    </a:cubicBezTo>
                    <a:lnTo>
                      <a:pt x="0" y="32147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3136106" y="5155406"/>
                <a:ext cx="476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83344">
                    <a:moveTo>
                      <a:pt x="5953" y="83344"/>
                    </a:moveTo>
                    <a:cubicBezTo>
                      <a:pt x="28968" y="83344"/>
                      <a:pt x="47625" y="64687"/>
                      <a:pt x="47625" y="41672"/>
                    </a:cubicBezTo>
                    <a:cubicBezTo>
                      <a:pt x="47625" y="18657"/>
                      <a:pt x="28968" y="0"/>
                      <a:pt x="5953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3076575" y="5083969"/>
                <a:ext cx="83344" cy="75009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75009">
                    <a:moveTo>
                      <a:pt x="83344" y="75009"/>
                    </a:moveTo>
                    <a:lnTo>
                      <a:pt x="83344" y="41672"/>
                    </a:lnTo>
                    <a:cubicBezTo>
                      <a:pt x="83344" y="18657"/>
                      <a:pt x="64687" y="0"/>
                      <a:pt x="41672" y="0"/>
                    </a:cubicBezTo>
                    <a:cubicBezTo>
                      <a:pt x="18657" y="0"/>
                      <a:pt x="0" y="18657"/>
                      <a:pt x="0" y="41672"/>
                    </a:cubicBez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2969419" y="5155406"/>
                <a:ext cx="476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83344">
                    <a:moveTo>
                      <a:pt x="41672" y="83344"/>
                    </a:move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2993231" y="5083969"/>
                <a:ext cx="83344" cy="16073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160734">
                    <a:moveTo>
                      <a:pt x="0" y="75009"/>
                    </a:moveTo>
                    <a:lnTo>
                      <a:pt x="0" y="41672"/>
                    </a:lnTo>
                    <a:cubicBezTo>
                      <a:pt x="0" y="18657"/>
                      <a:pt x="18657" y="0"/>
                      <a:pt x="41672" y="0"/>
                    </a:cubicBezTo>
                    <a:cubicBezTo>
                      <a:pt x="64687" y="0"/>
                      <a:pt x="83344" y="18657"/>
                      <a:pt x="83344" y="41672"/>
                    </a:cubicBezTo>
                    <a:lnTo>
                      <a:pt x="83344" y="160734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3380232" y="5050155"/>
              <a:ext cx="28037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模式三 · Agent Loop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84042" y="5493068"/>
              <a:ext cx="7737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模型在"思考 → 调用工具 → 观察结果"间循环直到收敛——司机调度，保留完整工具轨迹，失败降级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928366" y="5754052"/>
              <a:ext cx="39700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DispatchLoopOrchestrator · DispatchConcierge.dispatch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660904" y="6233160"/>
            <a:ext cx="8813292" cy="234696"/>
            <a:chOff x="2660904" y="6233160"/>
            <a:chExt cx="8813292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2660904" y="6233160"/>
              <a:ext cx="44314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路由层按频道名分发到四个编排器，Agent 进度事件全程回传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920832" y="62331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17142" y="616268"/>
            <a:ext cx="3569360" cy="264033"/>
            <a:chOff x="1517142" y="616268"/>
            <a:chExt cx="3569360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1517142" y="616268"/>
              <a:ext cx="35693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多 AGENT 执行 · TASK QUEUE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7998" y="1069658"/>
            <a:ext cx="3000375" cy="616077"/>
            <a:chOff x="1507998" y="1069658"/>
            <a:chExt cx="3000375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1507998" y="1069658"/>
              <a:ext cx="300037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持久化任务队列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524000" y="1620202"/>
            <a:ext cx="10058400" cy="2761298"/>
            <a:chOff x="1524000" y="1620202"/>
            <a:chExt cx="10058400" cy="2761298"/>
          </a:xfrm>
        </p:grpSpPr>
        <p:sp>
          <p:nvSpPr>
            <p:cNvPr id="6" name="Freeform 6"/>
            <p:cNvSpPr/>
            <p:nvPr/>
          </p:nvSpPr>
          <p:spPr>
            <a:xfrm>
              <a:off x="2333625" y="1809750"/>
              <a:ext cx="8601075" cy="1924050"/>
            </a:xfrm>
            <a:custGeom>
              <a:avLst/>
              <a:gdLst/>
              <a:ahLst/>
              <a:cxnLst/>
              <a:rect l="l" t="t" r="r" b="b"/>
              <a:pathLst>
                <a:path w="8601075" h="1924050">
                  <a:moveTo>
                    <a:pt x="0" y="476250"/>
                  </a:moveTo>
                  <a:lnTo>
                    <a:pt x="0" y="0"/>
                  </a:lnTo>
                  <a:lnTo>
                    <a:pt x="8601075" y="0"/>
                  </a:lnTo>
                  <a:lnTo>
                    <a:pt x="8601075" y="1924050"/>
                  </a:lnTo>
                </a:path>
              </a:pathLst>
            </a:custGeom>
            <a:noFill/>
            <a:ln w="14288">
              <a:solidFill>
                <a:srgbClr val="64748B"/>
              </a:solidFill>
              <a:custDash>
                <a:ds d="400000" sp="266667"/>
              </a:custDash>
              <a:tailEnd type="triangle" w="lg" len="lg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900166" y="1620202"/>
              <a:ext cx="23853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用户取消（QUEUED / DISPATCHED）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524000" y="2286000"/>
              <a:ext cx="1619250" cy="6096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524000" y="2286000"/>
              <a:ext cx="1619250" cy="609600"/>
            </a:xfrm>
            <a:prstGeom prst="roundRect">
              <a:avLst>
                <a:gd name="adj" fmla="val 6250"/>
              </a:avLst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3890" y="2423160"/>
              <a:ext cx="6394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QUEUED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16264" y="26489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排队中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181350" y="2590800"/>
              <a:ext cx="10287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95396" y="2363152"/>
              <a:ext cx="6006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CAS 领取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248150" y="2286000"/>
              <a:ext cx="1809750" cy="6096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248150" y="2286000"/>
              <a:ext cx="1809750" cy="609600"/>
            </a:xfrm>
            <a:prstGeom prst="roundRect">
              <a:avLst>
                <a:gd name="adj" fmla="val 6250"/>
              </a:avLst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76470" y="2423160"/>
              <a:ext cx="9531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DISPATCHED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35665" y="26489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已领取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0" y="2590800"/>
              <a:ext cx="11620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9464" y="23631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开始执行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296150" y="2286000"/>
              <a:ext cx="1619250" cy="6096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296150" y="2286000"/>
              <a:ext cx="1619250" cy="609600"/>
            </a:xfrm>
            <a:prstGeom prst="roundRect">
              <a:avLst>
                <a:gd name="adj" fmla="val 6250"/>
              </a:avLst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777079" y="2423160"/>
              <a:ext cx="657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RUNNING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88415" y="26489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执行中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953500" y="2590800"/>
              <a:ext cx="12573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94114" y="23631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执行完成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248900" y="2286000"/>
              <a:ext cx="1333500" cy="609600"/>
            </a:xfrm>
            <a:prstGeom prst="roundRect">
              <a:avLst>
                <a:gd name="adj" fmla="val 625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430134" y="2423160"/>
              <a:ext cx="971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COMPLETED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98290" y="26489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已完成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5153025" y="2895600"/>
              <a:ext cx="1" cy="8382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147691" y="3201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人工协作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248150" y="3771900"/>
              <a:ext cx="1809750" cy="609600"/>
            </a:xfrm>
            <a:prstGeom prst="roundRect">
              <a:avLst>
                <a:gd name="adj" fmla="val 625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557668" y="3917156"/>
              <a:ext cx="1190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WAITING_HUMAN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64989" y="41348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等待人工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096000" y="2933700"/>
              <a:ext cx="2009775" cy="1143000"/>
            </a:xfrm>
            <a:custGeom>
              <a:avLst/>
              <a:gdLst/>
              <a:ahLst/>
              <a:cxnLst/>
              <a:rect l="l" t="t" r="r" b="b"/>
              <a:pathLst>
                <a:path w="2009775" h="1143000">
                  <a:moveTo>
                    <a:pt x="0" y="1143000"/>
                  </a:moveTo>
                  <a:lnTo>
                    <a:pt x="2009775" y="1143000"/>
                  </a:lnTo>
                  <a:lnTo>
                    <a:pt x="20097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33086" y="3868102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审批 / 交接恢复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105775" y="2895600"/>
              <a:ext cx="1" cy="838200"/>
            </a:xfrm>
            <a:prstGeom prst="line">
              <a:avLst/>
            </a:prstGeom>
            <a:noFill/>
            <a:ln w="14288">
              <a:solidFill>
                <a:srgbClr val="64748B"/>
              </a:solidFill>
              <a:prstDash val="dash"/>
              <a:tailEnd type="triangle" w="lg" len="lg"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96150" y="3771900"/>
              <a:ext cx="1619250" cy="609600"/>
            </a:xfrm>
            <a:prstGeom prst="roundRect">
              <a:avLst>
                <a:gd name="adj" fmla="val 62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826365" y="3909060"/>
              <a:ext cx="5588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FAILED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17739" y="41348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执行异常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2333625" y="2933700"/>
              <a:ext cx="4962525" cy="1143000"/>
            </a:xfrm>
            <a:custGeom>
              <a:avLst/>
              <a:gdLst/>
              <a:ahLst/>
              <a:cxnLst/>
              <a:rect l="l" t="t" r="r" b="b"/>
              <a:pathLst>
                <a:path w="4962525" h="1143000">
                  <a:moveTo>
                    <a:pt x="4962525" y="1143000"/>
                  </a:moveTo>
                  <a:lnTo>
                    <a:pt x="0" y="1143000"/>
                  </a:ln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64748B"/>
              </a:solidFill>
              <a:prstDash val="dash"/>
              <a:tailEnd type="triangle" w="lg" len="lg"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905526" y="3868102"/>
              <a:ext cx="17139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重新入队 retry_count ≤ 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248900" y="3771900"/>
              <a:ext cx="1333500" cy="6096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248900" y="3771900"/>
              <a:ext cx="1333500" cy="609600"/>
            </a:xfrm>
            <a:prstGeom prst="roundRect">
              <a:avLst>
                <a:gd name="adj" fmla="val 6250"/>
              </a:avLst>
            </a:prstGeom>
            <a:noFill/>
            <a:ln w="14288">
              <a:solidFill>
                <a:schemeClr val="accent6"/>
              </a:solidFill>
              <a:prstDash val="dash"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495931" y="3917156"/>
              <a:ext cx="839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CANCELLED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698290" y="41348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已取消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524000" y="4991100"/>
            <a:ext cx="10058400" cy="914400"/>
            <a:chOff x="1524000" y="4991100"/>
            <a:chExt cx="10058400" cy="914400"/>
          </a:xfrm>
        </p:grpSpPr>
        <p:sp>
          <p:nvSpPr>
            <p:cNvPr id="47" name="Rectangle 47"/>
            <p:cNvSpPr/>
            <p:nvPr/>
          </p:nvSpPr>
          <p:spPr>
            <a:xfrm>
              <a:off x="1524000" y="4991100"/>
              <a:ext cx="485775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745742" y="51120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事件流设计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746885" y="5403056"/>
              <a:ext cx="4828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task_execution_events：(task_id, sequence) 唯一，advisory lock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746885" y="5631656"/>
              <a:ext cx="4421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保证并发单调；覆盖 started / progress / tool_call / retry 等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724650" y="4991100"/>
              <a:ext cx="485775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46392" y="51120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断点回放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47535" y="5403056"/>
              <a:ext cx="2396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事件查询支持 afterSequence 参数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47535" y="563165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前端刷新后从上次序号增量拉取，进度不丢失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517904" y="6134100"/>
            <a:ext cx="10070592" cy="371856"/>
            <a:chOff x="1517904" y="6134100"/>
            <a:chExt cx="10070592" cy="371856"/>
          </a:xfrm>
        </p:grpSpPr>
        <p:sp>
          <p:nvSpPr>
            <p:cNvPr id="56" name="Line 56"/>
            <p:cNvSpPr/>
            <p:nvPr/>
          </p:nvSpPr>
          <p:spPr>
            <a:xfrm>
              <a:off x="1524000" y="61341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517904" y="6271260"/>
              <a:ext cx="4307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PostgreSQL 是任务的事实来源，每次迁移都留有事件轨迹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035132" y="62712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11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17142" y="616268"/>
            <a:ext cx="3572561" cy="264033"/>
            <a:chOff x="1517142" y="616268"/>
            <a:chExt cx="3572561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1517142" y="616268"/>
              <a:ext cx="35725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多 AGENT 执行 · RELIABILITY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7998" y="1069658"/>
            <a:ext cx="3424428" cy="616077"/>
            <a:chOff x="1507998" y="1069658"/>
            <a:chExt cx="3424428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1507998" y="1069658"/>
              <a:ext cx="34244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队列可靠性四机制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24000" y="1828800"/>
            <a:ext cx="4857750" cy="1733550"/>
            <a:chOff x="1524000" y="1828800"/>
            <a:chExt cx="4857750" cy="1733550"/>
          </a:xfrm>
        </p:grpSpPr>
        <p:sp>
          <p:nvSpPr>
            <p:cNvPr id="6" name="Rectangle 6"/>
            <p:cNvSpPr/>
            <p:nvPr/>
          </p:nvSpPr>
          <p:spPr>
            <a:xfrm>
              <a:off x="1524000" y="1828800"/>
              <a:ext cx="4857750" cy="1733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824038" y="2090740"/>
              <a:ext cx="200023" cy="200023"/>
              <a:chOff x="1824038" y="2090740"/>
              <a:chExt cx="200023" cy="20002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824038" y="20907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957388" y="21574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2181606" y="20726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幂等键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84604" y="2556510"/>
              <a:ext cx="36146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防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同一业务请求重复排队，浏览器重试产生双任务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84604" y="2880360"/>
              <a:ext cx="22414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idempotency_key 唯一约束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84604" y="31470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创建前查重，命中直接返回原任务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24650" y="1828800"/>
            <a:ext cx="4857750" cy="1733550"/>
            <a:chOff x="6724650" y="1828800"/>
            <a:chExt cx="4857750" cy="1733550"/>
          </a:xfrm>
        </p:grpSpPr>
        <p:sp>
          <p:nvSpPr>
            <p:cNvPr id="15" name="Rectangle 15"/>
            <p:cNvSpPr/>
            <p:nvPr/>
          </p:nvSpPr>
          <p:spPr>
            <a:xfrm>
              <a:off x="6724650" y="1828800"/>
              <a:ext cx="4857750" cy="1733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046913" y="2090738"/>
              <a:ext cx="155575" cy="200025"/>
              <a:chOff x="7046913" y="2090738"/>
              <a:chExt cx="155575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046913" y="2179638"/>
                <a:ext cx="15557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11125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33350" y="0"/>
                    </a:lnTo>
                    <a:cubicBezTo>
                      <a:pt x="145625" y="0"/>
                      <a:pt x="155575" y="9950"/>
                      <a:pt x="155575" y="22225"/>
                    </a:cubicBezTo>
                    <a:lnTo>
                      <a:pt x="155575" y="88900"/>
                    </a:lnTo>
                    <a:cubicBezTo>
                      <a:pt x="155575" y="101175"/>
                      <a:pt x="145625" y="111125"/>
                      <a:pt x="133350" y="111125"/>
                    </a:cubicBezTo>
                    <a:lnTo>
                      <a:pt x="22225" y="111125"/>
                    </a:lnTo>
                    <a:cubicBezTo>
                      <a:pt x="9950" y="111125"/>
                      <a:pt x="0" y="101175"/>
                      <a:pt x="0" y="88900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113588" y="22240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080250" y="20907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8890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8890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7382256" y="2072640"/>
              <a:ext cx="15666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CAS 原子领取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85254" y="2556510"/>
              <a:ext cx="2806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防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多消费者竞争导致同一任务重复执行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5254" y="2880360"/>
              <a:ext cx="32284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UPDATE ... WHERE status = 'QUEUED'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85254" y="3147060"/>
              <a:ext cx="27342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条件更新，仅一个消费者影响行数为 1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524000" y="3867150"/>
            <a:ext cx="4857750" cy="1733550"/>
            <a:chOff x="1524000" y="3867150"/>
            <a:chExt cx="4857750" cy="1733550"/>
          </a:xfrm>
        </p:grpSpPr>
        <p:sp>
          <p:nvSpPr>
            <p:cNvPr id="25" name="Rectangle 25"/>
            <p:cNvSpPr/>
            <p:nvPr/>
          </p:nvSpPr>
          <p:spPr>
            <a:xfrm>
              <a:off x="1524000" y="3867150"/>
              <a:ext cx="4857750" cy="1733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1824038" y="4129088"/>
              <a:ext cx="200026" cy="200026"/>
              <a:chOff x="1824038" y="4129088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824038" y="41290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924050" y="4173538"/>
                <a:ext cx="3333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88900">
                    <a:moveTo>
                      <a:pt x="0" y="0"/>
                    </a:moveTo>
                    <a:lnTo>
                      <a:pt x="0" y="55563"/>
                    </a:lnTo>
                    <a:lnTo>
                      <a:pt x="33338" y="8890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181606" y="41109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执行租约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84604" y="4594860"/>
              <a:ext cx="264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防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消费者宕机后任务永久卡在执行态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84604" y="4918710"/>
              <a:ext cx="3372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locked_by + locked_until（120 秒）+ 续租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84604" y="51854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过期锁定期回收，任务重新入队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724650" y="3867150"/>
            <a:ext cx="4857750" cy="1733550"/>
            <a:chOff x="6724650" y="3867150"/>
            <a:chExt cx="4857750" cy="1733550"/>
          </a:xfrm>
        </p:grpSpPr>
        <p:sp>
          <p:nvSpPr>
            <p:cNvPr id="34" name="Rectangle 34"/>
            <p:cNvSpPr/>
            <p:nvPr/>
          </p:nvSpPr>
          <p:spPr>
            <a:xfrm>
              <a:off x="6724650" y="3867150"/>
              <a:ext cx="4857750" cy="1733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035800" y="4135913"/>
              <a:ext cx="177801" cy="186375"/>
              <a:chOff x="7035800" y="4135913"/>
              <a:chExt cx="177801" cy="18637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035800" y="413591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177801" y="82075"/>
                    </a:moveTo>
                    <a:cubicBezTo>
                      <a:pt x="172214" y="41876"/>
                      <a:pt x="140416" y="10388"/>
                      <a:pt x="100165" y="5194"/>
                    </a:cubicBezTo>
                    <a:cubicBezTo>
                      <a:pt x="59913" y="0"/>
                      <a:pt x="21164" y="22386"/>
                      <a:pt x="5556" y="59850"/>
                    </a:cubicBezTo>
                    <a:moveTo>
                      <a:pt x="0" y="15400"/>
                    </a:moveTo>
                    <a:lnTo>
                      <a:pt x="0" y="59850"/>
                    </a:lnTo>
                    <a:lnTo>
                      <a:pt x="44450" y="598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035800" y="424021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0" y="0"/>
                    </a:moveTo>
                    <a:cubicBezTo>
                      <a:pt x="5587" y="40199"/>
                      <a:pt x="37384" y="71688"/>
                      <a:pt x="77636" y="76881"/>
                    </a:cubicBezTo>
                    <a:cubicBezTo>
                      <a:pt x="117888" y="82075"/>
                      <a:pt x="156637" y="59689"/>
                      <a:pt x="172244" y="22225"/>
                    </a:cubicBezTo>
                    <a:moveTo>
                      <a:pt x="177801" y="66675"/>
                    </a:moveTo>
                    <a:lnTo>
                      <a:pt x="177801" y="22225"/>
                    </a:lnTo>
                    <a:lnTo>
                      <a:pt x="133350" y="22225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382256" y="41109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失败重试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85254" y="459486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防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偶发异常让任务直接进入终态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85254" y="4918710"/>
              <a:ext cx="35176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retry_count ≤ 3 重新入队，记录 retry 事件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85254" y="5185410"/>
              <a:ext cx="3383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超限标记 FAILED，触发 TASK_FAILED 自动化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517904" y="5833110"/>
            <a:ext cx="4575810" cy="234696"/>
            <a:chOff x="1517904" y="5833110"/>
            <a:chExt cx="4575810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1517904" y="5833110"/>
              <a:ext cx="45758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四机制组合 = "至少成功一次"语义，业务侧再以幂等键兜底去重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517904" y="6134100"/>
            <a:ext cx="10070592" cy="371856"/>
            <a:chOff x="1517904" y="6134100"/>
            <a:chExt cx="10070592" cy="371856"/>
          </a:xfrm>
        </p:grpSpPr>
        <p:sp>
          <p:nvSpPr>
            <p:cNvPr id="45" name="Line 45"/>
            <p:cNvSpPr/>
            <p:nvPr/>
          </p:nvSpPr>
          <p:spPr>
            <a:xfrm>
              <a:off x="1524000" y="61341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517904" y="62712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每一机制对应一类真实故障场景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35132" y="62712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17142" y="616268"/>
            <a:ext cx="4299052" cy="264033"/>
            <a:chOff x="1517142" y="616268"/>
            <a:chExt cx="4299052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1517142" y="616268"/>
              <a:ext cx="4299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多 AGENT 执行 · TEMPLATE &amp; SKILL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7998" y="1069658"/>
            <a:ext cx="4720446" cy="616077"/>
            <a:chOff x="1507998" y="1069658"/>
            <a:chExt cx="4720446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1507998" y="1069658"/>
              <a:ext cx="47204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模板与 Skill 体系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524000" y="1790700"/>
            <a:ext cx="10058400" cy="952500"/>
            <a:chOff x="1524000" y="1790700"/>
            <a:chExt cx="10058400" cy="952500"/>
          </a:xfrm>
        </p:grpSpPr>
        <p:sp>
          <p:nvSpPr>
            <p:cNvPr id="6" name="Rectangle 6"/>
            <p:cNvSpPr/>
            <p:nvPr/>
          </p:nvSpPr>
          <p:spPr>
            <a:xfrm>
              <a:off x="1524000" y="1790700"/>
              <a:ext cx="2667000" cy="9525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793875" y="2022475"/>
              <a:ext cx="165099" cy="165099"/>
              <a:chOff x="1793875" y="2022475"/>
              <a:chExt cx="165099" cy="16509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793875" y="2022475"/>
                <a:ext cx="165099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82550">
                    <a:moveTo>
                      <a:pt x="82550" y="0"/>
                    </a:moveTo>
                    <a:lnTo>
                      <a:pt x="0" y="41275"/>
                    </a:lnTo>
                    <a:lnTo>
                      <a:pt x="82550" y="82550"/>
                    </a:lnTo>
                    <a:lnTo>
                      <a:pt x="165099" y="41275"/>
                    </a:lnTo>
                    <a:lnTo>
                      <a:pt x="82550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793875" y="2105025"/>
                <a:ext cx="165099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41275">
                    <a:moveTo>
                      <a:pt x="0" y="0"/>
                    </a:moveTo>
                    <a:lnTo>
                      <a:pt x="82550" y="41275"/>
                    </a:ln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793875" y="2146299"/>
                <a:ext cx="165099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41275">
                    <a:moveTo>
                      <a:pt x="0" y="0"/>
                    </a:moveTo>
                    <a:lnTo>
                      <a:pt x="82550" y="41275"/>
                    </a:ln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2318663" y="2028825"/>
              <a:ext cx="10776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模板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47266" y="2420302"/>
              <a:ext cx="2845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角色 · 目标 · 默认 Prompt · 推荐 Skill 清单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229100" y="2266950"/>
              <a:ext cx="16002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41164" y="2058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创建实例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867400" y="1790700"/>
              <a:ext cx="2667000" cy="952500"/>
            </a:xfrm>
            <a:prstGeom prst="roundRect">
              <a:avLst>
                <a:gd name="adj" fmla="val 4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147594" y="2001837"/>
              <a:ext cx="144462" cy="196056"/>
              <a:chOff x="6147594" y="2001837"/>
              <a:chExt cx="144462" cy="19605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6157912" y="2022475"/>
                <a:ext cx="1238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82550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03187" y="0"/>
                    </a:lnTo>
                    <a:cubicBezTo>
                      <a:pt x="114585" y="0"/>
                      <a:pt x="123825" y="9240"/>
                      <a:pt x="123825" y="20637"/>
                    </a:cubicBezTo>
                    <a:lnTo>
                      <a:pt x="123825" y="61912"/>
                    </a:lnTo>
                    <a:cubicBezTo>
                      <a:pt x="123825" y="73310"/>
                      <a:pt x="114585" y="82550"/>
                      <a:pt x="103187" y="82550"/>
                    </a:cubicBezTo>
                    <a:lnTo>
                      <a:pt x="20637" y="82550"/>
                    </a:lnTo>
                    <a:cubicBezTo>
                      <a:pt x="9240" y="82550"/>
                      <a:pt x="0" y="73310"/>
                      <a:pt x="0" y="61912"/>
                    </a:cubicBezTo>
                    <a:lnTo>
                      <a:pt x="0" y="20637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219825" y="2001837"/>
                <a:ext cx="952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">
                    <a:moveTo>
                      <a:pt x="0" y="0"/>
                    </a:moveTo>
                    <a:lnTo>
                      <a:pt x="0" y="20637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188868" y="2105025"/>
                <a:ext cx="9525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2868">
                    <a:moveTo>
                      <a:pt x="0" y="0"/>
                    </a:moveTo>
                    <a:lnTo>
                      <a:pt x="0" y="92868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250781" y="2105025"/>
                <a:ext cx="9525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2868">
                    <a:moveTo>
                      <a:pt x="0" y="0"/>
                    </a:moveTo>
                    <a:lnTo>
                      <a:pt x="0" y="92868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147594" y="2125662"/>
                <a:ext cx="4127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0637">
                    <a:moveTo>
                      <a:pt x="0" y="20637"/>
                    </a:move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250781" y="2125662"/>
                <a:ext cx="4127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0637">
                    <a:moveTo>
                      <a:pt x="0" y="0"/>
                    </a:moveTo>
                    <a:lnTo>
                      <a:pt x="41275" y="20637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188868" y="2166937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199187" y="2063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240462" y="2063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662063" y="2028825"/>
              <a:ext cx="10776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Agent 实例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90666" y="242030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运行实例 · 携带配置快照</a:t>
              </a:r>
            </a:p>
          </p:txBody>
        </p:sp>
        <p:sp>
          <p:nvSpPr>
            <p:cNvPr id="28" name="Line 28"/>
            <p:cNvSpPr/>
            <p:nvPr/>
          </p:nvSpPr>
          <p:spPr>
            <a:xfrm flipH="1">
              <a:off x="8610600" y="2266950"/>
              <a:ext cx="9525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96930" y="2058352"/>
              <a:ext cx="11798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SkillInjector 注入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601200" y="1790700"/>
              <a:ext cx="1981200" cy="9525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860756" y="2026523"/>
              <a:ext cx="195262" cy="150732"/>
              <a:chOff x="9860756" y="2026523"/>
              <a:chExt cx="195262" cy="15073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860756" y="2160666"/>
                <a:ext cx="185737" cy="16589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6589">
                    <a:moveTo>
                      <a:pt x="0" y="16589"/>
                    </a:moveTo>
                    <a:cubicBezTo>
                      <a:pt x="28734" y="0"/>
                      <a:pt x="64135" y="0"/>
                      <a:pt x="92868" y="16589"/>
                    </a:cubicBezTo>
                    <a:cubicBezTo>
                      <a:pt x="121602" y="0"/>
                      <a:pt x="157003" y="0"/>
                      <a:pt x="185737" y="16589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860756" y="2026523"/>
                <a:ext cx="185737" cy="16589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6589">
                    <a:moveTo>
                      <a:pt x="0" y="16589"/>
                    </a:moveTo>
                    <a:cubicBezTo>
                      <a:pt x="28734" y="0"/>
                      <a:pt x="64135" y="0"/>
                      <a:pt x="92868" y="16589"/>
                    </a:cubicBezTo>
                    <a:cubicBezTo>
                      <a:pt x="121602" y="0"/>
                      <a:pt x="157003" y="0"/>
                      <a:pt x="185737" y="16589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860756" y="2043112"/>
                <a:ext cx="9525" cy="13414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143">
                    <a:moveTo>
                      <a:pt x="0" y="0"/>
                    </a:moveTo>
                    <a:lnTo>
                      <a:pt x="0" y="134143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953625" y="2043112"/>
                <a:ext cx="9525" cy="13414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143">
                    <a:moveTo>
                      <a:pt x="0" y="0"/>
                    </a:moveTo>
                    <a:lnTo>
                      <a:pt x="0" y="134143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046493" y="2043112"/>
                <a:ext cx="9525" cy="13414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143">
                    <a:moveTo>
                      <a:pt x="0" y="0"/>
                    </a:moveTo>
                    <a:lnTo>
                      <a:pt x="0" y="134143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085382" y="2028825"/>
              <a:ext cx="10128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21 个 Skill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24466" y="2420302"/>
              <a:ext cx="1749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领域规则 · 使用时机 · 约束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524000" y="3543300"/>
            <a:ext cx="5334000" cy="2133600"/>
            <a:chOff x="1524000" y="3543300"/>
            <a:chExt cx="5334000" cy="2133600"/>
          </a:xfrm>
        </p:grpSpPr>
        <p:sp>
          <p:nvSpPr>
            <p:cNvPr id="40" name="Rectangle 40"/>
            <p:cNvSpPr/>
            <p:nvPr/>
          </p:nvSpPr>
          <p:spPr>
            <a:xfrm>
              <a:off x="1524000" y="3543300"/>
              <a:ext cx="5334000" cy="2133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1524000" y="3543300"/>
              <a:ext cx="5334000" cy="21336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745742" y="3702368"/>
              <a:ext cx="1189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 个预置模板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746885" y="4050506"/>
              <a:ext cx="2469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订单意图分析 · 价格分析 · 调度优化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746885" y="4317206"/>
              <a:ext cx="2167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路线规划 · 清关专家 · 时效估算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746885" y="4583906"/>
              <a:ext cx="2167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异常检测 · 原因分析 · 方案推荐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746885" y="48506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通知生成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47266" y="5258752"/>
              <a:ext cx="38015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模板即"岗位 JD"，REQUIRED 级 Skill 为实例创建硬校验项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200900" y="3543300"/>
            <a:ext cx="4381500" cy="2133600"/>
            <a:chOff x="7200900" y="3543300"/>
            <a:chExt cx="4381500" cy="2133600"/>
          </a:xfrm>
        </p:grpSpPr>
        <p:sp>
          <p:nvSpPr>
            <p:cNvPr id="49" name="Rectangle 49"/>
            <p:cNvSpPr/>
            <p:nvPr/>
          </p:nvSpPr>
          <p:spPr>
            <a:xfrm>
              <a:off x="7200900" y="3543300"/>
              <a:ext cx="4381500" cy="2133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200900" y="3543300"/>
              <a:ext cx="4381500" cy="21336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422642" y="3702368"/>
              <a:ext cx="10089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代表性 Skill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23785" y="4050506"/>
              <a:ext cx="2619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意图解析器 · 区域检测器 · 多引擎比价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23785" y="4317206"/>
              <a:ext cx="29188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双币转换器 · 调度匹配引擎 · ETA 计算器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23785" y="4583906"/>
              <a:ext cx="2469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清关知识库 · 异常分类器 · 赔付规则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23785" y="4850606"/>
              <a:ext cx="2469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通知模板 · 证据提取器 · 轨迹分析器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24166" y="5258752"/>
              <a:ext cx="33542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SkillRegistry 统一管理，按模板推荐关系注入上下文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517904" y="6134100"/>
            <a:ext cx="10070592" cy="371856"/>
            <a:chOff x="1517904" y="6134100"/>
            <a:chExt cx="10070592" cy="371856"/>
          </a:xfrm>
        </p:grpSpPr>
        <p:sp>
          <p:nvSpPr>
            <p:cNvPr id="58" name="Line 58"/>
            <p:cNvSpPr/>
            <p:nvPr/>
          </p:nvSpPr>
          <p:spPr>
            <a:xfrm>
              <a:off x="1524000" y="61341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517904" y="6271260"/>
              <a:ext cx="3826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Agent 体系是配置出来的：模板定岗位，Skill 给能力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035132" y="62712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2286000" cy="6858000"/>
            <a:chOff x="0" y="0"/>
            <a:chExt cx="2286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228600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91059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8808" y="168402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治理体系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381000" y="22098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74904" y="5966460"/>
              <a:ext cx="771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P14 - P15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60142" y="616268"/>
            <a:ext cx="2974086" cy="264033"/>
            <a:chOff x="2660142" y="616268"/>
            <a:chExt cx="2974086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2660142" y="616268"/>
              <a:ext cx="2974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治理体系 · GOVERNANCE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650998" y="1069658"/>
            <a:ext cx="2576322" cy="616077"/>
            <a:chOff x="2650998" y="1069658"/>
            <a:chExt cx="2576322" cy="616077"/>
          </a:xfrm>
        </p:grpSpPr>
        <p:sp>
          <p:nvSpPr>
            <p:cNvPr id="10" name="TextBox 10"/>
            <p:cNvSpPr txBox="1"/>
            <p:nvPr/>
          </p:nvSpPr>
          <p:spPr>
            <a:xfrm>
              <a:off x="2650998" y="1069658"/>
              <a:ext cx="2576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治理架构总览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667000" y="1752600"/>
            <a:ext cx="8801100" cy="4057650"/>
            <a:chOff x="2667000" y="1752600"/>
            <a:chExt cx="8801100" cy="4057650"/>
          </a:xfrm>
        </p:grpSpPr>
        <p:grpSp>
          <p:nvGrpSpPr>
            <p:cNvPr id="16" name="Group 16"/>
            <p:cNvGrpSpPr/>
            <p:nvPr/>
          </p:nvGrpSpPr>
          <p:grpSpPr>
            <a:xfrm>
              <a:off x="2667000" y="1752600"/>
              <a:ext cx="8801100" cy="514350"/>
              <a:chOff x="2667000" y="1752600"/>
              <a:chExt cx="8801100" cy="5143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2667000" y="1752600"/>
                <a:ext cx="8801100" cy="5143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890266" y="196310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决策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384042" y="1930718"/>
                <a:ext cx="11405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PolicyEngine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327904" y="1946910"/>
                <a:ext cx="528645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ALLOW / REQUIRE_APPROVAL / DENY 三级判定，规则首个命中即返回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667000" y="2343150"/>
              <a:ext cx="8801100" cy="514350"/>
              <a:chOff x="2667000" y="2343150"/>
              <a:chExt cx="8801100" cy="5143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2667000" y="2343150"/>
                <a:ext cx="8801100" cy="5143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890266" y="255365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协作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384042" y="2521268"/>
                <a:ext cx="159028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ApprovalManager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327904" y="2537460"/>
                <a:ext cx="37277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高风险动作创建审批，拒绝须附理由，回调恢复执行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667000" y="2933700"/>
              <a:ext cx="8801100" cy="514350"/>
              <a:chOff x="2667000" y="2933700"/>
              <a:chExt cx="8801100" cy="5143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2667000" y="2933700"/>
                <a:ext cx="8801100" cy="5143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2890266" y="314420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协作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384042" y="3111818"/>
                <a:ext cx="153341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HandoffManager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327904" y="3128010"/>
                <a:ext cx="347569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Agent 主动交还人工，任务暂停 - 恢复全程留痕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2667000" y="3524250"/>
              <a:ext cx="8801100" cy="514350"/>
              <a:chOff x="2667000" y="3524250"/>
              <a:chExt cx="8801100" cy="5143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2667000" y="3524250"/>
                <a:ext cx="8801100" cy="5143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2890266" y="3734752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自动化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384042" y="3702368"/>
                <a:ext cx="16471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AutomationEngine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27904" y="3718560"/>
                <a:ext cx="434164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事件驱动规则：调用 Agent / 创建任务 / 发消息 / Webhook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2667000" y="4114800"/>
              <a:ext cx="8801100" cy="514350"/>
              <a:chOff x="2667000" y="4114800"/>
              <a:chExt cx="8801100" cy="5143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667000" y="4114800"/>
                <a:ext cx="8801100" cy="5143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890266" y="4325302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自动化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384042" y="4292918"/>
                <a:ext cx="16087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SchedulerService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327904" y="4309110"/>
                <a:ext cx="39979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五字段 Cron 定时创建任务，CAS 推进 + 服务重启恢复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2667000" y="4705350"/>
              <a:ext cx="8801100" cy="514350"/>
              <a:chOff x="2667000" y="4705350"/>
              <a:chExt cx="8801100" cy="5143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2667000" y="4705350"/>
                <a:ext cx="8801100" cy="5143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2890266" y="491585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记录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384042" y="4883468"/>
                <a:ext cx="11887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AuditService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327904" y="4899660"/>
                <a:ext cx="42123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audit_ledger 台账：谁 / 何时 / 对什么 / 做了什么 / 结果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2667000" y="5295900"/>
              <a:ext cx="8801100" cy="514350"/>
              <a:chOff x="2667000" y="5295900"/>
              <a:chExt cx="8801100" cy="51435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2667000" y="5295900"/>
                <a:ext cx="8801100" cy="5143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2890266" y="550640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防护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3384042" y="5474018"/>
                <a:ext cx="9732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Guardrails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327904" y="5490210"/>
                <a:ext cx="30815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输入输出双侧安全链，管理后台可实时启停</a:t>
                </a: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2660904" y="6233160"/>
            <a:ext cx="8813292" cy="234696"/>
            <a:chOff x="2660904" y="6233160"/>
            <a:chExt cx="8813292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2660904" y="623316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模型负责生成动作，治理层用确定性规则决定动作能否执行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920832" y="62331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17142" y="616268"/>
            <a:ext cx="3841394" cy="264033"/>
            <a:chOff x="1517142" y="616268"/>
            <a:chExt cx="384139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1517142" y="616268"/>
              <a:ext cx="38413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治理体系 · APPROVAL &amp; SAFETY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7998" y="1069658"/>
            <a:ext cx="3848481" cy="616077"/>
            <a:chOff x="1507998" y="1069658"/>
            <a:chExt cx="3848481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1507998" y="1069658"/>
              <a:ext cx="3848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审批链路与安全防护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524000" y="1790700"/>
            <a:ext cx="10039350" cy="1562100"/>
            <a:chOff x="1524000" y="1790700"/>
            <a:chExt cx="10039350" cy="1562100"/>
          </a:xfrm>
        </p:grpSpPr>
        <p:sp>
          <p:nvSpPr>
            <p:cNvPr id="6" name="Rectangle 6"/>
            <p:cNvSpPr/>
            <p:nvPr/>
          </p:nvSpPr>
          <p:spPr>
            <a:xfrm>
              <a:off x="1524000" y="1790700"/>
              <a:ext cx="1809750" cy="762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834433" y="1985010"/>
              <a:ext cx="11888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提议动作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99488" y="22488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如：高额赔付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3371850" y="2171700"/>
              <a:ext cx="1714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581400" y="1790700"/>
              <a:ext cx="1809750" cy="762000"/>
            </a:xfrm>
            <a:prstGeom prst="roundRect">
              <a:avLst>
                <a:gd name="adj" fmla="val 5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051718" y="1985010"/>
              <a:ext cx="8691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Policy 判定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12591" y="2248852"/>
              <a:ext cx="13473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REQUIRE_APPROVAL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429250" y="2171700"/>
              <a:ext cx="1714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638800" y="1790700"/>
              <a:ext cx="1809750" cy="762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52947" y="19850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创建审批请求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11875" y="2248852"/>
              <a:ext cx="10636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WAITING_HUMAN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486650" y="2171700"/>
              <a:ext cx="1714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96200" y="1790700"/>
              <a:ext cx="1809750" cy="762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91119" y="19850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管理员审批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04175" y="2248852"/>
              <a:ext cx="15937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approve / reject + 理由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544050" y="2171700"/>
              <a:ext cx="1714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753600" y="1790700"/>
              <a:ext cx="1809750" cy="762000"/>
            </a:xfrm>
            <a:prstGeom prst="roundRect">
              <a:avLst>
                <a:gd name="adj" fmla="val 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070215" y="1985010"/>
              <a:ext cx="1176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回调恢复 / 终止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23893" y="2248852"/>
              <a:ext cx="14691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onApprove / onReject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601075" y="2552700"/>
              <a:ext cx="1" cy="342900"/>
            </a:xfrm>
            <a:prstGeom prst="line">
              <a:avLst/>
            </a:prstGeom>
            <a:noFill/>
            <a:ln w="14288">
              <a:solidFill>
                <a:srgbClr val="64748B"/>
              </a:solidFill>
              <a:prstDash val="dash"/>
              <a:tailEnd type="triangle" w="lg" len="lg"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96200" y="2933700"/>
              <a:ext cx="1809750" cy="419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96200" y="2933700"/>
              <a:ext cx="1809750" cy="4191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  <a:prstDash val="dash"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53277" y="3087052"/>
              <a:ext cx="20955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拒绝：终止并记录 rejected 事件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524000" y="3867150"/>
            <a:ext cx="4857750" cy="1905000"/>
            <a:chOff x="1524000" y="3867150"/>
            <a:chExt cx="4857750" cy="1905000"/>
          </a:xfrm>
        </p:grpSpPr>
        <p:sp>
          <p:nvSpPr>
            <p:cNvPr id="30" name="Rectangle 30"/>
            <p:cNvSpPr/>
            <p:nvPr/>
          </p:nvSpPr>
          <p:spPr>
            <a:xfrm>
              <a:off x="1524000" y="3867150"/>
              <a:ext cx="4857750" cy="1905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1769631" y="4107656"/>
              <a:ext cx="201506" cy="185737"/>
              <a:chOff x="1769631" y="4107656"/>
              <a:chExt cx="201506" cy="185737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1769631" y="4107656"/>
                <a:ext cx="201506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6" h="184148">
                    <a:moveTo>
                      <a:pt x="101222" y="184148"/>
                    </a:moveTo>
                    <a:cubicBezTo>
                      <a:pt x="36580" y="164110"/>
                      <a:pt x="0" y="95886"/>
                      <a:pt x="19085" y="30956"/>
                    </a:cubicBezTo>
                    <a:cubicBezTo>
                      <a:pt x="51233" y="32427"/>
                      <a:pt x="82691" y="21324"/>
                      <a:pt x="106794" y="0"/>
                    </a:cubicBezTo>
                    <a:cubicBezTo>
                      <a:pt x="130897" y="21324"/>
                      <a:pt x="162355" y="32427"/>
                      <a:pt x="194503" y="30956"/>
                    </a:cubicBezTo>
                    <a:cubicBezTo>
                      <a:pt x="201506" y="54783"/>
                      <a:pt x="201183" y="80166"/>
                      <a:pt x="193575" y="103806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907381" y="425211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2125980" y="41052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输入侧防护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46885" y="4488656"/>
              <a:ext cx="2927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PromptInjectionDetector 提示注入检测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46885" y="4755356"/>
              <a:ext cx="24065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SensitiveWordFilter 敏感词过滤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46885" y="5022056"/>
              <a:ext cx="1937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PiiDetector 个人信息识别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746885" y="5288756"/>
              <a:ext cx="1663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RateLimiter 请求频控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724650" y="3867150"/>
            <a:ext cx="4857750" cy="1905000"/>
            <a:chOff x="6724650" y="3867150"/>
            <a:chExt cx="4857750" cy="1905000"/>
          </a:xfrm>
        </p:grpSpPr>
        <p:sp>
          <p:nvSpPr>
            <p:cNvPr id="40" name="Rectangle 40"/>
            <p:cNvSpPr/>
            <p:nvPr/>
          </p:nvSpPr>
          <p:spPr>
            <a:xfrm>
              <a:off x="6724650" y="3867150"/>
              <a:ext cx="4857750" cy="1905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984206" y="4107656"/>
              <a:ext cx="185737" cy="185737"/>
              <a:chOff x="6984206" y="4107656"/>
              <a:chExt cx="185737" cy="185737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984206" y="410765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046118" y="4179887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7326630" y="41052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输出侧防护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47535" y="4488656"/>
              <a:ext cx="2597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ContentSafetyCheck 内容安全检查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47535" y="4755356"/>
              <a:ext cx="292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PriceConsistencyCheck 价格一致性校验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47535" y="50982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管理后台可实时启停各防护项，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47535" y="53649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并查看拦截记录与统计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517904" y="6134100"/>
            <a:ext cx="10070592" cy="371856"/>
            <a:chOff x="1517904" y="6134100"/>
            <a:chExt cx="10070592" cy="371856"/>
          </a:xfrm>
        </p:grpSpPr>
        <p:sp>
          <p:nvSpPr>
            <p:cNvPr id="50" name="Line 50"/>
            <p:cNvSpPr/>
            <p:nvPr/>
          </p:nvSpPr>
          <p:spPr>
            <a:xfrm>
              <a:off x="1524000" y="61341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517904" y="627126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高风险动作必须人工放行，内容安全在进出两侧独立把关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035132" y="62712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17142" y="616268"/>
            <a:ext cx="2926080" cy="264033"/>
            <a:chOff x="1517142" y="616268"/>
            <a:chExt cx="2926080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1517142" y="616268"/>
              <a:ext cx="2926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工程底座 · EVALUATION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7998" y="1069658"/>
            <a:ext cx="2749721" cy="616077"/>
            <a:chOff x="1507998" y="1069658"/>
            <a:chExt cx="2749721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1507998" y="1069658"/>
              <a:ext cx="27497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评测 Harness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24000" y="1809750"/>
            <a:ext cx="10058400" cy="685800"/>
            <a:chOff x="1524000" y="1809750"/>
            <a:chExt cx="10058400" cy="685800"/>
          </a:xfrm>
        </p:grpSpPr>
        <p:sp>
          <p:nvSpPr>
            <p:cNvPr id="6" name="Rectangle 6"/>
            <p:cNvSpPr/>
            <p:nvPr/>
          </p:nvSpPr>
          <p:spPr>
            <a:xfrm>
              <a:off x="1524000" y="1809750"/>
              <a:ext cx="2286000" cy="6858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077578" y="1985010"/>
              <a:ext cx="11788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YAML 用例加载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35761" y="2229802"/>
              <a:ext cx="14624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YamlTestSuiteLoader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3848100" y="2152650"/>
              <a:ext cx="2286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4114800" y="1809750"/>
              <a:ext cx="2286000" cy="6858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605528" y="19850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按类型分派执行器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99443" y="2229802"/>
              <a:ext cx="9167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EvalExecutor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438900" y="2152650"/>
              <a:ext cx="2286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705600" y="1809750"/>
              <a:ext cx="2286000" cy="6858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77100" y="1985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线程池并行执行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065" y="2229802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10 - 20 workers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9029700" y="2152650"/>
              <a:ext cx="2286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9296400" y="1809750"/>
              <a:ext cx="2286000" cy="685800"/>
            </a:xfrm>
            <a:prstGeom prst="roundRect">
              <a:avLst>
                <a:gd name="adj" fmla="val 555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93904" y="1985010"/>
              <a:ext cx="12909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EvalReport 报告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54021" y="2229802"/>
              <a:ext cx="13707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Console + Markdown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524000" y="2857500"/>
            <a:ext cx="10058400" cy="2009775"/>
            <a:chOff x="1524000" y="2857500"/>
            <a:chExt cx="10058400" cy="2009775"/>
          </a:xfrm>
        </p:grpSpPr>
        <p:sp>
          <p:nvSpPr>
            <p:cNvPr id="22" name="Rectangle 22"/>
            <p:cNvSpPr/>
            <p:nvPr/>
          </p:nvSpPr>
          <p:spPr>
            <a:xfrm>
              <a:off x="1524000" y="2857500"/>
              <a:ext cx="1005840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46504" y="3013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评测类型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42004" y="3013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用例来源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18504" y="3013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校验维度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47404" y="3013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判定方式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524000" y="3314700"/>
              <a:ext cx="10058400" cy="5143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746504" y="35090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意图评测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42004" y="3509010"/>
              <a:ext cx="1366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intent-eval YAML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18504" y="35090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命中意图 + 置信区间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47404" y="3509010"/>
              <a:ext cx="1837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正例 ≥ 下限，负例 ≤ 上限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524000" y="3829050"/>
              <a:ext cx="1005840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746504" y="40233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工具调用评测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42004" y="4023360"/>
              <a:ext cx="1552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tool-call-eval YAML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18504" y="4023360"/>
              <a:ext cx="1087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 ID + 参数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47404" y="4023360"/>
              <a:ext cx="2459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loose 校验存在，strict 精确比对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524000" y="4343400"/>
              <a:ext cx="10058400" cy="5143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746504" y="45377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端到端评测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42004" y="4537710"/>
              <a:ext cx="10942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end2end YAML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18504" y="45377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多步场景槽位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47404" y="4537710"/>
              <a:ext cx="20718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按步骤校验 expected_slots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1524000" y="33147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1524000" y="382905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1524000" y="43434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1524000" y="485775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1517142" y="5162550"/>
            <a:ext cx="5549113" cy="714756"/>
            <a:chOff x="1517142" y="5162550"/>
            <a:chExt cx="5549113" cy="714756"/>
          </a:xfrm>
        </p:grpSpPr>
        <p:sp>
          <p:nvSpPr>
            <p:cNvPr id="47" name="TextBox 47"/>
            <p:cNvSpPr txBox="1"/>
            <p:nvPr/>
          </p:nvSpPr>
          <p:spPr>
            <a:xfrm>
              <a:off x="1517142" y="52073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运行模式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476500" y="5162550"/>
              <a:ext cx="1333500" cy="3048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835986" y="52506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全量回归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962400" y="5162550"/>
              <a:ext cx="1524000" cy="3048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281439" y="5250656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quick 按标签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638800" y="5162550"/>
              <a:ext cx="1143000" cy="3048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78423" y="52506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按类型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517904" y="5642610"/>
              <a:ext cx="55483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报告汇总通过率、耗时与分类指标，作为每次模型 / Prompt 改动的回归基线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517904" y="6134100"/>
            <a:ext cx="10070592" cy="371856"/>
            <a:chOff x="1517904" y="6134100"/>
            <a:chExt cx="10070592" cy="371856"/>
          </a:xfrm>
        </p:grpSpPr>
        <p:sp>
          <p:nvSpPr>
            <p:cNvPr id="56" name="Line 56"/>
            <p:cNvSpPr/>
            <p:nvPr/>
          </p:nvSpPr>
          <p:spPr>
            <a:xfrm>
              <a:off x="1524000" y="61341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517904" y="6271260"/>
              <a:ext cx="26375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改 Prompt 不靠感觉，跑同一把尺子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035132" y="62712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17142" y="616268"/>
            <a:ext cx="3290926" cy="264033"/>
            <a:chOff x="1517142" y="616268"/>
            <a:chExt cx="329092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1517142" y="616268"/>
              <a:ext cx="32909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工程底座 · OBSERVABILITY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7998" y="1069658"/>
            <a:ext cx="3604685" cy="616077"/>
            <a:chOff x="1507998" y="1069658"/>
            <a:chExt cx="3604685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1507998" y="1069658"/>
              <a:ext cx="36046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可观测性 Harness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24000" y="1809750"/>
            <a:ext cx="10058400" cy="685800"/>
            <a:chOff x="1524000" y="1809750"/>
            <a:chExt cx="10058400" cy="685800"/>
          </a:xfrm>
        </p:grpSpPr>
        <p:sp>
          <p:nvSpPr>
            <p:cNvPr id="6" name="Rectangle 6"/>
            <p:cNvSpPr/>
            <p:nvPr/>
          </p:nvSpPr>
          <p:spPr>
            <a:xfrm>
              <a:off x="1524000" y="1809750"/>
              <a:ext cx="2286000" cy="6858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095500" y="1985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注解声明采集点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56321" y="2229802"/>
              <a:ext cx="14213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@Traced / @Metriced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3848100" y="2152650"/>
              <a:ext cx="2286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4114800" y="1809750"/>
              <a:ext cx="2286000" cy="6858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847844" y="19850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采集与聚合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37119" y="2229802"/>
              <a:ext cx="2241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TraceManager / MetricCollector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438900" y="2152650"/>
              <a:ext cx="2286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705600" y="1809750"/>
              <a:ext cx="2286000" cy="6858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38644" y="19850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持久化存储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15933" y="2229802"/>
              <a:ext cx="14653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JdbcTraceRepository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9029700" y="2152650"/>
              <a:ext cx="2286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9296400" y="1809750"/>
              <a:ext cx="2286000" cy="685800"/>
            </a:xfrm>
            <a:prstGeom prst="roundRect">
              <a:avLst>
                <a:gd name="adj" fmla="val 555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110277" y="1985010"/>
              <a:ext cx="658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看板 API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610195" y="2229802"/>
              <a:ext cx="1658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ObservabilityController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524000" y="2952750"/>
            <a:ext cx="4857750" cy="1809750"/>
            <a:chOff x="1524000" y="2952750"/>
            <a:chExt cx="4857750" cy="1809750"/>
          </a:xfrm>
        </p:grpSpPr>
        <p:sp>
          <p:nvSpPr>
            <p:cNvPr id="22" name="Rectangle 22"/>
            <p:cNvSpPr/>
            <p:nvPr/>
          </p:nvSpPr>
          <p:spPr>
            <a:xfrm>
              <a:off x="1524000" y="2952750"/>
              <a:ext cx="4857750" cy="1809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1783556" y="3203575"/>
              <a:ext cx="185737" cy="174624"/>
              <a:chOff x="1783556" y="3203575"/>
              <a:chExt cx="185737" cy="17462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783556" y="3286125"/>
                <a:ext cx="61912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82550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2" y="0"/>
                      <a:pt x="61912" y="4620"/>
                      <a:pt x="61912" y="10319"/>
                    </a:cubicBezTo>
                    <a:lnTo>
                      <a:pt x="61912" y="72231"/>
                    </a:lnTo>
                    <a:cubicBezTo>
                      <a:pt x="61912" y="77930"/>
                      <a:pt x="57292" y="82550"/>
                      <a:pt x="51594" y="82550"/>
                    </a:cubicBezTo>
                    <a:lnTo>
                      <a:pt x="10319" y="82550"/>
                    </a:lnTo>
                    <a:cubicBezTo>
                      <a:pt x="4620" y="82550"/>
                      <a:pt x="0" y="77930"/>
                      <a:pt x="0" y="72231"/>
                    </a:cubicBezTo>
                    <a:lnTo>
                      <a:pt x="0" y="10319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907381" y="3244850"/>
                <a:ext cx="61912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123825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2" y="0"/>
                      <a:pt x="61912" y="4620"/>
                      <a:pt x="61912" y="10319"/>
                    </a:cubicBezTo>
                    <a:lnTo>
                      <a:pt x="61912" y="113506"/>
                    </a:lnTo>
                    <a:cubicBezTo>
                      <a:pt x="61912" y="119205"/>
                      <a:pt x="57292" y="123825"/>
                      <a:pt x="51594" y="123825"/>
                    </a:cubicBezTo>
                    <a:lnTo>
                      <a:pt x="10319" y="123825"/>
                    </a:lnTo>
                    <a:cubicBezTo>
                      <a:pt x="4620" y="123825"/>
                      <a:pt x="0" y="119205"/>
                      <a:pt x="0" y="113506"/>
                    </a:cubicBezTo>
                    <a:lnTo>
                      <a:pt x="0" y="10319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845468" y="3203575"/>
                <a:ext cx="61912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165099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2" y="0"/>
                      <a:pt x="61912" y="4620"/>
                      <a:pt x="61912" y="10319"/>
                    </a:cubicBezTo>
                    <a:lnTo>
                      <a:pt x="61912" y="154781"/>
                    </a:lnTo>
                    <a:cubicBezTo>
                      <a:pt x="61912" y="160480"/>
                      <a:pt x="57292" y="165099"/>
                      <a:pt x="51594" y="165099"/>
                    </a:cubicBezTo>
                    <a:lnTo>
                      <a:pt x="10319" y="165099"/>
                    </a:lnTo>
                    <a:cubicBezTo>
                      <a:pt x="4620" y="165099"/>
                      <a:pt x="0" y="160480"/>
                      <a:pt x="0" y="154781"/>
                    </a:cubicBezTo>
                    <a:lnTo>
                      <a:pt x="0" y="10319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793875" y="3368674"/>
                <a:ext cx="144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9525">
                    <a:moveTo>
                      <a:pt x="0" y="0"/>
                    </a:moveTo>
                    <a:lnTo>
                      <a:pt x="144462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2125980" y="3190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指标视图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46885" y="3574256"/>
              <a:ext cx="2671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SlidingWindowCounter 滑动窗口统计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46885" y="3840956"/>
              <a:ext cx="2434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成功率 / P50·P95 延迟 / 调用量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46885" y="4107656"/>
              <a:ext cx="24749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Guardrails 拦截数 / 模型降级次数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46885" y="4374356"/>
              <a:ext cx="21074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memory / jdbc 两种存储模式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724650" y="2952750"/>
            <a:ext cx="4857750" cy="1809750"/>
            <a:chOff x="6724650" y="2952750"/>
            <a:chExt cx="4857750" cy="1809750"/>
          </a:xfrm>
        </p:grpSpPr>
        <p:sp>
          <p:nvSpPr>
            <p:cNvPr id="34" name="Rectangle 34"/>
            <p:cNvSpPr/>
            <p:nvPr/>
          </p:nvSpPr>
          <p:spPr>
            <a:xfrm>
              <a:off x="6724650" y="2952750"/>
              <a:ext cx="4857750" cy="1809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004844" y="3203575"/>
              <a:ext cx="154780" cy="165099"/>
              <a:chOff x="7004844" y="3203575"/>
              <a:chExt cx="154780" cy="165099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004844" y="3327399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004844" y="3203575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108031" y="3203575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025481" y="3244850"/>
                <a:ext cx="95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2550">
                    <a:moveTo>
                      <a:pt x="0" y="0"/>
                    </a:moveTo>
                    <a:lnTo>
                      <a:pt x="0" y="82550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046118" y="3275806"/>
                <a:ext cx="82550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72231">
                    <a:moveTo>
                      <a:pt x="0" y="72231"/>
                    </a:moveTo>
                    <a:lnTo>
                      <a:pt x="61912" y="72231"/>
                    </a:lnTo>
                    <a:cubicBezTo>
                      <a:pt x="73310" y="72231"/>
                      <a:pt x="82550" y="62991"/>
                      <a:pt x="82550" y="51594"/>
                    </a:cubicBezTo>
                    <a:lnTo>
                      <a:pt x="82550" y="0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097712" y="3275806"/>
                <a:ext cx="61912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30956">
                    <a:moveTo>
                      <a:pt x="0" y="30956"/>
                    </a:moveTo>
                    <a:lnTo>
                      <a:pt x="30956" y="0"/>
                    </a:lnTo>
                    <a:lnTo>
                      <a:pt x="61912" y="30956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326630" y="3190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追踪视图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47535" y="3574256"/>
              <a:ext cx="1494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RAG 全链路 Span 树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47535" y="3840956"/>
              <a:ext cx="2377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 → 检索 → Rerank → 模型路由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47535" y="4107656"/>
              <a:ext cx="2092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每个节点耗时与输入输出摘要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47535" y="4374356"/>
              <a:ext cx="25712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定位问题 = 看哪一段 Span 变慢变红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517904" y="5166360"/>
            <a:ext cx="5820604" cy="234696"/>
            <a:chOff x="1517904" y="5166360"/>
            <a:chExt cx="5820604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1517904" y="5166360"/>
              <a:ext cx="58206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LogMetricReporter 定期输出指标快照；追踪数据支撑评测坏例归因与容量规划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517904" y="6134100"/>
            <a:ext cx="10070592" cy="371856"/>
            <a:chOff x="1517904" y="6134100"/>
            <a:chExt cx="10070592" cy="371856"/>
          </a:xfrm>
        </p:grpSpPr>
        <p:sp>
          <p:nvSpPr>
            <p:cNvPr id="50" name="Line 50"/>
            <p:cNvSpPr/>
            <p:nvPr/>
          </p:nvSpPr>
          <p:spPr>
            <a:xfrm>
              <a:off x="1524000" y="61341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517904" y="62712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两个注解，把整条链路变成可查的指标和调用树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035132" y="62712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17142" y="616268"/>
            <a:ext cx="3162910" cy="264033"/>
            <a:chOff x="1517142" y="616268"/>
            <a:chExt cx="3162910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1517142" y="616268"/>
              <a:ext cx="3162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工程底座 · ARCHITECTURE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7998" y="1069658"/>
            <a:ext cx="2576322" cy="616077"/>
            <a:chOff x="1507998" y="1069658"/>
            <a:chExt cx="2576322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1507998" y="1069658"/>
              <a:ext cx="2576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技术架构总栈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24000" y="1676400"/>
            <a:ext cx="10058400" cy="609600"/>
            <a:chOff x="1524000" y="1676400"/>
            <a:chExt cx="10058400" cy="609600"/>
          </a:xfrm>
        </p:grpSpPr>
        <p:sp>
          <p:nvSpPr>
            <p:cNvPr id="6" name="Rectangle 6"/>
            <p:cNvSpPr/>
            <p:nvPr/>
          </p:nvSpPr>
          <p:spPr>
            <a:xfrm>
              <a:off x="1524000" y="1676400"/>
              <a:ext cx="100584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746504" y="1908810"/>
              <a:ext cx="45871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前端 · React 18 + TypeScript + Vite + Tailwind + Zustand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36198" y="1925002"/>
              <a:ext cx="32229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12 多Agent 工作台页 · 13 管理后台页 · SSE 流式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24000" y="2438400"/>
            <a:ext cx="10058400" cy="1809750"/>
            <a:chOff x="1524000" y="2438400"/>
            <a:chExt cx="10058400" cy="1809750"/>
          </a:xfrm>
        </p:grpSpPr>
        <p:sp>
          <p:nvSpPr>
            <p:cNvPr id="10" name="Rectangle 10"/>
            <p:cNvSpPr/>
            <p:nvPr/>
          </p:nvSpPr>
          <p:spPr>
            <a:xfrm>
              <a:off x="1524000" y="2438400"/>
              <a:ext cx="5867400" cy="1809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45742" y="2616518"/>
              <a:ext cx="1560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bootstrap 主应用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8751" y="264890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:1021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714500" y="2914650"/>
              <a:ext cx="272415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756225" y="3117056"/>
              <a:ext cx="6407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RAG 链路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552950" y="2914650"/>
              <a:ext cx="272415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425182" y="3117056"/>
              <a:ext cx="979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 Agent 编排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714500" y="3562350"/>
              <a:ext cx="272415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218985" y="3764756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评测 · 可观测 · 安全防护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52950" y="3562350"/>
              <a:ext cx="272415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75626" y="3764756"/>
              <a:ext cx="10787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认证与管理 API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0" y="2438400"/>
              <a:ext cx="3962400" cy="83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2504" y="2632710"/>
              <a:ext cx="1514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infra-ai · 模型路由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3266" y="2953702"/>
              <a:ext cx="29012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候选优先级 · 健康检查 · 首包探测 · 失败回退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0" y="3409950"/>
              <a:ext cx="3962400" cy="83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42504" y="3604260"/>
              <a:ext cx="18202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mcp-server · 工具服务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43266" y="3925252"/>
              <a:ext cx="28871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pricing · earnings · orders · branch · geo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24000" y="4476750"/>
            <a:ext cx="10058400" cy="609600"/>
            <a:chOff x="1524000" y="4476750"/>
            <a:chExt cx="10058400" cy="609600"/>
          </a:xfrm>
        </p:grpSpPr>
        <p:sp>
          <p:nvSpPr>
            <p:cNvPr id="28" name="Rectangle 28"/>
            <p:cNvSpPr/>
            <p:nvPr/>
          </p:nvSpPr>
          <p:spPr>
            <a:xfrm>
              <a:off x="1524000" y="4476750"/>
              <a:ext cx="41910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746885" y="4717256"/>
              <a:ext cx="29982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agent-orchestrator · 角色路由 + 意图树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943600" y="4476750"/>
              <a:ext cx="56388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66485" y="4717256"/>
              <a:ext cx="4083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framework · 统一异常 · 幂等切面 · 分布式 ID · MQ 封装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524000" y="5314950"/>
            <a:ext cx="10058400" cy="609600"/>
            <a:chOff x="1524000" y="5314950"/>
            <a:chExt cx="10058400" cy="609600"/>
          </a:xfrm>
        </p:grpSpPr>
        <p:sp>
          <p:nvSpPr>
            <p:cNvPr id="33" name="Rectangle 33"/>
            <p:cNvSpPr/>
            <p:nvPr/>
          </p:nvSpPr>
          <p:spPr>
            <a:xfrm>
              <a:off x="1524000" y="5314950"/>
              <a:ext cx="3276600" cy="609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524000" y="5314950"/>
              <a:ext cx="3276600" cy="609600"/>
            </a:xfrm>
            <a:prstGeom prst="rect">
              <a:avLst/>
            </a:pr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688870" y="5555456"/>
              <a:ext cx="2946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PostgreSQL · JSONB + pgvector HNSW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029200" y="5314950"/>
              <a:ext cx="3276600" cy="609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029200" y="5314950"/>
              <a:ext cx="3276600" cy="609600"/>
            </a:xfrm>
            <a:prstGeom prst="rect">
              <a:avLst/>
            </a:pr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575546" y="5555456"/>
              <a:ext cx="21839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Redis · 缓存 / 限流 / 幂等标记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534400" y="5314950"/>
              <a:ext cx="3048000" cy="609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534400" y="5314950"/>
              <a:ext cx="3048000" cy="609600"/>
            </a:xfrm>
            <a:prstGeom prst="rect">
              <a:avLst/>
            </a:pr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63757" y="5555456"/>
              <a:ext cx="15892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RocketMQ · 异步消费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517904" y="6134100"/>
            <a:ext cx="10070592" cy="371856"/>
            <a:chOff x="1517904" y="6134100"/>
            <a:chExt cx="10070592" cy="371856"/>
          </a:xfrm>
        </p:grpSpPr>
        <p:sp>
          <p:nvSpPr>
            <p:cNvPr id="43" name="Line 43"/>
            <p:cNvSpPr/>
            <p:nvPr/>
          </p:nvSpPr>
          <p:spPr>
            <a:xfrm>
              <a:off x="1524000" y="61341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517904" y="6271260"/>
              <a:ext cx="65188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模型供应商：百炼 · Ollama · SiliconFlow · AIHubMix——差异收敛到 ChatClient 抽象之后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35132" y="62712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17142" y="616268"/>
            <a:ext cx="2599639" cy="264033"/>
            <a:chOff x="1517142" y="616268"/>
            <a:chExt cx="2599639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1517142" y="616268"/>
              <a:ext cx="25996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工程底座 · ROADMAP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7998" y="1069658"/>
            <a:ext cx="1728216" cy="616077"/>
            <a:chOff x="1507998" y="1069658"/>
            <a:chExt cx="1728216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1507998" y="1069658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演进路线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42466" y="1982152"/>
            <a:ext cx="10216134" cy="1113854"/>
            <a:chOff x="1442466" y="1982152"/>
            <a:chExt cx="10216134" cy="1113854"/>
          </a:xfrm>
        </p:grpSpPr>
        <p:sp>
          <p:nvSpPr>
            <p:cNvPr id="6" name="Line 6"/>
            <p:cNvSpPr/>
            <p:nvPr/>
          </p:nvSpPr>
          <p:spPr>
            <a:xfrm>
              <a:off x="1524000" y="22860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447800" y="2209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42466" y="1982152"/>
              <a:ext cx="5184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P0 协议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2705100" y="2209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522068" y="2572702"/>
              <a:ext cx="5184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P1 模板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3962400" y="2209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779368" y="1982152"/>
              <a:ext cx="5184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P2 队列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219700" y="2209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045735" y="2572702"/>
              <a:ext cx="5003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P3 Skill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477000" y="2209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93968" y="1982152"/>
              <a:ext cx="5184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P4 审批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34300" y="2209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28869" y="2572702"/>
              <a:ext cx="763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P5 Handoff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8991600" y="2209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33892" y="1982152"/>
              <a:ext cx="667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P6 自动化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10248900" y="2209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991192" y="2572702"/>
              <a:ext cx="667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P7 可观测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11506200" y="2209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069269" y="1982152"/>
              <a:ext cx="5184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P8 前端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14299" y="2861310"/>
              <a:ext cx="66778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Phase 0 - 8 已全部落地：协议 → 模板 → 队列 → Skill → 审批 → 协作 → 自动化 → 可观测 → 前端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17142" y="3207068"/>
            <a:ext cx="1104138" cy="264033"/>
            <a:chOff x="1517142" y="3207068"/>
            <a:chExt cx="1104138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1517142" y="32070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下一阶段方向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524000" y="3543300"/>
            <a:ext cx="10058400" cy="2209800"/>
            <a:chOff x="1524000" y="3543300"/>
            <a:chExt cx="10058400" cy="2209800"/>
          </a:xfrm>
        </p:grpSpPr>
        <p:grpSp>
          <p:nvGrpSpPr>
            <p:cNvPr id="47" name="Group 47"/>
            <p:cNvGrpSpPr/>
            <p:nvPr/>
          </p:nvGrpSpPr>
          <p:grpSpPr>
            <a:xfrm>
              <a:off x="1524000" y="3543300"/>
              <a:ext cx="2400300" cy="2209800"/>
              <a:chOff x="1524000" y="3543300"/>
              <a:chExt cx="2400300" cy="22098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1524000" y="3543300"/>
                <a:ext cx="2400300" cy="2209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1524000" y="3543300"/>
                <a:ext cx="2400300" cy="2209800"/>
              </a:xfrm>
              <a:prstGeom prst="rect">
                <a:avLst/>
              </a:prstGeom>
              <a:noFill/>
              <a:ln w="14288">
                <a:solidFill>
                  <a:schemeClr val="accent2"/>
                </a:solidFill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1783556" y="3802856"/>
                <a:ext cx="185737" cy="185737"/>
                <a:chOff x="1783556" y="3802856"/>
                <a:chExt cx="185737" cy="185737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1804194" y="3823494"/>
                  <a:ext cx="144462" cy="144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2" h="144462">
                      <a:moveTo>
                        <a:pt x="0" y="10319"/>
                      </a:move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134143" y="0"/>
                      </a:lnTo>
                      <a:cubicBezTo>
                        <a:pt x="139842" y="0"/>
                        <a:pt x="144462" y="4620"/>
                        <a:pt x="144462" y="10319"/>
                      </a:cubicBezTo>
                      <a:lnTo>
                        <a:pt x="144462" y="134143"/>
                      </a:lnTo>
                      <a:cubicBezTo>
                        <a:pt x="144462" y="139842"/>
                        <a:pt x="139842" y="144462"/>
                        <a:pt x="134143" y="144462"/>
                      </a:cubicBezTo>
                      <a:lnTo>
                        <a:pt x="10319" y="144462"/>
                      </a:lnTo>
                      <a:cubicBezTo>
                        <a:pt x="4620" y="144462"/>
                        <a:pt x="0" y="139842"/>
                        <a:pt x="0" y="134143"/>
                      </a:cubicBezTo>
                      <a:lnTo>
                        <a:pt x="0" y="10319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845468" y="3864768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0" y="0"/>
                      </a:moveTo>
                      <a:lnTo>
                        <a:pt x="61912" y="0"/>
                      </a:lnTo>
                      <a:lnTo>
                        <a:pt x="61912" y="61912"/>
                      </a:lnTo>
                      <a:lnTo>
                        <a:pt x="0" y="619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783556" y="3875087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0" y="0"/>
                      </a:moveTo>
                      <a:lnTo>
                        <a:pt x="20637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783556" y="3916362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0" y="0"/>
                      </a:moveTo>
                      <a:lnTo>
                        <a:pt x="20637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1855787" y="3802856"/>
                  <a:ext cx="9525" cy="20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7">
                      <a:moveTo>
                        <a:pt x="0" y="0"/>
                      </a:moveTo>
                      <a:lnTo>
                        <a:pt x="0" y="20637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1897062" y="3802856"/>
                  <a:ext cx="9525" cy="20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7">
                      <a:moveTo>
                        <a:pt x="0" y="0"/>
                      </a:moveTo>
                      <a:lnTo>
                        <a:pt x="0" y="20637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1948656" y="3875087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20637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948656" y="3916362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20637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1897062" y="3967956"/>
                  <a:ext cx="9525" cy="20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7">
                      <a:moveTo>
                        <a:pt x="0" y="2063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855787" y="3967956"/>
                  <a:ext cx="9525" cy="20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7">
                      <a:moveTo>
                        <a:pt x="0" y="2063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1745742" y="41976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模型训练平台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747266" y="4572952"/>
                <a:ext cx="187010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LoRA / QLoRA 微调物流模型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747266" y="4820602"/>
                <a:ext cx="9291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DPO 偏好对齐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747266" y="5068252"/>
                <a:ext cx="158733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vLLM 部署接入模型路由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747266" y="5392102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数据来自线上对话与点赞点踩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4076700" y="3543300"/>
              <a:ext cx="2400300" cy="2209800"/>
              <a:chOff x="4076700" y="3543300"/>
              <a:chExt cx="2400300" cy="22098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4076700" y="3543300"/>
                <a:ext cx="2400300" cy="2209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4076700" y="3543300"/>
                <a:ext cx="2400300" cy="2209800"/>
              </a:xfrm>
              <a:prstGeom prst="rect">
                <a:avLst/>
              </a:prstGeom>
              <a:noFill/>
              <a:ln w="14288">
                <a:solidFill>
                  <a:schemeClr val="accent2"/>
                </a:solidFill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4336256" y="3802856"/>
                <a:ext cx="185737" cy="185737"/>
                <a:chOff x="4336256" y="3802856"/>
                <a:chExt cx="185737" cy="185737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4336256" y="3802856"/>
                  <a:ext cx="144462" cy="144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2" h="144462">
                      <a:moveTo>
                        <a:pt x="0" y="72231"/>
                      </a:moveTo>
                      <a:cubicBezTo>
                        <a:pt x="0" y="112123"/>
                        <a:pt x="32339" y="144462"/>
                        <a:pt x="72231" y="144462"/>
                      </a:cubicBezTo>
                      <a:cubicBezTo>
                        <a:pt x="112123" y="144462"/>
                        <a:pt x="144462" y="112123"/>
                        <a:pt x="144462" y="72231"/>
                      </a:cubicBezTo>
                      <a:cubicBezTo>
                        <a:pt x="144462" y="32339"/>
                        <a:pt x="112123" y="0"/>
                        <a:pt x="72231" y="0"/>
                      </a:cubicBezTo>
                      <a:cubicBezTo>
                        <a:pt x="32339" y="0"/>
                        <a:pt x="0" y="32339"/>
                        <a:pt x="0" y="72231"/>
                      </a:cubicBez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4460081" y="3926681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61912" y="6191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4298442" y="41976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混合检索增强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4299966" y="4572952"/>
                <a:ext cx="11606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BM25 关键词通道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4299966" y="4820602"/>
                <a:ext cx="8993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RRF 排名融合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4299966" y="5068252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引用原文页码追溯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4299966" y="5392102"/>
                <a:ext cx="14453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精确实体 + 语义双保险</a:t>
                </a: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6629400" y="3543300"/>
              <a:ext cx="2400300" cy="2209800"/>
              <a:chOff x="6629400" y="3543300"/>
              <a:chExt cx="2400300" cy="220980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6629400" y="3543300"/>
                <a:ext cx="2400300" cy="2209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6629400" y="3543300"/>
                <a:ext cx="2400300" cy="2209800"/>
              </a:xfrm>
              <a:prstGeom prst="rect">
                <a:avLst/>
              </a:prstGeom>
              <a:noFill/>
              <a:ln w="14288">
                <a:solidFill>
                  <a:schemeClr val="accent2"/>
                </a:solidFill>
              </a:ln>
            </p:spPr>
          </p:sp>
          <p:grpSp>
            <p:nvGrpSpPr>
              <p:cNvPr id="65" name="Group 65"/>
              <p:cNvGrpSpPr/>
              <p:nvPr/>
            </p:nvGrpSpPr>
            <p:grpSpPr>
              <a:xfrm>
                <a:off x="6899275" y="3813175"/>
                <a:ext cx="165100" cy="165100"/>
                <a:chOff x="6899275" y="3813175"/>
                <a:chExt cx="165100" cy="165100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6915838" y="3833812"/>
                  <a:ext cx="127898" cy="127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898" h="127898">
                      <a:moveTo>
                        <a:pt x="43130" y="0"/>
                      </a:moveTo>
                      <a:lnTo>
                        <a:pt x="127898" y="84768"/>
                      </a:lnTo>
                      <a:lnTo>
                        <a:pt x="106704" y="105963"/>
                      </a:lnTo>
                      <a:cubicBezTo>
                        <a:pt x="91664" y="121604"/>
                        <a:pt x="69346" y="127898"/>
                        <a:pt x="48350" y="122419"/>
                      </a:cubicBezTo>
                      <a:cubicBezTo>
                        <a:pt x="27355" y="116941"/>
                        <a:pt x="10958" y="100544"/>
                        <a:pt x="5479" y="79548"/>
                      </a:cubicBezTo>
                      <a:cubicBezTo>
                        <a:pt x="0" y="58552"/>
                        <a:pt x="6294" y="36234"/>
                        <a:pt x="21936" y="21195"/>
                      </a:cubicBezTo>
                      <a:lnTo>
                        <a:pt x="43130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6899275" y="3942159"/>
                  <a:ext cx="36116" cy="361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16" h="36116">
                      <a:moveTo>
                        <a:pt x="0" y="36116"/>
                      </a:moveTo>
                      <a:lnTo>
                        <a:pt x="36116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6976665" y="3813175"/>
                  <a:ext cx="36116" cy="361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16" h="36116">
                      <a:moveTo>
                        <a:pt x="36116" y="0"/>
                      </a:moveTo>
                      <a:lnTo>
                        <a:pt x="0" y="36116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7028259" y="3864768"/>
                  <a:ext cx="36116" cy="361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16" h="36116">
                      <a:moveTo>
                        <a:pt x="36116" y="0"/>
                      </a:moveTo>
                      <a:lnTo>
                        <a:pt x="0" y="36116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</p:grpSp>
          <p:sp>
            <p:nvSpPr>
              <p:cNvPr id="66" name="TextBox 66"/>
              <p:cNvSpPr txBox="1"/>
              <p:nvPr/>
            </p:nvSpPr>
            <p:spPr>
              <a:xfrm>
                <a:off x="6851142" y="41976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开放互联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6852666" y="4572952"/>
                <a:ext cx="166966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A2A 协议暴露 Agent Card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6852666" y="4820602"/>
                <a:ext cx="15769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SKILL.md 兼容导入导出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6852666" y="506825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工具市场预留位已建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6852666" y="5392102"/>
                <a:ext cx="134726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对齐 Agent 开放生态</a:t>
                </a: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9182100" y="3543300"/>
              <a:ext cx="2400300" cy="2209800"/>
              <a:chOff x="9182100" y="3543300"/>
              <a:chExt cx="2400300" cy="2209800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9182100" y="3543300"/>
                <a:ext cx="2400300" cy="2209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3" name="Rectangle 73"/>
              <p:cNvSpPr/>
              <p:nvPr/>
            </p:nvSpPr>
            <p:spPr>
              <a:xfrm>
                <a:off x="9182100" y="3543300"/>
                <a:ext cx="2400300" cy="2209800"/>
              </a:xfrm>
              <a:prstGeom prst="rect">
                <a:avLst/>
              </a:prstGeom>
              <a:noFill/>
              <a:ln w="14288">
                <a:solidFill>
                  <a:schemeClr val="accent2"/>
                </a:solidFill>
              </a:ln>
            </p:spPr>
          </p:sp>
          <p:grpSp>
            <p:nvGrpSpPr>
              <p:cNvPr id="77" name="Group 77"/>
              <p:cNvGrpSpPr/>
              <p:nvPr/>
            </p:nvGrpSpPr>
            <p:grpSpPr>
              <a:xfrm>
                <a:off x="9451975" y="3802856"/>
                <a:ext cx="165099" cy="185737"/>
                <a:chOff x="9451975" y="3802856"/>
                <a:chExt cx="165099" cy="185737"/>
              </a:xfrm>
            </p:grpSpPr>
            <p:sp>
              <p:nvSpPr>
                <p:cNvPr id="74" name="Freeform 74"/>
                <p:cNvSpPr/>
                <p:nvPr/>
              </p:nvSpPr>
              <p:spPr>
                <a:xfrm>
                  <a:off x="9451975" y="3802856"/>
                  <a:ext cx="165099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61912">
                      <a:moveTo>
                        <a:pt x="0" y="30956"/>
                      </a:moveTo>
                      <a:cubicBezTo>
                        <a:pt x="0" y="48053"/>
                        <a:pt x="36959" y="61912"/>
                        <a:pt x="82550" y="61912"/>
                      </a:cubicBezTo>
                      <a:cubicBezTo>
                        <a:pt x="128141" y="61912"/>
                        <a:pt x="165099" y="48053"/>
                        <a:pt x="165099" y="30956"/>
                      </a:cubicBezTo>
                      <a:cubicBezTo>
                        <a:pt x="165099" y="13860"/>
                        <a:pt x="128141" y="0"/>
                        <a:pt x="82550" y="0"/>
                      </a:cubicBezTo>
                      <a:cubicBezTo>
                        <a:pt x="36959" y="0"/>
                        <a:pt x="0" y="13860"/>
                        <a:pt x="0" y="30956"/>
                      </a:cubicBez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9451975" y="3833812"/>
                  <a:ext cx="165099" cy="92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92868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8"/>
                        <a:pt x="82550" y="92868"/>
                      </a:cubicBezTo>
                      <a:cubicBezTo>
                        <a:pt x="128141" y="92868"/>
                        <a:pt x="165099" y="79009"/>
                        <a:pt x="165099" y="61912"/>
                      </a:cubicBezTo>
                      <a:lnTo>
                        <a:pt x="165099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9451975" y="3895725"/>
                  <a:ext cx="165099" cy="92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92868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8"/>
                        <a:pt x="82550" y="92868"/>
                      </a:cubicBezTo>
                      <a:cubicBezTo>
                        <a:pt x="128141" y="92868"/>
                        <a:pt x="165099" y="79009"/>
                        <a:pt x="165099" y="61912"/>
                      </a:cubicBezTo>
                      <a:lnTo>
                        <a:pt x="165099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</p:grpSp>
          <p:sp>
            <p:nvSpPr>
              <p:cNvPr id="78" name="TextBox 78"/>
              <p:cNvSpPr txBox="1"/>
              <p:nvPr/>
            </p:nvSpPr>
            <p:spPr>
              <a:xfrm>
                <a:off x="9403842" y="41976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记忆体系升级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9405366" y="45729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结构化槽位记忆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9405366" y="482060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检索式长期记忆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405366" y="5068252"/>
                <a:ext cx="130403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摘要 + 最近消息已有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9405366" y="5392102"/>
                <a:ext cx="176568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呼应 Memory 基础设施趋势</a:t>
                </a:r>
              </a:p>
            </p:txBody>
          </p:sp>
        </p:grpSp>
      </p:grpSp>
      <p:grpSp>
        <p:nvGrpSpPr>
          <p:cNvPr id="88" name="Group 88"/>
          <p:cNvGrpSpPr/>
          <p:nvPr/>
        </p:nvGrpSpPr>
        <p:grpSpPr>
          <a:xfrm>
            <a:off x="1517904" y="6134100"/>
            <a:ext cx="10070592" cy="371856"/>
            <a:chOff x="1517904" y="6134100"/>
            <a:chExt cx="10070592" cy="371856"/>
          </a:xfrm>
        </p:grpSpPr>
        <p:sp>
          <p:nvSpPr>
            <p:cNvPr id="85" name="Line 85"/>
            <p:cNvSpPr/>
            <p:nvPr/>
          </p:nvSpPr>
          <p:spPr>
            <a:xfrm>
              <a:off x="1524000" y="61341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517904" y="62712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架构留好了扩展点，演进不打翻已有设计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035132" y="62712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19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1517142" y="616268"/>
            <a:ext cx="1885950" cy="264033"/>
            <a:chOff x="1517142" y="616268"/>
            <a:chExt cx="1885950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1517142" y="616268"/>
              <a:ext cx="1885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收束 · TAKEAWAY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04950" y="1482090"/>
            <a:ext cx="7486739" cy="2130933"/>
            <a:chOff x="1504950" y="1482090"/>
            <a:chExt cx="7486739" cy="2130933"/>
          </a:xfrm>
        </p:grpSpPr>
        <p:sp>
          <p:nvSpPr>
            <p:cNvPr id="5" name="TextBox 5"/>
            <p:cNvSpPr txBox="1"/>
            <p:nvPr/>
          </p:nvSpPr>
          <p:spPr>
            <a:xfrm>
              <a:off x="1504950" y="1482090"/>
              <a:ext cx="469541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可编排</a:t>
              </a:r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 · </a:t>
              </a:r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可治理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504950" y="2301240"/>
              <a:ext cx="469541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可评测</a:t>
              </a:r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 · </a:t>
              </a:r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可观测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13332" y="3202305"/>
              <a:ext cx="74783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这不是一个对话 Demo，而是一套企业级物流多 Agent 平台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24000" y="4286250"/>
            <a:ext cx="9029700" cy="533400"/>
            <a:chOff x="1524000" y="4286250"/>
            <a:chExt cx="9029700" cy="533400"/>
          </a:xfrm>
        </p:grpSpPr>
        <p:sp>
          <p:nvSpPr>
            <p:cNvPr id="9" name="Rectangle 9"/>
            <p:cNvSpPr/>
            <p:nvPr/>
          </p:nvSpPr>
          <p:spPr>
            <a:xfrm>
              <a:off x="1524000" y="4286250"/>
              <a:ext cx="2857500" cy="5334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218944" y="44834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真实货运业务场景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610100" y="4286250"/>
              <a:ext cx="2857500" cy="5334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157360" y="4483418"/>
              <a:ext cx="17629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可靠的多 Agent 执行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96200" y="4286250"/>
              <a:ext cx="2857500" cy="5334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91144" y="44834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全链路工程化底座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17142" y="5302568"/>
            <a:ext cx="4612996" cy="555688"/>
            <a:chOff x="1517142" y="5302568"/>
            <a:chExt cx="4612996" cy="555688"/>
          </a:xfrm>
        </p:grpSpPr>
        <p:sp>
          <p:nvSpPr>
            <p:cNvPr id="16" name="TextBox 16"/>
            <p:cNvSpPr txBox="1"/>
            <p:nvPr/>
          </p:nvSpPr>
          <p:spPr>
            <a:xfrm>
              <a:off x="1517142" y="5302568"/>
              <a:ext cx="4297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gitee.com/shangshanruoshui_i/lalamove-show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17904" y="5623560"/>
              <a:ext cx="4612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README 与建表脚本齐备，可本地复现 · 欢迎交流与深入追问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17904" y="6134100"/>
            <a:ext cx="9118092" cy="371856"/>
            <a:chOff x="1517904" y="6134100"/>
            <a:chExt cx="9118092" cy="371856"/>
          </a:xfrm>
        </p:grpSpPr>
        <p:sp>
          <p:nvSpPr>
            <p:cNvPr id="19" name="Line 19"/>
            <p:cNvSpPr/>
            <p:nvPr/>
          </p:nvSpPr>
          <p:spPr>
            <a:xfrm>
              <a:off x="1524000" y="6134100"/>
              <a:ext cx="9105900" cy="9525"/>
            </a:xfrm>
            <a:custGeom>
              <a:avLst/>
              <a:gdLst/>
              <a:ahLst/>
              <a:cxnLst/>
              <a:rect l="l" t="t" r="r" b="b"/>
              <a:pathLst>
                <a:path w="9105900" h="9525">
                  <a:moveTo>
                    <a:pt x="0" y="0"/>
                  </a:moveTo>
                  <a:lnTo>
                    <a:pt x="9105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17904" y="6271260"/>
              <a:ext cx="27826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货拉拉智能物流大模型助手 · 项目介绍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82632" y="62712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huolala_agent_intro">
  <a:themeElements>
    <a:clrScheme name="huolala_agent_intro">
      <a:dk1>
        <a:srgbClr val="1E293B"/>
      </a:dk1>
      <a:lt1>
        <a:srgbClr val="FFFFFF"/>
      </a:lt1>
      <a:dk2>
        <a:srgbClr val="1F497D"/>
      </a:dk2>
      <a:lt2>
        <a:srgbClr val="F5F5F4"/>
      </a:lt2>
      <a:accent1>
        <a:srgbClr val="0F172A"/>
      </a:accent1>
      <a:accent2>
        <a:srgbClr val="F97316"/>
      </a:accent2>
      <a:accent3>
        <a:srgbClr val="0EA5E9"/>
      </a:accent3>
      <a:accent4>
        <a:srgbClr val="0F172A"/>
      </a:accent4>
      <a:accent5>
        <a:srgbClr val="64748B"/>
      </a:accent5>
      <a:accent6>
        <a:srgbClr val="D6D3D1"/>
      </a:accent6>
      <a:hlink>
        <a:srgbClr val="F97316"/>
      </a:hlink>
      <a:folHlink>
        <a:srgbClr val="0EA5E9"/>
      </a:folHlink>
    </a:clrScheme>
    <a:fontScheme name="huolala_agent_intro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uolala_agent_intr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uolala_agent_intro">
  <a:themeElements>
    <a:clrScheme name="huolala_agent_intro">
      <a:dk1>
        <a:srgbClr val="1E293B"/>
      </a:dk1>
      <a:lt1>
        <a:srgbClr val="FFFFFF"/>
      </a:lt1>
      <a:dk2>
        <a:srgbClr val="1F497D"/>
      </a:dk2>
      <a:lt2>
        <a:srgbClr val="F5F5F4"/>
      </a:lt2>
      <a:accent1>
        <a:srgbClr val="0F172A"/>
      </a:accent1>
      <a:accent2>
        <a:srgbClr val="F97316"/>
      </a:accent2>
      <a:accent3>
        <a:srgbClr val="0EA5E9"/>
      </a:accent3>
      <a:accent4>
        <a:srgbClr val="0F172A"/>
      </a:accent4>
      <a:accent5>
        <a:srgbClr val="64748B"/>
      </a:accent5>
      <a:accent6>
        <a:srgbClr val="D6D3D1"/>
      </a:accent6>
      <a:hlink>
        <a:srgbClr val="F97316"/>
      </a:hlink>
      <a:folHlink>
        <a:srgbClr val="0EA5E9"/>
      </a:folHlink>
    </a:clrScheme>
    <a:fontScheme name="huolala_agent_intro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uolala_agent_intr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2026-09-01T07:23:53Z</dcterms:created>
  <dcterms:modified xsi:type="dcterms:W3CDTF">2026-09-01T07:23:53Z</dcterms:modified>
  <cp:category/>
  <cp:contentStatus/>
</cp:coreProperties>
</file>