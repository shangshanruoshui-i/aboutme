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大家早上好。今天分享的主角是我们自己的竞品分析系统：每天早上八点，它自动扫描竞品动态，写好一份情报日报，直接推进我们的企业微信群，底下这排就是协作的六个 Agent 角色。整个过程没有用任何 Agent 框架——从循环到治理，五层运行时都是我们自己写的。接下来十八分钟，就讲清楚这件事是怎么做到的，以及为什么这么做。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这个系统不是凭空立项的。过去同事每天人工整理竞品动态发到大群里：辛苦、形式主义、发过就沉没、过程也没法追溯。所以我们给它定了一条很朴素的设计初心：系统自动采集整理，人只做判断和补充。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产品就两大能力。第一是每日情报日报，监控竞品、主题、展会、政策四类实体，每天八点自动执行，生成日报并推送到企业微信，还支持 PDF 附件。第二是专项竞品分析，分快速简报、标准分析和深度战略三档，DAG 流程实时可视化。底下有一个共同底座：每一步的搜索词、Token、耗时全部记录，前端有流程图、决策追踪、报告三视图，再加管理员和访客双角色。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工程底座刻意保持轻。后端是 FastAPI 加 SQLite，一万两千行左右的 Python；前端是 Next.js 加 ReactFlow；模型通过 Anthropic 兼容协议接入 DeepSeek，换供应商只改三个配置值；检索侧有七个可插拔 Provider，付费通道默认全关。下面这排数字帮大家建立坐标：六个 Agent 角色、五层运行时、七个注册工具、十三张表，月成本大约三十元。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现在进入架构。我们的核心观点是：Agent 等于模型加 Harness。模型只提供智能，可靠性、成本、可观测性全部来自模型之外的工程，也就是这五层。L1 是 ReAct 循环本体，L2 是黑板式共享记忆，L3 是按角色过滤的工具注册表，L4 是预算、审计加权限矩阵，L5 是 DAG 编排加事件流。右边对应五个模块文件，两个业务引擎跑在五层之上，把阶段装配成 DAG 节点。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L1 的循环本身非常朴素：观察、思考、行动、校验，然后循环。可靠性来自三个实战机制。第一是棘轮：工具失败或运行异常会自动变成一条永久约束，注入后续所有轮次的 system prompt，让错误变成约束，而不是指望重试。第二是迭代耗尽兜底，强制模型立即输出最终结果，防止整条 DAG 空转。第三是参数防御，schema 外的字段按函数签名过滤，报错话术不会被写进报告正文。另外 thinking 默认关闭，因为推理块会不受控地吃掉输出预算。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多个 Agent 一起干活，靠治理层守住边界。左边是权限矩阵：只有编排器能建子 Agent，只有撰写者能写报告，越权调用直接返回 Permission denied。右边是三级预算：先按实体数、证据数、时间窗口做任务级动态估算，执行中逐节点精化，耗尽了就诚实降级，给占位说明而不是假报告。下面还有三本账：检索调用次数、LLM token、付费联网搜索各记各的，全链路动作都有审计流水。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L5 解决两个问题：怎么编排，怎么观测。编排是波次拓扑执行，每一轮把依赖就绪的节点全部并行跑掉，比如采集阶段每个竞品一个节点同时跑；没有就绪节点又没跑完就判死锁，防止挂死。观测靠事件溯源：每个节点发结构化事件，EventBus 一份事件流同时进内存、SQLite 和 SSE 三个地方，前端断线了按 seq 断点续传，还有轮询兜底。所以页面上的 DAG 图和 Token 消耗都是实时的。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回到大家最可能的问题：为什么不用 LangChain 这样的框架？六条理由。第一，循环本身极简，while 循环加工具调用一千六百行写透了，框架抽象的收益远小于成本。第二，抽象是黑盒，prompt 组装、上下文拼接被框架代劳，出问题要穿透层层抽象救火。第三，棘轮、预算、权限这些机制要长在循环骨架上，塞进框架只能靠扩展点硬改。第四，input 回传占百分之八十二，每轮回传与截断必须亲手控制。第五，框架迭代快、破坏性变更频繁，我们只依赖模型 SDK 加 FastAPI。第六，每行代码都吃得透，bug 五分钟定位到具体文件。一句话总结：框架提供的是胶水，而胶水恰恰是我们最需要自己掌控的部分。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架构讲完，看三个核心设计。第一个叫 Hybrid DAG：能用代码的绝不用模型。看这条日报流水线：查询规划是模板生成的，多源检索和网页抓取是纯代码，这些蓝色节点全部零 LLM；LLM 只出现在归一化、去重、引用核验、评审、撰写这些青色的语义环节。实测下来，一次日报 LLM 只被调用五到六次，其余全是确定性代码。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第二个设计是把成本当工程问题拆解。左边这张图：二十家竞品的专项分析实测三十五万 token，其中 input 历史回传占了百分之八十二，光工具结果重复携带就约七成。对策就是掐住回传：采集器限两轮工具调用，加上迭代耗尽强制收尾。右边的预算公式，每个参数都来自实战教训——比如五万保底，是因为实测五个 LLM 节点的固定成本就有三万八，早期按一万五估算，撰写节点被五百 token 直接掐断。最后看账单：日报五毛钱一次，专项一块钱，一个月三十块左右。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第三个设计是证据纪律，解决报告凭什么可信。八道防线串成一条链：统一数据模型挡住原始响应，URL 规范化加双键去重，无日期的标记未验证而不是硬丢，来源评分排序，引用核验只验证已有 URL。第六道最关键：把声明里的关键词和抓到的正文算重叠率，大于等于零点四才算支持，这一步完全不用 LLM，零成本。再往后，AI 摘要标记为模型摘要不当事实，撰写者直收各阶段真实证据防传话游戏，最后两层剥离模型开场白话术。核验失败就降级 partial，不阻断日报。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工程化层面挑六个细节讲。诚实失败：预算耗尽给占位说明，空报告直接判失败，假成功比失败更糟。日报版本化：同一天 v1 v2 共存，历史版本可切换。推送幂等：唯一键防重复打扰，重启自动补发。启动三件套恢复：种子数据、中断任务、丢失推送。Provider 路由有一套 fallback 语义学：未启用跳过、超时切换、认证失败拉黑、空结果切换、全部失败不伪造。加上 SSRF 防护和 SQLite 的 WAL 严肃用法，单机系统也讲严肃可靠性。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这三个坑，各换来一个机制。第一个，thinking 推理块不受控地吃掉三万多的输出预算，正文截断、报告为空——现在默认显式关闭 thinking，需要推理的节点显式开启。第二个，DuckDuckGo 对并发敏感，并发请求返回空结果页——现在全局节流锁加三秒间隔加空结果重试。第三个，采集 Agent 一直搜不收敛，DAG 后续节点全部空转——现在 prompt 里写死最多两轮工具调用，加上迭代耗尽强制收尾。我们的习惯是每个修复都在注释里写清原因和实测数据，把踩坑史写进代码。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最后带走三条原则。第一，能用代码的绝不用模型，确定性是最大的可靠性。第二，预算与证据双约束，钱和事实都要可核算。第三，错误要变成约束，而不是寄望重试。下一步我们会做 OpenTelemetry 深度埋点、PostgreSQL 迁移和分布式部署。一句话收尾：Agent 等于模型加 Harness，把工程做厚，模型才可靠。谢谢大家。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etitive-agent-sha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6000"/>
                </a:schemeClr>
              </a:gs>
              <a:gs pos="45000">
                <a:schemeClr val="accent1">
                  <a:alpha val="5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82000" t="12000" r="18000" b="88000"/>
            </a:path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2">
                  <a:alpha val="0"/>
                </a:schemeClr>
              </a:gs>
            </a:gsLst>
            <a:path path="circle">
              <a:fillToRect l="50000" t="92000" r="50000" b="8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0658475" y="981075"/>
            <a:ext cx="514350" cy="95250"/>
            <a:chOff x="10658475" y="981075"/>
            <a:chExt cx="514350" cy="95250"/>
          </a:xfrm>
        </p:grpSpPr>
        <p:sp>
          <p:nvSpPr>
            <p:cNvPr id="4" name="Ellipse 4"/>
            <p:cNvSpPr/>
            <p:nvPr/>
          </p:nvSpPr>
          <p:spPr>
            <a:xfrm>
              <a:off x="10658475" y="981075"/>
              <a:ext cx="95250" cy="95250"/>
            </a:xfrm>
            <a:prstGeom prst="ellipse">
              <a:avLst/>
            </a:prstGeom>
            <a:solidFill>
              <a:srgbClr val="F87171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868025" y="9810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1077575" y="981075"/>
              <a:ext cx="95250" cy="9525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14400" y="914400"/>
            <a:ext cx="3945636" cy="381000"/>
            <a:chOff x="914400" y="914400"/>
            <a:chExt cx="3945636" cy="381000"/>
          </a:xfrm>
        </p:grpSpPr>
        <p:sp>
          <p:nvSpPr>
            <p:cNvPr id="8" name="Rectangle 8"/>
            <p:cNvSpPr/>
            <p:nvPr/>
          </p:nvSpPr>
          <p:spPr>
            <a:xfrm>
              <a:off x="914400" y="914400"/>
              <a:ext cx="314325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104900" y="10668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8542" y="1016318"/>
              <a:ext cx="3571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内部技术分享 · AGENT ENGINEERING</a:t>
              </a:r>
              <a:endParaRPr lang="zh-CN" sz="1350" spc="1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5350" y="1524000"/>
            <a:ext cx="7358835" cy="1733550"/>
            <a:chOff x="895350" y="2072640"/>
            <a:chExt cx="7358835" cy="1733550"/>
          </a:xfrm>
        </p:grpSpPr>
        <p:sp>
          <p:nvSpPr>
            <p:cNvPr id="12" name="TextBox 12"/>
            <p:cNvSpPr txBox="1"/>
            <p:nvPr/>
          </p:nvSpPr>
          <p:spPr>
            <a:xfrm>
              <a:off x="895350" y="2072640"/>
              <a:ext cx="527212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effectLst>
                    <a:glow rad="57150">
                      <a:srgbClr val="2DD4BF">
                        <a:alpha val="30000"/>
                      </a:srgbClr>
                    </a:glow>
                  </a:effectLst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&gt; </a:t>
              </a:r>
              <a:r>
                <a:rPr lang="zh-CN" sz="4800" b="1" dirty="0">
                  <a:solidFill>
                    <a:schemeClr val="dk1"/>
                  </a:solidFill>
                  <a:effectLst>
                    <a:glow rad="57150">
                      <a:srgbClr val="2DD4BF">
                        <a:alpha val="3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每天早上 8 点，</a:t>
              </a:r>
              <a:endParaRPr lang="zh-CN" sz="4800" b="1" dirty="0">
                <a:solidFill>
                  <a:schemeClr val="dk1"/>
                </a:solidFill>
                <a:effectLst>
                  <a:glow rad="57150">
                    <a:srgbClr val="2DD4BF">
                      <a:alpha val="30000"/>
                    </a:srgbClr>
                  </a:glow>
                </a:effectLst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5350" y="2872740"/>
              <a:ext cx="735883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effectLst>
                    <a:glow rad="57150">
                      <a:srgbClr val="2DD4BF">
                        <a:alpha val="3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Agent 替你写好竞品日报</a:t>
              </a:r>
              <a:endParaRPr lang="zh-CN" sz="4800" b="1" dirty="0">
                <a:solidFill>
                  <a:schemeClr val="dk1"/>
                </a:solidFill>
                <a:effectLst>
                  <a:glow rad="57150">
                    <a:srgbClr val="2DD4BF">
                      <a:alpha val="30000"/>
                    </a:srgbClr>
                  </a:glow>
                </a:effectLst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2970" y="3566160"/>
            <a:ext cx="4829556" cy="1083945"/>
            <a:chOff x="902970" y="4114800"/>
            <a:chExt cx="4829556" cy="1083945"/>
          </a:xfrm>
        </p:grpSpPr>
        <p:sp>
          <p:nvSpPr>
            <p:cNvPr id="15" name="Rectangle 15"/>
            <p:cNvSpPr/>
            <p:nvPr/>
          </p:nvSpPr>
          <p:spPr>
            <a:xfrm>
              <a:off x="914400" y="4114800"/>
              <a:ext cx="1143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2970" y="4424362"/>
              <a:ext cx="41635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竞品分析 Agent 系统技术分享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6780" y="4905375"/>
              <a:ext cx="4825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不用框架 · 自研五层 Agent Runtime 的完整工程实践</a:t>
              </a:r>
              <a:endParaRPr lang="zh-CN" sz="15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14400" y="5147310"/>
            <a:ext cx="9620250" cy="419100"/>
            <a:chOff x="914400" y="5695950"/>
            <a:chExt cx="9620250" cy="419100"/>
          </a:xfrm>
        </p:grpSpPr>
        <p:sp>
          <p:nvSpPr>
            <p:cNvPr id="19" name="Line 19"/>
            <p:cNvSpPr/>
            <p:nvPr/>
          </p:nvSpPr>
          <p:spPr>
            <a:xfrm>
              <a:off x="914400" y="590550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4400" y="5695950"/>
              <a:ext cx="9144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83005" y="5816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编排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600200" y="58674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057400" y="5695950"/>
              <a:ext cx="9144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26005" y="5816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743200" y="58674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200400" y="5695950"/>
              <a:ext cx="9144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469005" y="5816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研判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86200" y="58674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43400" y="5695950"/>
              <a:ext cx="9144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12005" y="5816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撰写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029200" y="58674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86400" y="5695950"/>
              <a:ext cx="9144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55005" y="5816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172200" y="586740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29400" y="5695950"/>
              <a:ext cx="142875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73443" y="5816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引用核验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08685" y="5940266"/>
            <a:ext cx="10374630" cy="220028"/>
            <a:chOff x="908685" y="6488906"/>
            <a:chExt cx="10374630" cy="220028"/>
          </a:xfrm>
        </p:grpSpPr>
        <p:sp>
          <p:nvSpPr>
            <p:cNvPr id="40" name="TextBox 40"/>
            <p:cNvSpPr txBox="1"/>
            <p:nvPr/>
          </p:nvSpPr>
          <p:spPr>
            <a:xfrm>
              <a:off x="908685" y="6488906"/>
              <a:ext cx="3324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玉贲智能 · 竞品洞察工作台（CompetitorLens）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91404" y="648890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2026-08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5684520" cy="948690"/>
            <a:chOff x="899160" y="533400"/>
            <a:chExt cx="568452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· 背景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从一个真实的痛点长出来的系统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962025" y="2458720"/>
            <a:ext cx="3236595" cy="2969451"/>
            <a:chOff x="962025" y="1778000"/>
            <a:chExt cx="3236595" cy="2969451"/>
          </a:xfrm>
        </p:grpSpPr>
        <p:grpSp>
          <p:nvGrpSpPr>
            <p:cNvPr id="14" name="Group 14"/>
            <p:cNvGrpSpPr/>
            <p:nvPr/>
          </p:nvGrpSpPr>
          <p:grpSpPr>
            <a:xfrm>
              <a:off x="981869" y="1778000"/>
              <a:ext cx="3216751" cy="626301"/>
              <a:chOff x="981869" y="1778000"/>
              <a:chExt cx="3216751" cy="62630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981869" y="1778000"/>
                <a:ext cx="246063" cy="254000"/>
                <a:chOff x="981869" y="1778000"/>
                <a:chExt cx="246063" cy="2540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93775" y="1809750"/>
                  <a:ext cx="222250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22250">
                      <a:moveTo>
                        <a:pt x="0" y="111125"/>
                      </a:moveTo>
                      <a:cubicBezTo>
                        <a:pt x="0" y="172498"/>
                        <a:pt x="49752" y="222250"/>
                        <a:pt x="111125" y="222250"/>
                      </a:cubicBezTo>
                      <a:cubicBezTo>
                        <a:pt x="172498" y="222250"/>
                        <a:pt x="222250" y="172498"/>
                        <a:pt x="222250" y="111125"/>
                      </a:cubicBezTo>
                      <a:cubicBezTo>
                        <a:pt x="222250" y="49752"/>
                        <a:pt x="172498" y="0"/>
                        <a:pt x="111125" y="0"/>
                      </a:cubicBezTo>
                      <a:cubicBezTo>
                        <a:pt x="49752" y="0"/>
                        <a:pt x="0" y="49752"/>
                        <a:pt x="0" y="11112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104900" y="1873250"/>
                  <a:ext cx="317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47625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31750" y="47625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81869" y="1778000"/>
                  <a:ext cx="43656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31750">
                      <a:moveTo>
                        <a:pt x="43656" y="0"/>
                      </a:move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84276" y="1778000"/>
                  <a:ext cx="43656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31750">
                      <a:moveTo>
                        <a:pt x="0" y="0"/>
                      </a:moveTo>
                      <a:lnTo>
                        <a:pt x="43656" y="3175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514856" y="178689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每天人工整理，重复劳动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17142" y="21402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每日固定耗时，纯搬运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77900" y="2543175"/>
              <a:ext cx="2009140" cy="642176"/>
              <a:chOff x="977900" y="2543175"/>
              <a:chExt cx="2009140" cy="642176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977900" y="2543175"/>
                <a:ext cx="254001" cy="285750"/>
                <a:chOff x="977900" y="2543175"/>
                <a:chExt cx="254001" cy="28575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77900" y="2543175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0" y="142875"/>
                      </a:moveTo>
                      <a:lnTo>
                        <a:pt x="0" y="95250"/>
                      </a:lnTo>
                      <a:cubicBezTo>
                        <a:pt x="0" y="68948"/>
                        <a:pt x="21322" y="47625"/>
                        <a:pt x="47625" y="47625"/>
                      </a:cubicBezTo>
                      <a:lnTo>
                        <a:pt x="254001" y="47625"/>
                      </a:lnTo>
                      <a:moveTo>
                        <a:pt x="206375" y="0"/>
                      </a:moveTo>
                      <a:lnTo>
                        <a:pt x="254001" y="47625"/>
                      </a:lnTo>
                      <a:lnTo>
                        <a:pt x="206375" y="9525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77900" y="2686050"/>
                  <a:ext cx="254001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1" h="142875">
                      <a:moveTo>
                        <a:pt x="254001" y="0"/>
                      </a:moveTo>
                      <a:lnTo>
                        <a:pt x="254001" y="47625"/>
                      </a:lnTo>
                      <a:cubicBezTo>
                        <a:pt x="254001" y="73928"/>
                        <a:pt x="232678" y="95250"/>
                        <a:pt x="206375" y="95250"/>
                      </a:cubicBezTo>
                      <a:lnTo>
                        <a:pt x="0" y="95250"/>
                      </a:lnTo>
                      <a:moveTo>
                        <a:pt x="47625" y="142875"/>
                      </a:moveTo>
                      <a:lnTo>
                        <a:pt x="0" y="95250"/>
                      </a:lnTo>
                      <a:lnTo>
                        <a:pt x="47625" y="47625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514856" y="25679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内容形式主义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17142" y="2921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整理成了例行公事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62819" y="3322008"/>
              <a:ext cx="2751169" cy="644393"/>
              <a:chOff x="962819" y="3322008"/>
              <a:chExt cx="2751169" cy="644393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962819" y="3322008"/>
                <a:ext cx="292926" cy="299652"/>
                <a:chOff x="962819" y="3322008"/>
                <a:chExt cx="292926" cy="299652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104900" y="3403600"/>
                  <a:ext cx="317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0">
                      <a:moveTo>
                        <a:pt x="0" y="0"/>
                      </a:moveTo>
                      <a:lnTo>
                        <a:pt x="0" y="63500"/>
                      </a:lnTo>
                      <a:lnTo>
                        <a:pt x="31750" y="95250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62819" y="3322008"/>
                  <a:ext cx="292926" cy="29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26" h="299652">
                      <a:moveTo>
                        <a:pt x="0" y="129217"/>
                      </a:moveTo>
                      <a:cubicBezTo>
                        <a:pt x="7365" y="56914"/>
                        <a:pt x="67835" y="1660"/>
                        <a:pt x="140508" y="830"/>
                      </a:cubicBezTo>
                      <a:cubicBezTo>
                        <a:pt x="213181" y="0"/>
                        <a:pt x="274897" y="53858"/>
                        <a:pt x="283912" y="125975"/>
                      </a:cubicBezTo>
                      <a:cubicBezTo>
                        <a:pt x="292926" y="198091"/>
                        <a:pt x="246366" y="265484"/>
                        <a:pt x="175725" y="282568"/>
                      </a:cubicBezTo>
                      <a:cubicBezTo>
                        <a:pt x="105084" y="299652"/>
                        <a:pt x="32874" y="260983"/>
                        <a:pt x="7938" y="192717"/>
                      </a:cubicBezTo>
                      <a:moveTo>
                        <a:pt x="0" y="272093"/>
                      </a:moveTo>
                      <a:lnTo>
                        <a:pt x="0" y="192717"/>
                      </a:lnTo>
                      <a:lnTo>
                        <a:pt x="79375" y="192717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514856" y="33489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历史动态不方便回溯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517142" y="370236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发过即沉没，难以检索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62025" y="4105275"/>
              <a:ext cx="2931414" cy="642176"/>
              <a:chOff x="962025" y="4105275"/>
              <a:chExt cx="2931414" cy="642176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962025" y="4105275"/>
                <a:ext cx="285751" cy="285751"/>
                <a:chOff x="962025" y="4105275"/>
                <a:chExt cx="285751" cy="285751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070040" y="4225719"/>
                  <a:ext cx="57308" cy="5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08" h="57300">
                      <a:moveTo>
                        <a:pt x="12397" y="0"/>
                      </a:moveTo>
                      <a:cubicBezTo>
                        <a:pt x="0" y="12402"/>
                        <a:pt x="4" y="32505"/>
                        <a:pt x="12405" y="44903"/>
                      </a:cubicBezTo>
                      <a:cubicBezTo>
                        <a:pt x="24807" y="57300"/>
                        <a:pt x="44910" y="57296"/>
                        <a:pt x="57308" y="44895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962025" y="4152875"/>
                  <a:ext cx="285751" cy="190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90699">
                      <a:moveTo>
                        <a:pt x="217186" y="169459"/>
                      </a:moveTo>
                      <a:cubicBezTo>
                        <a:pt x="194917" y="183392"/>
                        <a:pt x="169143" y="190699"/>
                        <a:pt x="142875" y="190525"/>
                      </a:cubicBezTo>
                      <a:cubicBezTo>
                        <a:pt x="85725" y="190525"/>
                        <a:pt x="38100" y="158775"/>
                        <a:pt x="0" y="95275"/>
                      </a:cubicBezTo>
                      <a:cubicBezTo>
                        <a:pt x="20193" y="61620"/>
                        <a:pt x="43053" y="36887"/>
                        <a:pt x="68580" y="21075"/>
                      </a:cubicBezTo>
                      <a:moveTo>
                        <a:pt x="113983" y="2883"/>
                      </a:moveTo>
                      <a:cubicBezTo>
                        <a:pt x="123492" y="957"/>
                        <a:pt x="133173" y="0"/>
                        <a:pt x="142875" y="25"/>
                      </a:cubicBezTo>
                      <a:cubicBezTo>
                        <a:pt x="200025" y="25"/>
                        <a:pt x="247650" y="31775"/>
                        <a:pt x="285751" y="95275"/>
                      </a:cubicBezTo>
                      <a:cubicBezTo>
                        <a:pt x="275178" y="112897"/>
                        <a:pt x="263859" y="128089"/>
                        <a:pt x="251810" y="140837"/>
                      </a:cubicBez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962025" y="410527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0"/>
                      </a:moveTo>
                      <a:lnTo>
                        <a:pt x="285751" y="285751"/>
                      </a:lnTo>
                    </a:path>
                  </a:pathLst>
                </a:custGeom>
                <a:noFill/>
                <a:ln w="31750">
                  <a:solidFill>
                    <a:schemeClr val="accent3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514856" y="41300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整理过程不可追溯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17142" y="44834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谁整理、依据什么，无从查证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5" name="Freeform 35"/>
          <p:cNvSpPr/>
          <p:nvPr/>
        </p:nvSpPr>
        <p:spPr>
          <a:xfrm>
            <a:off x="5135880" y="3462020"/>
            <a:ext cx="533400" cy="4572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6400800" y="1964690"/>
            <a:ext cx="5105400" cy="3688080"/>
            <a:chOff x="6400800" y="1619250"/>
            <a:chExt cx="5105400" cy="3688080"/>
          </a:xfrm>
        </p:grpSpPr>
        <p:sp>
          <p:nvSpPr>
            <p:cNvPr id="36" name="Rectangle 36"/>
            <p:cNvSpPr/>
            <p:nvPr/>
          </p:nvSpPr>
          <p:spPr>
            <a:xfrm>
              <a:off x="6400800" y="1619250"/>
              <a:ext cx="5105400" cy="3688080"/>
            </a:xfrm>
            <a:prstGeom prst="roundRect">
              <a:avLst>
                <a:gd name="adj" fmla="val 2655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834187" y="2052637"/>
              <a:ext cx="314324" cy="314324"/>
              <a:chOff x="6834187" y="2052637"/>
              <a:chExt cx="314324" cy="31432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973887" y="2192337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04037" y="2122487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0" y="87312"/>
                    </a:moveTo>
                    <a:cubicBezTo>
                      <a:pt x="0" y="135534"/>
                      <a:pt x="39091" y="174625"/>
                      <a:pt x="87312" y="174625"/>
                    </a:cubicBezTo>
                    <a:cubicBezTo>
                      <a:pt x="135534" y="174625"/>
                      <a:pt x="174625" y="135534"/>
                      <a:pt x="174625" y="87312"/>
                    </a:cubicBezTo>
                    <a:cubicBezTo>
                      <a:pt x="174625" y="39091"/>
                      <a:pt x="135534" y="0"/>
                      <a:pt x="87312" y="0"/>
                    </a:cubicBezTo>
                    <a:cubicBezTo>
                      <a:pt x="39091" y="0"/>
                      <a:pt x="0" y="39091"/>
                      <a:pt x="0" y="8731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34187" y="20526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422642" y="2159318"/>
              <a:ext cx="801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设计初心</a:t>
              </a:r>
              <a:endParaRPr lang="zh-CN" sz="1350" spc="1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71132" y="28403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系统自动采集整理，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71132" y="325945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人只做判断和补充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Line 44"/>
            <p:cNvSpPr/>
            <p:nvPr/>
          </p:nvSpPr>
          <p:spPr>
            <a:xfrm>
              <a:off x="6781800" y="3886200"/>
              <a:ext cx="4343400" cy="9525"/>
            </a:xfrm>
            <a:custGeom>
              <a:avLst/>
              <a:gdLst/>
              <a:ahLst/>
              <a:cxnLst/>
              <a:rect l="l" t="t" r="r" b="b"/>
              <a:pathLst>
                <a:path w="4343400" h="9525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4942" y="4159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把竞品情报的搬运交给系统，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74942" y="44643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把每天的时间还给判断与决策。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51" name="Line 51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5768321" cy="948690"/>
            <a:chOff x="899160" y="533400"/>
            <a:chExt cx="5768321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· 背景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576832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两大能力：每日日报 + 专项深析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09600" y="1524000"/>
            <a:ext cx="5334000" cy="2705100"/>
            <a:chOff x="609600" y="1524000"/>
            <a:chExt cx="5334000" cy="2705100"/>
          </a:xfrm>
        </p:grpSpPr>
        <p:sp>
          <p:nvSpPr>
            <p:cNvPr id="7" name="Rectangle 7"/>
            <p:cNvSpPr/>
            <p:nvPr/>
          </p:nvSpPr>
          <p:spPr>
            <a:xfrm>
              <a:off x="609600" y="1524000"/>
              <a:ext cx="5334000" cy="2705100"/>
            </a:xfrm>
            <a:prstGeom prst="roundRect">
              <a:avLst>
                <a:gd name="adj" fmla="val 4225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6787" y="1843087"/>
              <a:ext cx="331788" cy="331788"/>
              <a:chOff x="966787" y="1843087"/>
              <a:chExt cx="331788" cy="3317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66787" y="1878012"/>
                <a:ext cx="279399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279399">
                    <a:moveTo>
                      <a:pt x="153582" y="279399"/>
                    </a:moveTo>
                    <a:lnTo>
                      <a:pt x="34925" y="279399"/>
                    </a:lnTo>
                    <a:cubicBezTo>
                      <a:pt x="15636" y="279399"/>
                      <a:pt x="0" y="263763"/>
                      <a:pt x="0" y="244475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244475" y="0"/>
                    </a:lnTo>
                    <a:cubicBezTo>
                      <a:pt x="263763" y="0"/>
                      <a:pt x="279399" y="15636"/>
                      <a:pt x="279399" y="34925"/>
                    </a:cubicBezTo>
                    <a:lnTo>
                      <a:pt x="279399" y="1047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58875" y="2035175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76337" y="1843087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36637" y="1843087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6787" y="1982787"/>
                <a:ext cx="2793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9399" h="9525">
                    <a:moveTo>
                      <a:pt x="0" y="0"/>
                    </a:moveTo>
                    <a:lnTo>
                      <a:pt x="279399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28724" y="2078761"/>
                <a:ext cx="17462" cy="43726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43726">
                    <a:moveTo>
                      <a:pt x="0" y="0"/>
                    </a:moveTo>
                    <a:lnTo>
                      <a:pt x="0" y="26264"/>
                    </a:lnTo>
                    <a:lnTo>
                      <a:pt x="17462" y="437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12570" y="185261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每日情报日报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33450" y="2628900"/>
              <a:ext cx="571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15568" y="2546032"/>
              <a:ext cx="39594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竞品 · 主题 · 展会 · 政策 四类监控实体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33450" y="2990850"/>
              <a:ext cx="571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15568" y="290798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每天 08:00 自动执行，生成日报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33450" y="3352800"/>
              <a:ext cx="5715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15568" y="32699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企业微信推送，支持 PDF 附件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542" y="381666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高优竞品双倍检索配额 · 日报版本化 v1/v2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48400" y="1524000"/>
            <a:ext cx="5334000" cy="2705100"/>
            <a:chOff x="6248400" y="1524000"/>
            <a:chExt cx="5334000" cy="270510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334000" cy="2705100"/>
            </a:xfrm>
            <a:prstGeom prst="roundRect">
              <a:avLst>
                <a:gd name="adj" fmla="val 4225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605587" y="1843087"/>
              <a:ext cx="314324" cy="314324"/>
              <a:chOff x="6605587" y="1843087"/>
              <a:chExt cx="314324" cy="31432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745287" y="1982787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75437" y="1912937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0" y="87312"/>
                    </a:moveTo>
                    <a:cubicBezTo>
                      <a:pt x="0" y="135534"/>
                      <a:pt x="39091" y="174625"/>
                      <a:pt x="87312" y="174625"/>
                    </a:cubicBezTo>
                    <a:cubicBezTo>
                      <a:pt x="135534" y="174625"/>
                      <a:pt x="174625" y="135534"/>
                      <a:pt x="174625" y="87312"/>
                    </a:cubicBezTo>
                    <a:cubicBezTo>
                      <a:pt x="174625" y="39091"/>
                      <a:pt x="135534" y="0"/>
                      <a:pt x="87312" y="0"/>
                    </a:cubicBezTo>
                    <a:cubicBezTo>
                      <a:pt x="39091" y="0"/>
                      <a:pt x="0" y="39091"/>
                      <a:pt x="0" y="8731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05587" y="1843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151370" y="185261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专项竞品分析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72250" y="26289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368" y="2546032"/>
              <a:ext cx="37040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快速简报 / 标准分析 / 深度战略 三档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72250" y="299085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368" y="2907982"/>
              <a:ext cx="28213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DAG 流程图实时可视化追踪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72250" y="3352800"/>
              <a:ext cx="5715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368" y="3269932"/>
              <a:ext cx="26218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报告下载 PDF · 复制全文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342" y="3816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预算随竞品数与时间窗口动态估算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4457700"/>
            <a:ext cx="10972800" cy="1790700"/>
            <a:chOff x="609600" y="4457700"/>
            <a:chExt cx="10972800" cy="1790700"/>
          </a:xfrm>
        </p:grpSpPr>
        <p:sp>
          <p:nvSpPr>
            <p:cNvPr id="38" name="Rectangle 38"/>
            <p:cNvSpPr/>
            <p:nvPr/>
          </p:nvSpPr>
          <p:spPr>
            <a:xfrm>
              <a:off x="609600" y="4457700"/>
              <a:ext cx="10972800" cy="1790700"/>
            </a:xfrm>
            <a:prstGeom prst="roundRect">
              <a:avLst>
                <a:gd name="adj" fmla="val 6383"/>
              </a:avLst>
            </a:prstGeom>
            <a:solidFill>
              <a:schemeClr val="accent5"/>
            </a:solidFill>
            <a:ln w="9525">
              <a:solidFill>
                <a:srgbClr val="26345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5256" y="4663440"/>
              <a:ext cx="33308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底座：多 Agent 全链路可观测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281112" y="5200650"/>
              <a:ext cx="257175" cy="238125"/>
              <a:chOff x="1281112" y="5200650"/>
              <a:chExt cx="257175" cy="2381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281112" y="520065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157162"/>
                    </a:lnTo>
                    <a:cubicBezTo>
                      <a:pt x="257175" y="165053"/>
                      <a:pt x="250778" y="171450"/>
                      <a:pt x="24288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338262" y="54292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366838" y="53721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452562" y="53721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925955" y="5229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执行三视图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04728" y="5550218"/>
              <a:ext cx="2067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流程图 · 决策追踪 · 报告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4267200" y="5105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938712" y="5186362"/>
              <a:ext cx="257175" cy="257176"/>
              <a:chOff x="4938712" y="5186362"/>
              <a:chExt cx="257175" cy="25717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967288" y="51863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938712" y="53578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124450" y="51882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153025" y="53599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5583555" y="5229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双角色权限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94221" y="55502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管理员全功能 · 访客只读日报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7924800" y="5105400"/>
              <a:ext cx="9525" cy="838200"/>
            </a:xfrm>
            <a:custGeom>
              <a:avLst/>
              <a:gdLst/>
              <a:ahLst/>
              <a:cxnLst/>
              <a:rect l="l" t="t" r="r" b="b"/>
              <a:pathLst>
                <a:path w="9525"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603456" y="5207794"/>
              <a:ext cx="235744" cy="207169"/>
              <a:chOff x="8603456" y="5207794"/>
              <a:chExt cx="235744" cy="207169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603456" y="5207794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603456" y="5293519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03456" y="5379244"/>
                <a:ext cx="57150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5719">
                    <a:moveTo>
                      <a:pt x="0" y="14288"/>
                    </a:moveTo>
                    <a:lnTo>
                      <a:pt x="21431" y="35719"/>
                    </a:ln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0612" y="5229225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0612" y="5314950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0612" y="5400675"/>
                <a:ext cx="1285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9525">
                    <a:moveTo>
                      <a:pt x="0" y="0"/>
                    </a:moveTo>
                    <a:lnTo>
                      <a:pt x="1285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9241155" y="5229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每步全记录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23175" y="5550218"/>
              <a:ext cx="1860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搜索词 · Token · 耗时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66" name="Line 66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3261360" cy="948690"/>
            <a:chOff x="899160" y="533400"/>
            <a:chExt cx="326136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· 背景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轻依赖的工程底座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952500" y="1776730"/>
            <a:ext cx="5677190" cy="2468689"/>
            <a:chOff x="952500" y="1733550"/>
            <a:chExt cx="5677190" cy="2468689"/>
          </a:xfrm>
        </p:grpSpPr>
        <p:grpSp>
          <p:nvGrpSpPr>
            <p:cNvPr id="13" name="Group 13"/>
            <p:cNvGrpSpPr/>
            <p:nvPr/>
          </p:nvGrpSpPr>
          <p:grpSpPr>
            <a:xfrm>
              <a:off x="965200" y="1733550"/>
              <a:ext cx="4429059" cy="335089"/>
              <a:chOff x="965200" y="1733550"/>
              <a:chExt cx="4429059" cy="335089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965200" y="1733550"/>
                <a:ext cx="203199" cy="228600"/>
                <a:chOff x="965200" y="1733550"/>
                <a:chExt cx="203199" cy="2286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965200" y="1733550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965200" y="177165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65200" y="1847850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01318" y="17459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后端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183892" y="1778318"/>
                <a:ext cx="32103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FastAPI + SQLite（WAL · aiosqlite）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52500" y="2279332"/>
              <a:ext cx="4250146" cy="322707"/>
              <a:chOff x="952500" y="2279332"/>
              <a:chExt cx="4250146" cy="322707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952500" y="2279650"/>
                <a:ext cx="228599" cy="212724"/>
                <a:chOff x="952500" y="2279650"/>
                <a:chExt cx="228599" cy="212724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952500" y="2279650"/>
                  <a:ext cx="228599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599" h="1524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215899" y="0"/>
                      </a:lnTo>
                      <a:cubicBezTo>
                        <a:pt x="222913" y="0"/>
                        <a:pt x="228599" y="5686"/>
                        <a:pt x="228599" y="12700"/>
                      </a:cubicBezTo>
                      <a:lnTo>
                        <a:pt x="228599" y="139700"/>
                      </a:lnTo>
                      <a:cubicBezTo>
                        <a:pt x="228599" y="146714"/>
                        <a:pt x="222913" y="152400"/>
                        <a:pt x="215899" y="152400"/>
                      </a:cubicBezTo>
                      <a:lnTo>
                        <a:pt x="12700" y="152400"/>
                      </a:lnTo>
                      <a:cubicBezTo>
                        <a:pt x="5686" y="152400"/>
                        <a:pt x="0" y="146714"/>
                        <a:pt x="0" y="1397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03300" y="2482849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28700" y="2432049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104900" y="2432049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401318" y="22793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前端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183892" y="2311718"/>
                <a:ext cx="3018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Next.js 15 + React 19 + ReactFlow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52500" y="2800350"/>
              <a:ext cx="5677190" cy="335089"/>
              <a:chOff x="952500" y="2800350"/>
              <a:chExt cx="5677190" cy="335089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952500" y="2800350"/>
                <a:ext cx="228599" cy="228599"/>
                <a:chOff x="952500" y="2800350"/>
                <a:chExt cx="228599" cy="228599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977900" y="2825750"/>
                  <a:ext cx="1778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77800">
                      <a:moveTo>
                        <a:pt x="0" y="12700"/>
                      </a:moveTo>
                      <a:cubicBezTo>
                        <a:pt x="0" y="5686"/>
                        <a:pt x="5686" y="0"/>
                        <a:pt x="12700" y="0"/>
                      </a:cubicBezTo>
                      <a:lnTo>
                        <a:pt x="165100" y="0"/>
                      </a:lnTo>
                      <a:cubicBezTo>
                        <a:pt x="172114" y="0"/>
                        <a:pt x="177800" y="5686"/>
                        <a:pt x="177800" y="12700"/>
                      </a:cubicBezTo>
                      <a:lnTo>
                        <a:pt x="177800" y="165100"/>
                      </a:lnTo>
                      <a:cubicBezTo>
                        <a:pt x="177800" y="172114"/>
                        <a:pt x="172114" y="177800"/>
                        <a:pt x="165100" y="177800"/>
                      </a:cubicBezTo>
                      <a:lnTo>
                        <a:pt x="12700" y="177800"/>
                      </a:lnTo>
                      <a:cubicBezTo>
                        <a:pt x="5686" y="177800"/>
                        <a:pt x="0" y="172114"/>
                        <a:pt x="0" y="165100"/>
                      </a:cubicBezTo>
                      <a:lnTo>
                        <a:pt x="0" y="127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28700" y="28765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0" y="762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952500" y="288925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52500" y="294005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0" y="0"/>
                      </a:moveTo>
                      <a:lnTo>
                        <a:pt x="254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41400" y="28003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092200" y="2800350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0"/>
                      </a:move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155699" y="288925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155699" y="2940050"/>
                  <a:ext cx="25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9525">
                      <a:moveTo>
                        <a:pt x="254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092200" y="3003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041400" y="3003549"/>
                  <a:ext cx="9525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5400">
                      <a:moveTo>
                        <a:pt x="0" y="254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401318" y="28127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183892" y="2845118"/>
                <a:ext cx="2684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Anthropic 兼容协议 → DeepSeek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937125" y="2888456"/>
                <a:ext cx="16925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换供应商只改 3 个配置值</a:t>
                </a:r>
                <a:endParaRPr lang="zh-CN" sz="11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952500" y="3333750"/>
              <a:ext cx="4045358" cy="335089"/>
              <a:chOff x="952500" y="3333750"/>
              <a:chExt cx="4045358" cy="335089"/>
            </a:xfrm>
          </p:grpSpPr>
          <p:grpSp>
            <p:nvGrpSpPr>
              <p:cNvPr id="40" name="Group 40"/>
              <p:cNvGrpSpPr/>
              <p:nvPr/>
            </p:nvGrpSpPr>
            <p:grpSpPr>
              <a:xfrm>
                <a:off x="952500" y="3333750"/>
                <a:ext cx="228599" cy="228599"/>
                <a:chOff x="952500" y="3333750"/>
                <a:chExt cx="228599" cy="228599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952500" y="3511549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130299" y="33337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25400" y="50800"/>
                      </a:move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77900" y="3359150"/>
                  <a:ext cx="1905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77800">
                      <a:moveTo>
                        <a:pt x="76200" y="177800"/>
                      </a:moveTo>
                      <a:lnTo>
                        <a:pt x="146050" y="177800"/>
                      </a:lnTo>
                      <a:cubicBezTo>
                        <a:pt x="170599" y="177800"/>
                        <a:pt x="190500" y="157899"/>
                        <a:pt x="190500" y="133350"/>
                      </a:cubicBezTo>
                      <a:cubicBezTo>
                        <a:pt x="190500" y="108801"/>
                        <a:pt x="170599" y="88900"/>
                        <a:pt x="146050" y="88900"/>
                      </a:cubicBezTo>
                      <a:lnTo>
                        <a:pt x="44450" y="88900"/>
                      </a:ln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401318" y="33461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183892" y="3378518"/>
                <a:ext cx="28139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7 个可插拔 Provider，付费默认关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65200" y="3867150"/>
              <a:ext cx="4183854" cy="335089"/>
              <a:chOff x="965200" y="3867150"/>
              <a:chExt cx="4183854" cy="335089"/>
            </a:xfrm>
          </p:grpSpPr>
          <p:grpSp>
            <p:nvGrpSpPr>
              <p:cNvPr id="49" name="Group 49"/>
              <p:cNvGrpSpPr/>
              <p:nvPr/>
            </p:nvGrpSpPr>
            <p:grpSpPr>
              <a:xfrm>
                <a:off x="965200" y="3867150"/>
                <a:ext cx="203200" cy="228600"/>
                <a:chOff x="965200" y="3867150"/>
                <a:chExt cx="203200" cy="2286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965200" y="3867150"/>
                  <a:ext cx="203199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228599">
                      <a:moveTo>
                        <a:pt x="101600" y="0"/>
                      </a:moveTo>
                      <a:lnTo>
                        <a:pt x="203199" y="57150"/>
                      </a:lnTo>
                      <a:lnTo>
                        <a:pt x="203199" y="171450"/>
                      </a:lnTo>
                      <a:lnTo>
                        <a:pt x="101600" y="228599"/>
                      </a:lnTo>
                      <a:lnTo>
                        <a:pt x="0" y="171450"/>
                      </a:lnTo>
                      <a:lnTo>
                        <a:pt x="0" y="5715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066800" y="3924300"/>
                  <a:ext cx="1016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57150">
                      <a:moveTo>
                        <a:pt x="0" y="57150"/>
                      </a:move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066800" y="3981450"/>
                  <a:ext cx="9525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4300">
                      <a:moveTo>
                        <a:pt x="0" y="0"/>
                      </a:moveTo>
                      <a:lnTo>
                        <a:pt x="0" y="1143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65200" y="3924300"/>
                  <a:ext cx="1016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57150">
                      <a:moveTo>
                        <a:pt x="10160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016000" y="3895725"/>
                  <a:ext cx="1016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57150">
                      <a:moveTo>
                        <a:pt x="10160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1401318" y="38795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部署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183892" y="3911918"/>
                <a:ext cx="29651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Docker Compose 三容器 · 一键安装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7086600" y="1605280"/>
            <a:ext cx="4419600" cy="2705100"/>
            <a:chOff x="7086600" y="1562100"/>
            <a:chExt cx="4419600" cy="2705100"/>
          </a:xfrm>
        </p:grpSpPr>
        <p:sp>
          <p:nvSpPr>
            <p:cNvPr id="54" name="Rectangle 54"/>
            <p:cNvSpPr/>
            <p:nvPr/>
          </p:nvSpPr>
          <p:spPr>
            <a:xfrm>
              <a:off x="7086600" y="1562100"/>
              <a:ext cx="4419600" cy="2705100"/>
            </a:xfrm>
            <a:prstGeom prst="roundRect">
              <a:avLst>
                <a:gd name="adj" fmla="val 4225"/>
              </a:avLst>
            </a:prstGeom>
            <a:solidFill>
              <a:schemeClr val="accent5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524750" y="1909762"/>
              <a:ext cx="228600" cy="257176"/>
              <a:chOff x="7524750" y="1909762"/>
              <a:chExt cx="228600" cy="25717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524750" y="1909762"/>
                <a:ext cx="2286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57175">
                    <a:moveTo>
                      <a:pt x="114300" y="0"/>
                    </a:moveTo>
                    <a:lnTo>
                      <a:pt x="228600" y="64294"/>
                    </a:lnTo>
                    <a:lnTo>
                      <a:pt x="228600" y="192881"/>
                    </a:lnTo>
                    <a:lnTo>
                      <a:pt x="114300" y="257175"/>
                    </a:lnTo>
                    <a:lnTo>
                      <a:pt x="0" y="192881"/>
                    </a:lnTo>
                    <a:lnTo>
                      <a:pt x="0" y="64294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639050" y="1974056"/>
                <a:ext cx="114300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94">
                    <a:moveTo>
                      <a:pt x="0" y="64294"/>
                    </a:move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39050" y="203835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524750" y="1974056"/>
                <a:ext cx="114300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94">
                    <a:moveTo>
                      <a:pt x="114300" y="64294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581900" y="1941909"/>
                <a:ext cx="114300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4294">
                    <a:moveTo>
                      <a:pt x="114300" y="0"/>
                    </a:moveTo>
                    <a:lnTo>
                      <a:pt x="0" y="64294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80299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依赖收敛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59980" y="24669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强依赖仅三类：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60742" y="2826068"/>
              <a:ext cx="2557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模型 SDK（Anthropic 兼容）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60742" y="3130868"/>
              <a:ext cx="1701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FastAPI / uvicorn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60742" y="3435668"/>
              <a:ext cx="1613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常用解析与渲染库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60742" y="3854768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无重型框架 · 无消息队列 · 无外置数据库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09600" y="4552950"/>
            <a:ext cx="10972800" cy="1394651"/>
            <a:chOff x="609600" y="4552950"/>
            <a:chExt cx="10972800" cy="1394651"/>
          </a:xfrm>
        </p:grpSpPr>
        <p:sp>
          <p:nvSpPr>
            <p:cNvPr id="68" name="Line 68"/>
            <p:cNvSpPr/>
            <p:nvPr/>
          </p:nvSpPr>
          <p:spPr>
            <a:xfrm>
              <a:off x="609600" y="45529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365775" y="509778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6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194575" y="509778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5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023375" y="5097780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12237" y="50977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13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58784" y="5097780"/>
              <a:ext cx="136083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1.2万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87584" y="5097780"/>
              <a:ext cx="136083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≈30元</a:t>
              </a:r>
              <a:endParaRPr lang="zh-CN" sz="36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grpSp>
          <p:nvGrpSpPr>
            <p:cNvPr id="81" name="Group 81"/>
            <p:cNvGrpSpPr/>
            <p:nvPr/>
          </p:nvGrpSpPr>
          <p:grpSpPr>
            <a:xfrm>
              <a:off x="1053061" y="5683568"/>
              <a:ext cx="9894402" cy="264033"/>
              <a:chOff x="1053061" y="5683568"/>
              <a:chExt cx="9894402" cy="264033"/>
            </a:xfrm>
          </p:grpSpPr>
          <p:sp>
            <p:nvSpPr>
              <p:cNvPr id="75" name="TextBox 75"/>
              <p:cNvSpPr txBox="1"/>
              <p:nvPr/>
            </p:nvSpPr>
            <p:spPr>
              <a:xfrm>
                <a:off x="1053061" y="5683568"/>
                <a:ext cx="9418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Agent 角色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2878765" y="5683568"/>
                <a:ext cx="9480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层 Runtime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720400" y="56835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个注册工具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640068" y="56835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张数据表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10404" y="5683568"/>
                <a:ext cx="8575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行 Python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388536" y="56835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月成本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83" name="Line 83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4721743" cy="948690"/>
            <a:chOff x="899160" y="533400"/>
            <a:chExt cx="4721743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· 架构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47217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自研五层 Agent Runtime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9600" y="1485900"/>
            <a:ext cx="10972800" cy="533400"/>
            <a:chOff x="609600" y="1485900"/>
            <a:chExt cx="10972800" cy="533400"/>
          </a:xfrm>
        </p:grpSpPr>
        <p:sp>
          <p:nvSpPr>
            <p:cNvPr id="7" name="Rectangle 7"/>
            <p:cNvSpPr/>
            <p:nvPr/>
          </p:nvSpPr>
          <p:spPr>
            <a:xfrm>
              <a:off x="609600" y="1485900"/>
              <a:ext cx="10972800" cy="533400"/>
            </a:xfrm>
            <a:prstGeom prst="roundRect">
              <a:avLst>
                <a:gd name="adj" fmla="val 21429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4859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5256" y="1634490"/>
              <a:ext cx="8685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= 模型 + Harness——可靠性、成本、可观测性，全部来自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模型之外的工程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171700"/>
            <a:ext cx="10972800" cy="495300"/>
            <a:chOff x="609600" y="2171700"/>
            <a:chExt cx="10972800" cy="495300"/>
          </a:xfrm>
        </p:grpSpPr>
        <p:sp>
          <p:nvSpPr>
            <p:cNvPr id="11" name="Rectangle 11"/>
            <p:cNvSpPr/>
            <p:nvPr/>
          </p:nvSpPr>
          <p:spPr>
            <a:xfrm>
              <a:off x="609600" y="2171700"/>
              <a:ext cx="109728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98525" y="2308225"/>
              <a:ext cx="211138" cy="222251"/>
              <a:chOff x="898525" y="2308225"/>
              <a:chExt cx="211138" cy="22225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898525" y="2486026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22225"/>
                    </a:move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09650" y="23082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22225"/>
                    </a:move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9650" y="2486026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22225"/>
                    </a:move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54088" y="23971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22225"/>
                    </a:move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65213" y="23971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44450" y="22225"/>
                    </a:move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32507" y="2438242"/>
                <a:ext cx="32004" cy="51184"/>
              </a:xfrm>
              <a:custGeom>
                <a:avLst/>
                <a:gdLst/>
                <a:ahLst/>
                <a:cxnLst/>
                <a:rect l="l" t="t" r="r" b="b"/>
                <a:pathLst>
                  <a:path w="32004" h="51184">
                    <a:moveTo>
                      <a:pt x="0" y="51184"/>
                    </a:moveTo>
                    <a:lnTo>
                      <a:pt x="32004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88103" y="2349330"/>
                <a:ext cx="31971" cy="51162"/>
              </a:xfrm>
              <a:custGeom>
                <a:avLst/>
                <a:gdLst/>
                <a:ahLst/>
                <a:cxnLst/>
                <a:rect l="l" t="t" r="r" b="b"/>
                <a:pathLst>
                  <a:path w="31971" h="51162">
                    <a:moveTo>
                      <a:pt x="0" y="51162"/>
                    </a:moveTo>
                    <a:lnTo>
                      <a:pt x="3197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88148" y="2438297"/>
                <a:ext cx="31960" cy="51118"/>
              </a:xfrm>
              <a:custGeom>
                <a:avLst/>
                <a:gdLst/>
                <a:ahLst/>
                <a:cxnLst/>
                <a:rect l="l" t="t" r="r" b="b"/>
                <a:pathLst>
                  <a:path w="31960" h="51118">
                    <a:moveTo>
                      <a:pt x="0" y="0"/>
                    </a:moveTo>
                    <a:lnTo>
                      <a:pt x="31960" y="5111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43688" y="2349341"/>
                <a:ext cx="32015" cy="51229"/>
              </a:xfrm>
              <a:custGeom>
                <a:avLst/>
                <a:gdLst/>
                <a:ahLst/>
                <a:cxnLst/>
                <a:rect l="l" t="t" r="r" b="b"/>
                <a:pathLst>
                  <a:path w="32015" h="51229">
                    <a:moveTo>
                      <a:pt x="0" y="0"/>
                    </a:moveTo>
                    <a:lnTo>
                      <a:pt x="32015" y="51229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287780" y="2324100"/>
              <a:ext cx="7981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引擎层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每日情报引擎 · 专项分析引擎——把业务阶段装配成 DAG 节点，跑在五层之上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>
            <p:custDataLst>
              <p:tags r:id="rId1"/>
            </p:custDataLst>
          </p:nvPr>
        </p:nvGrpSpPr>
        <p:grpSpPr>
          <a:xfrm>
            <a:off x="609600" y="2895600"/>
            <a:ext cx="6667500" cy="3162300"/>
            <a:chOff x="609600" y="2895600"/>
            <a:chExt cx="6667500" cy="3162300"/>
          </a:xfrm>
        </p:grpSpPr>
        <p:grpSp>
          <p:nvGrpSpPr>
            <p:cNvPr id="28" name="Group 28"/>
            <p:cNvGrpSpPr/>
            <p:nvPr/>
          </p:nvGrpSpPr>
          <p:grpSpPr>
            <a:xfrm>
              <a:off x="609600" y="2895600"/>
              <a:ext cx="6667500" cy="571500"/>
              <a:chOff x="609600" y="2895600"/>
              <a:chExt cx="6667500" cy="571500"/>
            </a:xfrm>
          </p:grpSpPr>
          <p:sp>
            <p:nvSpPr>
              <p:cNvPr id="24" name="Rectangle 24"/>
              <p:cNvSpPr/>
              <p:nvPr>
                <p:custDataLst>
                  <p:tags r:id="rId2"/>
                </p:custDataLst>
              </p:nvPr>
            </p:nvSpPr>
            <p:spPr>
              <a:xfrm>
                <a:off x="609600" y="2895600"/>
                <a:ext cx="66675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accent5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25" name="TextBox 2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867156" y="3063240"/>
                <a:ext cx="3140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L5</a:t>
                </a:r>
                <a:endPara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82268" y="3079432"/>
                <a:ext cx="21120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Surface 编排与呈现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803142" y="311181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DAG 波次编排 · 事件总线三合一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09600" y="3543300"/>
              <a:ext cx="6667500" cy="571500"/>
              <a:chOff x="609600" y="3543300"/>
              <a:chExt cx="6667500" cy="571500"/>
            </a:xfrm>
          </p:grpSpPr>
          <p:sp>
            <p:nvSpPr>
              <p:cNvPr id="29" name="Rectangle 29"/>
              <p:cNvSpPr/>
              <p:nvPr>
                <p:custDataLst>
                  <p:tags r:id="rId6"/>
                </p:custDataLst>
              </p:nvPr>
            </p:nvSpPr>
            <p:spPr>
              <a:xfrm>
                <a:off x="609600" y="3543300"/>
                <a:ext cx="66675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accent5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30" name="TextBox 3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67156" y="3710940"/>
                <a:ext cx="3140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L4</a:t>
                </a:r>
                <a:endPara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382268" y="3727132"/>
                <a:ext cx="18239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Governance 治理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3803142" y="3759518"/>
                <a:ext cx="261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权限矩阵 · 三级预算 · 审计流水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09600" y="4191000"/>
              <a:ext cx="6667500" cy="571500"/>
              <a:chOff x="609600" y="4191000"/>
              <a:chExt cx="6667500" cy="571500"/>
            </a:xfrm>
          </p:grpSpPr>
          <p:sp>
            <p:nvSpPr>
              <p:cNvPr id="34" name="Rectangle 34"/>
              <p:cNvSpPr/>
              <p:nvPr>
                <p:custDataLst>
                  <p:tags r:id="rId10"/>
                </p:custDataLst>
              </p:nvPr>
            </p:nvSpPr>
            <p:spPr>
              <a:xfrm>
                <a:off x="609600" y="4191000"/>
                <a:ext cx="66675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accent5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35" name="TextBox 3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67156" y="4358640"/>
                <a:ext cx="3140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L3</a:t>
                </a:r>
                <a:endPara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382268" y="4374832"/>
                <a:ext cx="16479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Capability 能力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803142" y="440721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7 个工具注册 · 按角色过滤可见工具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9600" y="4838700"/>
              <a:ext cx="6667500" cy="571500"/>
              <a:chOff x="609600" y="4838700"/>
              <a:chExt cx="6667500" cy="571500"/>
            </a:xfrm>
          </p:grpSpPr>
          <p:sp>
            <p:nvSpPr>
              <p:cNvPr id="39" name="Rectangle 39"/>
              <p:cNvSpPr/>
              <p:nvPr>
                <p:custDataLst>
                  <p:tags r:id="rId14"/>
                </p:custDataLst>
              </p:nvPr>
            </p:nvSpPr>
            <p:spPr>
              <a:xfrm>
                <a:off x="609600" y="4838700"/>
                <a:ext cx="66675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accent5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40" name="TextBox 40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67156" y="5006340"/>
                <a:ext cx="3140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L2</a:t>
                </a:r>
                <a:endPara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1" name="TextBox 4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382268" y="5022532"/>
                <a:ext cx="16642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Context 上下文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803142" y="5054918"/>
                <a:ext cx="2040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黑板共享记忆 · 超限压缩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09600" y="5486400"/>
              <a:ext cx="6667500" cy="571500"/>
              <a:chOff x="609600" y="5486400"/>
              <a:chExt cx="6667500" cy="571500"/>
            </a:xfrm>
          </p:grpSpPr>
          <p:sp>
            <p:nvSpPr>
              <p:cNvPr id="44" name="Rectangle 44"/>
              <p:cNvSpPr/>
              <p:nvPr>
                <p:custDataLst>
                  <p:tags r:id="rId18"/>
                </p:custDataLst>
              </p:nvPr>
            </p:nvSpPr>
            <p:spPr>
              <a:xfrm>
                <a:off x="609600" y="5486400"/>
                <a:ext cx="66675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accent5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5" name="TextBox 45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867156" y="5654040"/>
                <a:ext cx="3140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L1</a:t>
                </a:r>
                <a:endParaRPr lang="zh-CN" sz="18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46" name="TextBox 4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382268" y="5670232"/>
                <a:ext cx="14285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Runtime 循环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3803142" y="5702618"/>
                <a:ext cx="24948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ReAct 循环 · 棘轮 · 兜底收尾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7613142" y="3111818"/>
            <a:ext cx="2267255" cy="2854833"/>
            <a:chOff x="7613142" y="3111818"/>
            <a:chExt cx="2267255" cy="2854833"/>
          </a:xfrm>
        </p:grpSpPr>
        <p:sp>
          <p:nvSpPr>
            <p:cNvPr id="50" name="TextBox 50"/>
            <p:cNvSpPr txBox="1"/>
            <p:nvPr/>
          </p:nvSpPr>
          <p:spPr>
            <a:xfrm>
              <a:off x="7613142" y="3111818"/>
              <a:ext cx="1967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→ harness/surface.py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13142" y="375951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→ harness/governance.py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13142" y="440721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→ harness/capability.py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13142" y="5054918"/>
              <a:ext cx="1967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→ harness/context.py</a:t>
              </a:r>
              <a:endParaRPr lang="zh-CN" sz="1350" dirty="0">
                <a:solidFill>
                  <a:schemeClr val="accent6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13142" y="57026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→ harness/runtime.py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56" name="Line 56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7181660" cy="948690"/>
            <a:chOff x="899160" y="533400"/>
            <a:chExt cx="718166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· 架构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7181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L1 Runtime：循环很朴素，可靠靠机制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383982" y="2133600"/>
            <a:ext cx="3518536" cy="4004501"/>
            <a:chOff x="1383982" y="2133600"/>
            <a:chExt cx="3518536" cy="4004501"/>
          </a:xfrm>
        </p:grpSpPr>
        <p:sp>
          <p:nvSpPr>
            <p:cNvPr id="7" name="Line 7"/>
            <p:cNvSpPr/>
            <p:nvPr/>
          </p:nvSpPr>
          <p:spPr>
            <a:xfrm>
              <a:off x="3512820" y="2802255"/>
              <a:ext cx="620077" cy="450533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 flipH="1">
              <a:off x="4124325" y="3955732"/>
              <a:ext cx="237172" cy="728662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 flipH="1">
              <a:off x="2760345" y="5118735"/>
              <a:ext cx="76581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H="1" flipV="1">
              <a:off x="1925002" y="3955732"/>
              <a:ext cx="237173" cy="728662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V="1">
              <a:off x="2153602" y="2802255"/>
              <a:ext cx="620078" cy="450533"/>
            </a:xfrm>
            <a:prstGeom prst="line">
              <a:avLst/>
            </a:prstGeom>
            <a:noFill/>
            <a:ln w="14288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743200" y="2133600"/>
              <a:ext cx="800100" cy="800100"/>
              <a:chOff x="2743200" y="2133600"/>
              <a:chExt cx="800100" cy="8001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743200" y="2133600"/>
                <a:ext cx="800100" cy="8001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933700" y="243840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观察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102418" y="3121342"/>
              <a:ext cx="800100" cy="800100"/>
              <a:chOff x="4102418" y="3121342"/>
              <a:chExt cx="800100" cy="80010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4102418" y="3121342"/>
                <a:ext cx="800100" cy="8001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292918" y="3426142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思考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583305" y="4718685"/>
              <a:ext cx="800100" cy="800100"/>
              <a:chOff x="3583305" y="4718685"/>
              <a:chExt cx="800100" cy="80010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3583305" y="4718685"/>
                <a:ext cx="800100" cy="8001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773805" y="502348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行动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03095" y="4718685"/>
              <a:ext cx="800100" cy="800100"/>
              <a:chOff x="1903095" y="4718685"/>
              <a:chExt cx="800100" cy="80010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1903095" y="4718685"/>
                <a:ext cx="800100" cy="8001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093595" y="502348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校验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383982" y="3121342"/>
              <a:ext cx="800100" cy="800100"/>
              <a:chOff x="1383982" y="3121342"/>
              <a:chExt cx="800100" cy="8001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1383982" y="3121342"/>
                <a:ext cx="800100" cy="8001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574482" y="3426142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循环</a:t>
                </a:r>
                <a:endPara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234582" y="3790950"/>
              <a:ext cx="1817336" cy="804101"/>
              <a:chOff x="2234582" y="3790950"/>
              <a:chExt cx="1817336" cy="804101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2971800" y="3790950"/>
                <a:ext cx="342900" cy="342900"/>
                <a:chOff x="2971800" y="3790950"/>
                <a:chExt cx="342900" cy="3429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3009900" y="3829050"/>
                  <a:ext cx="2667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2667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247650" y="0"/>
                      </a:lnTo>
                      <a:cubicBezTo>
                        <a:pt x="258171" y="0"/>
                        <a:pt x="266700" y="8529"/>
                        <a:pt x="266700" y="19050"/>
                      </a:cubicBezTo>
                      <a:lnTo>
                        <a:pt x="266700" y="247650"/>
                      </a:lnTo>
                      <a:cubicBezTo>
                        <a:pt x="266700" y="258171"/>
                        <a:pt x="258171" y="266700"/>
                        <a:pt x="247650" y="266700"/>
                      </a:cubicBezTo>
                      <a:lnTo>
                        <a:pt x="19050" y="266700"/>
                      </a:lnTo>
                      <a:cubicBezTo>
                        <a:pt x="8529" y="266700"/>
                        <a:pt x="0" y="258171"/>
                        <a:pt x="0" y="2476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3086100" y="390525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0"/>
                      </a:moveTo>
                      <a:lnTo>
                        <a:pt x="114300" y="0"/>
                      </a:lnTo>
                      <a:lnTo>
                        <a:pt x="114300" y="114300"/>
                      </a:lnTo>
                      <a:lnTo>
                        <a:pt x="0" y="1143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971800" y="39243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971800" y="40005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3105150" y="37909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3181350" y="37909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3276600" y="39243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381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3276600" y="400050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3810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181350" y="40957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381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105150" y="409575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381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2234582" y="4331018"/>
                <a:ext cx="18173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AgentRuntime.run()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604572" y="5874068"/>
              <a:ext cx="3077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工具调用经 ToolRegistry 鉴权后执行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172200" y="1562100"/>
            <a:ext cx="5334000" cy="4191000"/>
            <a:chOff x="6172200" y="1562100"/>
            <a:chExt cx="5334000" cy="4191000"/>
          </a:xfrm>
        </p:grpSpPr>
        <p:grpSp>
          <p:nvGrpSpPr>
            <p:cNvPr id="47" name="Group 47"/>
            <p:cNvGrpSpPr/>
            <p:nvPr/>
          </p:nvGrpSpPr>
          <p:grpSpPr>
            <a:xfrm>
              <a:off x="6172200" y="1562100"/>
              <a:ext cx="5334000" cy="1295400"/>
              <a:chOff x="6172200" y="1562100"/>
              <a:chExt cx="5334000" cy="12954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172200" y="1562100"/>
                <a:ext cx="5334000" cy="1295400"/>
              </a:xfrm>
              <a:prstGeom prst="roundRect">
                <a:avLst>
                  <a:gd name="adj" fmla="val 8824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10338" y="183356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14300" y="0"/>
                    </a:moveTo>
                    <a:lnTo>
                      <a:pt x="114300" y="100012"/>
                    </a:lnTo>
                    <a:lnTo>
                      <a:pt x="200025" y="100012"/>
                    </a:lnTo>
                    <a:lnTo>
                      <a:pt x="85725" y="257175"/>
                    </a:lnTo>
                    <a:lnTo>
                      <a:pt x="85725" y="157162"/>
                    </a:lnTo>
                    <a:lnTo>
                      <a:pt x="0" y="157162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63156" y="184404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棘轮机制：错误变约束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965442" y="2216468"/>
                <a:ext cx="38574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工具失败 · 运行异常，自动转化为</a:t>
                </a:r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永久约束</a:t>
                </a:r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注入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965442" y="2483168"/>
                <a:ext cx="37574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后续所有轮次的 system prompt，不寄望重试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172200" y="3009900"/>
              <a:ext cx="5334000" cy="1295400"/>
              <a:chOff x="6172200" y="3009900"/>
              <a:chExt cx="5334000" cy="12954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172200" y="3009900"/>
                <a:ext cx="5334000" cy="1295400"/>
              </a:xfrm>
              <a:prstGeom prst="roundRect">
                <a:avLst>
                  <a:gd name="adj" fmla="val 8824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55" name="Group 55"/>
              <p:cNvGrpSpPr/>
              <p:nvPr/>
            </p:nvGrpSpPr>
            <p:grpSpPr>
              <a:xfrm>
                <a:off x="6488906" y="3302794"/>
                <a:ext cx="235744" cy="207169"/>
                <a:chOff x="6488906" y="3302794"/>
                <a:chExt cx="235744" cy="207169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488906" y="3302794"/>
                  <a:ext cx="57150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5719">
                      <a:moveTo>
                        <a:pt x="0" y="14288"/>
                      </a:moveTo>
                      <a:lnTo>
                        <a:pt x="21431" y="35719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488906" y="3388519"/>
                  <a:ext cx="57150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5719">
                      <a:moveTo>
                        <a:pt x="0" y="14288"/>
                      </a:moveTo>
                      <a:lnTo>
                        <a:pt x="21431" y="35719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488906" y="3474244"/>
                  <a:ext cx="57150" cy="35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5719">
                      <a:moveTo>
                        <a:pt x="0" y="14288"/>
                      </a:moveTo>
                      <a:lnTo>
                        <a:pt x="21431" y="35719"/>
                      </a:ln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596062" y="3324225"/>
                  <a:ext cx="1285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9525">
                      <a:moveTo>
                        <a:pt x="0" y="0"/>
                      </a:moveTo>
                      <a:lnTo>
                        <a:pt x="12858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596062" y="3409950"/>
                  <a:ext cx="1285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9525">
                      <a:moveTo>
                        <a:pt x="0" y="0"/>
                      </a:moveTo>
                      <a:lnTo>
                        <a:pt x="12858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596062" y="3495675"/>
                  <a:ext cx="128588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9525">
                      <a:moveTo>
                        <a:pt x="0" y="0"/>
                      </a:moveTo>
                      <a:lnTo>
                        <a:pt x="128588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6963156" y="32918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迭代耗尽兜底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965442" y="3664268"/>
                <a:ext cx="24035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一直调工具不收敛 → 强制追加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965442" y="3930968"/>
                <a:ext cx="34060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「立即直接输出最终结果」，</a:t>
                </a:r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防 DAG 空转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6172200" y="4457700"/>
              <a:ext cx="5334000" cy="1295400"/>
              <a:chOff x="6172200" y="4457700"/>
              <a:chExt cx="5334000" cy="12954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6172200" y="4457700"/>
                <a:ext cx="5334000" cy="1295400"/>
              </a:xfrm>
              <a:prstGeom prst="roundRect">
                <a:avLst>
                  <a:gd name="adj" fmla="val 8824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6475490" y="4722890"/>
                <a:ext cx="269719" cy="269719"/>
                <a:chOff x="6475490" y="4722890"/>
                <a:chExt cx="269719" cy="269719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6475490" y="4722890"/>
                  <a:ext cx="269719" cy="26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719" h="269719">
                      <a:moveTo>
                        <a:pt x="110928" y="25089"/>
                      </a:moveTo>
                      <a:cubicBezTo>
                        <a:pt x="117015" y="0"/>
                        <a:pt x="152705" y="0"/>
                        <a:pt x="158791" y="25089"/>
                      </a:cubicBezTo>
                      <a:cubicBezTo>
                        <a:pt x="160644" y="32734"/>
                        <a:pt x="166036" y="39034"/>
                        <a:pt x="173302" y="42044"/>
                      </a:cubicBezTo>
                      <a:cubicBezTo>
                        <a:pt x="180569" y="45055"/>
                        <a:pt x="188837" y="44414"/>
                        <a:pt x="195553" y="40319"/>
                      </a:cubicBezTo>
                      <a:cubicBezTo>
                        <a:pt x="217599" y="26889"/>
                        <a:pt x="242845" y="52121"/>
                        <a:pt x="229414" y="74181"/>
                      </a:cubicBezTo>
                      <a:cubicBezTo>
                        <a:pt x="225325" y="80894"/>
                        <a:pt x="224686" y="89155"/>
                        <a:pt x="227693" y="96417"/>
                      </a:cubicBezTo>
                      <a:cubicBezTo>
                        <a:pt x="230700" y="103680"/>
                        <a:pt x="236993" y="109071"/>
                        <a:pt x="244631" y="110928"/>
                      </a:cubicBezTo>
                      <a:cubicBezTo>
                        <a:pt x="269719" y="117015"/>
                        <a:pt x="269719" y="152705"/>
                        <a:pt x="244631" y="158791"/>
                      </a:cubicBezTo>
                      <a:cubicBezTo>
                        <a:pt x="236986" y="160644"/>
                        <a:pt x="230686" y="166036"/>
                        <a:pt x="227675" y="173302"/>
                      </a:cubicBezTo>
                      <a:cubicBezTo>
                        <a:pt x="224664" y="180569"/>
                        <a:pt x="225305" y="188837"/>
                        <a:pt x="229400" y="195553"/>
                      </a:cubicBezTo>
                      <a:cubicBezTo>
                        <a:pt x="242830" y="217599"/>
                        <a:pt x="217599" y="242845"/>
                        <a:pt x="195539" y="229414"/>
                      </a:cubicBezTo>
                      <a:cubicBezTo>
                        <a:pt x="188826" y="225325"/>
                        <a:pt x="180564" y="224686"/>
                        <a:pt x="173302" y="227693"/>
                      </a:cubicBezTo>
                      <a:cubicBezTo>
                        <a:pt x="166040" y="230700"/>
                        <a:pt x="160649" y="236993"/>
                        <a:pt x="158791" y="244631"/>
                      </a:cubicBezTo>
                      <a:cubicBezTo>
                        <a:pt x="152705" y="269719"/>
                        <a:pt x="117015" y="269719"/>
                        <a:pt x="110928" y="244631"/>
                      </a:cubicBezTo>
                      <a:cubicBezTo>
                        <a:pt x="109076" y="236986"/>
                        <a:pt x="103684" y="230686"/>
                        <a:pt x="96417" y="227675"/>
                      </a:cubicBezTo>
                      <a:cubicBezTo>
                        <a:pt x="89150" y="224664"/>
                        <a:pt x="80882" y="225305"/>
                        <a:pt x="74166" y="229400"/>
                      </a:cubicBezTo>
                      <a:cubicBezTo>
                        <a:pt x="52121" y="242830"/>
                        <a:pt x="26875" y="217599"/>
                        <a:pt x="40305" y="195539"/>
                      </a:cubicBezTo>
                      <a:cubicBezTo>
                        <a:pt x="44394" y="188826"/>
                        <a:pt x="45033" y="180564"/>
                        <a:pt x="42026" y="173302"/>
                      </a:cubicBezTo>
                      <a:cubicBezTo>
                        <a:pt x="39019" y="166040"/>
                        <a:pt x="32727" y="160649"/>
                        <a:pt x="25089" y="158791"/>
                      </a:cubicBezTo>
                      <a:cubicBezTo>
                        <a:pt x="0" y="152705"/>
                        <a:pt x="0" y="117015"/>
                        <a:pt x="25089" y="110928"/>
                      </a:cubicBezTo>
                      <a:cubicBezTo>
                        <a:pt x="32734" y="109076"/>
                        <a:pt x="39034" y="103684"/>
                        <a:pt x="42044" y="96417"/>
                      </a:cubicBezTo>
                      <a:cubicBezTo>
                        <a:pt x="45055" y="89150"/>
                        <a:pt x="44414" y="80882"/>
                        <a:pt x="40319" y="74166"/>
                      </a:cubicBezTo>
                      <a:cubicBezTo>
                        <a:pt x="26889" y="52121"/>
                        <a:pt x="52121" y="26875"/>
                        <a:pt x="74181" y="40305"/>
                      </a:cubicBezTo>
                      <a:cubicBezTo>
                        <a:pt x="88468" y="48992"/>
                        <a:pt x="106985" y="41305"/>
                        <a:pt x="110928" y="25089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6567488" y="4814888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6963156" y="47396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工具参数防御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965442" y="5112068"/>
                <a:ext cx="34303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schema 外字段按函数签名过滤，出错返回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965442" y="5378768"/>
                <a:ext cx="2939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可修正提示——</a:t>
                </a:r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报错话术不进报告正文</a:t>
                </a:r>
                <a:endPara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" name="Group 81"/>
          <p:cNvGrpSpPr/>
          <p:nvPr/>
        </p:nvGrpSpPr>
        <p:grpSpPr>
          <a:xfrm>
            <a:off x="6200775" y="6086475"/>
            <a:ext cx="4373918" cy="270700"/>
            <a:chOff x="6200775" y="6086475"/>
            <a:chExt cx="4373918" cy="270700"/>
          </a:xfrm>
        </p:grpSpPr>
        <p:grpSp>
          <p:nvGrpSpPr>
            <p:cNvPr id="79" name="Group 79"/>
            <p:cNvGrpSpPr/>
            <p:nvPr/>
          </p:nvGrpSpPr>
          <p:grpSpPr>
            <a:xfrm>
              <a:off x="6200775" y="6086475"/>
              <a:ext cx="171450" cy="171450"/>
              <a:chOff x="6200775" y="6086475"/>
              <a:chExt cx="171450" cy="17145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6219825" y="61055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123825" y="0"/>
                    </a:lnTo>
                    <a:cubicBezTo>
                      <a:pt x="129086" y="0"/>
                      <a:pt x="133350" y="4264"/>
                      <a:pt x="133350" y="9525"/>
                    </a:cubicBezTo>
                    <a:lnTo>
                      <a:pt x="133350" y="123825"/>
                    </a:lnTo>
                    <a:cubicBezTo>
                      <a:pt x="133350" y="129086"/>
                      <a:pt x="129086" y="133350"/>
                      <a:pt x="12382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257925" y="61436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0"/>
                    </a:lnTo>
                    <a:lnTo>
                      <a:pt x="57150" y="57150"/>
                    </a:lnTo>
                    <a:lnTo>
                      <a:pt x="0" y="5715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200775" y="61531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200775" y="61912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267450" y="60864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305550" y="60864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353175" y="61531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353175" y="61912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190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305550" y="62388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267450" y="62388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508242" y="6093142"/>
              <a:ext cx="4066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thinking 默认关闭——推理块会不可控吃掉输出预算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82" name="Line 82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6090971" cy="948690"/>
            <a:chOff x="899160" y="533400"/>
            <a:chExt cx="6090971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· 架构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609097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L3+L4 治理层：能力即安全边界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609600" y="1756410"/>
            <a:ext cx="5257800" cy="3810000"/>
            <a:chOff x="609600" y="1562100"/>
            <a:chExt cx="5257800" cy="3810000"/>
          </a:xfrm>
        </p:grpSpPr>
        <p:sp>
          <p:nvSpPr>
            <p:cNvPr id="7" name="Rectangle 7"/>
            <p:cNvSpPr/>
            <p:nvPr/>
          </p:nvSpPr>
          <p:spPr>
            <a:xfrm>
              <a:off x="609600" y="1562100"/>
              <a:ext cx="5257800" cy="3810000"/>
            </a:xfrm>
            <a:prstGeom prst="roundRect">
              <a:avLst>
                <a:gd name="adj" fmla="val 3000"/>
              </a:avLst>
            </a:prstGeom>
            <a:solidFill>
              <a:schemeClr val="accent5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07060" y="1788319"/>
              <a:ext cx="224229" cy="214312"/>
              <a:chOff x="907060" y="1788319"/>
              <a:chExt cx="224229" cy="2143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07060" y="1788319"/>
                <a:ext cx="22422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24229" h="214312">
                    <a:moveTo>
                      <a:pt x="112115" y="0"/>
                    </a:moveTo>
                    <a:cubicBezTo>
                      <a:pt x="139926" y="24605"/>
                      <a:pt x="176223" y="37416"/>
                      <a:pt x="213318" y="35719"/>
                    </a:cubicBezTo>
                    <a:cubicBezTo>
                      <a:pt x="224229" y="72837"/>
                      <a:pt x="219621" y="112793"/>
                      <a:pt x="200547" y="146453"/>
                    </a:cubicBezTo>
                    <a:cubicBezTo>
                      <a:pt x="181473" y="180113"/>
                      <a:pt x="149564" y="204599"/>
                      <a:pt x="112115" y="214312"/>
                    </a:cubicBezTo>
                    <a:cubicBezTo>
                      <a:pt x="74665" y="204599"/>
                      <a:pt x="42756" y="180113"/>
                      <a:pt x="23682" y="146453"/>
                    </a:cubicBezTo>
                    <a:cubicBezTo>
                      <a:pt x="4608" y="112793"/>
                      <a:pt x="0" y="72837"/>
                      <a:pt x="10911" y="35719"/>
                    </a:cubicBezTo>
                    <a:cubicBezTo>
                      <a:pt x="48006" y="37416"/>
                      <a:pt x="84304" y="24605"/>
                      <a:pt x="112115" y="0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07269" y="1871662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19175" y="1895475"/>
                <a:ext cx="9525" cy="2976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766">
                    <a:moveTo>
                      <a:pt x="0" y="0"/>
                    </a:moveTo>
                    <a:lnTo>
                      <a:pt x="0" y="29766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87780" y="1809750"/>
              <a:ext cx="22783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权限矩阵（角色 × 能力）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934188" y="2175510"/>
              <a:ext cx="2610124" cy="234696"/>
              <a:chOff x="2934188" y="2175510"/>
              <a:chExt cx="2610124" cy="234696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2934188" y="2175510"/>
                <a:ext cx="8372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建子 Agent</a:t>
                </a:r>
                <a:endPara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071366" y="2175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访问工具</a:t>
                </a:r>
                <a:endPara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047488" y="2175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写报告</a:t>
                </a:r>
                <a:endPara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876300" y="24003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1B2A4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45642" y="2540318"/>
              <a:ext cx="4416933" cy="2454783"/>
              <a:chOff x="945642" y="2540318"/>
              <a:chExt cx="4416933" cy="2454783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45642" y="25403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编排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3286125" y="25622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333875" y="25622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5229225" y="256222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45642" y="29784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采集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3286125" y="300037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4333875" y="30003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229225" y="300037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45642" y="34166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研判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3286125" y="343852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333875" y="34385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5229225" y="343852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45642" y="3854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3286125" y="387667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333875" y="38766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229225" y="3876675"/>
                <a:ext cx="133350" cy="1333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45642" y="42929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评审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3286125" y="431482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4333875" y="43148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5229225" y="431482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45642" y="47310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引用核验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3286125" y="475297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4333875" y="475297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229225" y="4752975"/>
                <a:ext cx="133350" cy="133350"/>
              </a:xfrm>
              <a:prstGeom prst="ellipse">
                <a:avLst/>
              </a:prstGeom>
              <a:noFill/>
              <a:ln w="14288">
                <a:solidFill>
                  <a:srgbClr val="263450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869442" y="5054918"/>
              <a:ext cx="3296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越权调用 → 直接返回 Permission denied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86500" y="1758950"/>
            <a:ext cx="4554893" cy="2375726"/>
            <a:chOff x="6286500" y="1704975"/>
            <a:chExt cx="4554893" cy="2375726"/>
          </a:xfrm>
        </p:grpSpPr>
        <p:grpSp>
          <p:nvGrpSpPr>
            <p:cNvPr id="49" name="Group 49"/>
            <p:cNvGrpSpPr/>
            <p:nvPr/>
          </p:nvGrpSpPr>
          <p:grpSpPr>
            <a:xfrm>
              <a:off x="6286500" y="1704975"/>
              <a:ext cx="4554893" cy="546926"/>
              <a:chOff x="6286500" y="1704975"/>
              <a:chExt cx="4554893" cy="546926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6286500" y="1771650"/>
                <a:ext cx="304800" cy="3048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386158" y="18516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74180" y="17049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任务级动态估算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774942" y="1987868"/>
                <a:ext cx="40664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按实体数 / 证据数 / 时间窗口系数，参数来自实测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0" name="Line 50"/>
            <p:cNvSpPr/>
            <p:nvPr/>
          </p:nvSpPr>
          <p:spPr>
            <a:xfrm>
              <a:off x="6438900" y="2133600"/>
              <a:ext cx="1" cy="2286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286500" y="2619375"/>
              <a:ext cx="3618948" cy="546926"/>
              <a:chOff x="6286500" y="2619375"/>
              <a:chExt cx="3618948" cy="546926"/>
            </a:xfrm>
          </p:grpSpPr>
          <p:sp>
            <p:nvSpPr>
              <p:cNvPr id="51" name="Ellipse 51"/>
              <p:cNvSpPr/>
              <p:nvPr/>
            </p:nvSpPr>
            <p:spPr>
              <a:xfrm>
                <a:off x="6286500" y="2686050"/>
                <a:ext cx="304800" cy="3048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386158" y="2766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774180" y="26193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执行中逐节点精化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774942" y="2902268"/>
                <a:ext cx="313050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搜索 / 抓取配额随计划与证据动态收紧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6" name="Line 56"/>
            <p:cNvSpPr/>
            <p:nvPr/>
          </p:nvSpPr>
          <p:spPr>
            <a:xfrm>
              <a:off x="6438900" y="3048000"/>
              <a:ext cx="1" cy="228600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286500" y="3533775"/>
              <a:ext cx="3591687" cy="546926"/>
              <a:chOff x="6286500" y="3533775"/>
              <a:chExt cx="3591687" cy="546926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286500" y="3600450"/>
                <a:ext cx="304800" cy="3048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6386158" y="3680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774180" y="35337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耗尽时诚实降级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774942" y="38166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占位报告说明原因与建议，</a:t>
                </a:r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不出假报告</a:t>
                </a:r>
                <a:endPara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6172200" y="4530725"/>
            <a:ext cx="5334000" cy="1162050"/>
            <a:chOff x="6172200" y="4476750"/>
            <a:chExt cx="5334000" cy="1162050"/>
          </a:xfrm>
        </p:grpSpPr>
        <p:sp>
          <p:nvSpPr>
            <p:cNvPr id="63" name="Rectangle 63"/>
            <p:cNvSpPr/>
            <p:nvPr/>
          </p:nvSpPr>
          <p:spPr>
            <a:xfrm>
              <a:off x="6172200" y="4476750"/>
              <a:ext cx="5334000" cy="1162050"/>
            </a:xfrm>
            <a:prstGeom prst="roundRect">
              <a:avLst>
                <a:gd name="adj" fmla="val 9836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474619" y="4702969"/>
              <a:ext cx="214313" cy="211931"/>
              <a:chOff x="6474619" y="4702969"/>
              <a:chExt cx="214313" cy="211931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522244" y="4905375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510338" y="4726781"/>
                <a:ext cx="14287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1906">
                    <a:moveTo>
                      <a:pt x="0" y="11906"/>
                    </a:moveTo>
                    <a:lnTo>
                      <a:pt x="71438" y="0"/>
                    </a:lnTo>
                    <a:lnTo>
                      <a:pt x="142875" y="11906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81775" y="4702969"/>
                <a:ext cx="9525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06">
                    <a:moveTo>
                      <a:pt x="0" y="0"/>
                    </a:moveTo>
                    <a:lnTo>
                      <a:pt x="0" y="202406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474619" y="473868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617494" y="4738688"/>
                <a:ext cx="71438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07156">
                    <a:moveTo>
                      <a:pt x="71438" y="71438"/>
                    </a:moveTo>
                    <a:lnTo>
                      <a:pt x="35719" y="0"/>
                    </a:lnTo>
                    <a:lnTo>
                      <a:pt x="0" y="71438"/>
                    </a:lnTo>
                    <a:cubicBezTo>
                      <a:pt x="0" y="91164"/>
                      <a:pt x="15992" y="107156"/>
                      <a:pt x="35719" y="107156"/>
                    </a:cubicBezTo>
                    <a:cubicBezTo>
                      <a:pt x="55446" y="107156"/>
                      <a:pt x="71438" y="91164"/>
                      <a:pt x="71438" y="71438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69430" y="47148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三本账分开记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70192" y="5016818"/>
              <a:ext cx="4486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检索调用次数 ／ LLM token ／ 付费联网搜索独立限额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70192" y="52835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全链路动作流水，审计留痕可回查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74" name="Line 74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6384012" cy="948690"/>
            <a:chOff x="899160" y="533400"/>
            <a:chExt cx="6384012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· 架构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63840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L5 Surface：波次并行，事件溯源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2742" y="1619250"/>
            <a:ext cx="10446258" cy="1947101"/>
            <a:chOff x="602742" y="1619250"/>
            <a:chExt cx="10446258" cy="1947101"/>
          </a:xfrm>
        </p:grpSpPr>
        <p:sp>
          <p:nvSpPr>
            <p:cNvPr id="7" name="Line 7"/>
            <p:cNvSpPr/>
            <p:nvPr/>
          </p:nvSpPr>
          <p:spPr>
            <a:xfrm>
              <a:off x="1905000" y="1828800"/>
              <a:ext cx="914400" cy="438150"/>
            </a:xfrm>
            <a:custGeom>
              <a:avLst/>
              <a:gdLst/>
              <a:ahLst/>
              <a:cxnLst/>
              <a:rect l="l" t="t" r="r" b="b"/>
              <a:pathLst>
                <a:path w="914400" h="438150">
                  <a:moveTo>
                    <a:pt x="0" y="43815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905000" y="2266950"/>
              <a:ext cx="91440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1905000" y="2266950"/>
              <a:ext cx="914400" cy="438150"/>
            </a:xfrm>
            <a:custGeom>
              <a:avLst/>
              <a:gdLst/>
              <a:ahLst/>
              <a:cxnLst/>
              <a:rect l="l" t="t" r="r" b="b"/>
              <a:pathLst>
                <a:path w="914400" h="438150">
                  <a:moveTo>
                    <a:pt x="0" y="0"/>
                  </a:moveTo>
                  <a:lnTo>
                    <a:pt x="914400" y="4381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191000" y="1828800"/>
              <a:ext cx="914400" cy="438150"/>
            </a:xfrm>
            <a:custGeom>
              <a:avLst/>
              <a:gdLst/>
              <a:ahLst/>
              <a:cxnLst/>
              <a:rect l="l" t="t" r="r" b="b"/>
              <a:pathLst>
                <a:path w="914400" h="438150">
                  <a:moveTo>
                    <a:pt x="0" y="0"/>
                  </a:moveTo>
                  <a:lnTo>
                    <a:pt x="914400" y="4381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191000" y="2266950"/>
              <a:ext cx="914400" cy="438150"/>
            </a:xfrm>
            <a:custGeom>
              <a:avLst/>
              <a:gdLst/>
              <a:ahLst/>
              <a:cxnLst/>
              <a:rect l="l" t="t" r="r" b="b"/>
              <a:pathLst>
                <a:path w="914400" h="438150">
                  <a:moveTo>
                    <a:pt x="0" y="438150"/>
                  </a:moveTo>
                  <a:lnTo>
                    <a:pt x="9144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191250" y="2266950"/>
              <a:ext cx="476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7715250" y="2266950"/>
              <a:ext cx="476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9239250" y="2266950"/>
              <a:ext cx="4762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62000" y="2000250"/>
              <a:ext cx="1143000" cy="533400"/>
              <a:chOff x="762000" y="2000250"/>
              <a:chExt cx="1143000" cy="533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2000250"/>
                <a:ext cx="11430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23950" y="21621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编排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857500" y="1619250"/>
              <a:ext cx="1333500" cy="1295400"/>
              <a:chOff x="2857500" y="1619250"/>
              <a:chExt cx="1333500" cy="1295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57500" y="1619250"/>
                <a:ext cx="1333500" cy="419100"/>
              </a:xfrm>
              <a:prstGeom prst="roundRect">
                <a:avLst>
                  <a:gd name="adj" fmla="val 27273"/>
                </a:avLst>
              </a:prstGeom>
              <a:solidFill>
                <a:schemeClr val="accent5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190951" y="1740218"/>
                <a:ext cx="6665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采集 ×N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2857500" y="2057400"/>
                <a:ext cx="1333500" cy="419100"/>
              </a:xfrm>
              <a:prstGeom prst="roundRect">
                <a:avLst>
                  <a:gd name="adj" fmla="val 27273"/>
                </a:avLst>
              </a:prstGeom>
              <a:solidFill>
                <a:schemeClr val="accent5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881312" y="21783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（每竞品并行）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857500" y="2495550"/>
                <a:ext cx="1333500" cy="419100"/>
              </a:xfrm>
              <a:prstGeom prst="roundRect">
                <a:avLst>
                  <a:gd name="adj" fmla="val 27273"/>
                </a:avLst>
              </a:prstGeom>
              <a:solidFill>
                <a:schemeClr val="accent5"/>
              </a:solidFill>
              <a:ln w="9525">
                <a:solidFill>
                  <a:schemeClr val="accent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022159" y="2616518"/>
                <a:ext cx="10041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max_iter=6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143500" y="2000250"/>
              <a:ext cx="1047750" cy="533400"/>
              <a:chOff x="5143500" y="2000250"/>
              <a:chExt cx="1047750" cy="5334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143500" y="2000250"/>
                <a:ext cx="104775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457825" y="21621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分析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667500" y="2000250"/>
              <a:ext cx="1047750" cy="533400"/>
              <a:chOff x="6667500" y="2000250"/>
              <a:chExt cx="104775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67500" y="2000250"/>
                <a:ext cx="104775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981825" y="21621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191500" y="2000250"/>
              <a:ext cx="1047750" cy="533400"/>
              <a:chOff x="8191500" y="2000250"/>
              <a:chExt cx="1047750" cy="5334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191500" y="2000250"/>
                <a:ext cx="104775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505825" y="21621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评审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715500" y="2000250"/>
              <a:ext cx="1333500" cy="533400"/>
              <a:chOff x="9715500" y="2000250"/>
              <a:chExt cx="1333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9715500" y="2000250"/>
                <a:ext cx="13335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970770" y="21621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引用核验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602742" y="2997518"/>
              <a:ext cx="6974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波次拓扑执行：每轮运行所有依赖就绪的节点 · 无就绪节点且未完成 → 判死锁，防挂死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2742" y="3302318"/>
              <a:ext cx="6395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执行后节点状态 / 耗时 / Token / 检索指标写回任务记录，前端实时渲染 DAG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00456" y="3729990"/>
            <a:ext cx="10517410" cy="2547366"/>
            <a:chOff x="600456" y="3729990"/>
            <a:chExt cx="10517410" cy="2547366"/>
          </a:xfrm>
        </p:grpSpPr>
        <p:sp>
          <p:nvSpPr>
            <p:cNvPr id="40" name="TextBox 40"/>
            <p:cNvSpPr txBox="1"/>
            <p:nvPr/>
          </p:nvSpPr>
          <p:spPr>
            <a:xfrm>
              <a:off x="600456" y="37299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事件溯源：一条事件流，三个投递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62000" y="4573905"/>
              <a:ext cx="1905000" cy="533400"/>
              <a:chOff x="762000" y="4573905"/>
              <a:chExt cx="1905000" cy="5334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4573905"/>
                <a:ext cx="19050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accent5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067019" y="4752023"/>
                <a:ext cx="12949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节点事件 seq++</a:t>
                </a:r>
                <a:endParaRPr lang="zh-CN" sz="13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2667000" y="4840605"/>
              <a:ext cx="9715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3657600" y="4445635"/>
              <a:ext cx="876300" cy="876300"/>
              <a:chOff x="3657600" y="4445635"/>
              <a:chExt cx="876300" cy="87630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3657600" y="4445635"/>
                <a:ext cx="876300" cy="87630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663139" y="4729162"/>
                <a:ext cx="8652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EventBus</a:t>
                </a:r>
                <a:endParaRPr lang="zh-CN" sz="13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48" name="Line 48"/>
            <p:cNvSpPr/>
            <p:nvPr/>
          </p:nvSpPr>
          <p:spPr>
            <a:xfrm>
              <a:off x="4533646" y="4305300"/>
              <a:ext cx="1181100" cy="534670"/>
            </a:xfrm>
            <a:custGeom>
              <a:avLst/>
              <a:gdLst/>
              <a:ahLst/>
              <a:cxnLst/>
              <a:rect l="l" t="t" r="r" b="b"/>
              <a:pathLst>
                <a:path w="1181100" h="438150">
                  <a:moveTo>
                    <a:pt x="0" y="438150"/>
                  </a:moveTo>
                  <a:lnTo>
                    <a:pt x="11811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527931" y="4840605"/>
              <a:ext cx="1186815" cy="112395"/>
            </a:xfrm>
            <a:custGeom>
              <a:avLst/>
              <a:gdLst/>
              <a:ahLst/>
              <a:cxnLst/>
              <a:rect l="l" t="t" r="r" b="b"/>
              <a:pathLst>
                <a:path w="1181100" h="209550">
                  <a:moveTo>
                    <a:pt x="0" y="0"/>
                  </a:moveTo>
                  <a:lnTo>
                    <a:pt x="1181100" y="2095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533646" y="4840605"/>
              <a:ext cx="1181100" cy="760095"/>
            </a:xfrm>
            <a:custGeom>
              <a:avLst/>
              <a:gdLst/>
              <a:ahLst/>
              <a:cxnLst/>
              <a:rect l="l" t="t" r="r" b="b"/>
              <a:pathLst>
                <a:path w="1181100" h="857250">
                  <a:moveTo>
                    <a:pt x="0" y="0"/>
                  </a:moveTo>
                  <a:lnTo>
                    <a:pt x="1181100" y="8572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753100" y="4076700"/>
              <a:ext cx="2190750" cy="457200"/>
              <a:chOff x="5753100" y="4076700"/>
              <a:chExt cx="2190750" cy="4572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5753100" y="4076700"/>
                <a:ext cx="219075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5953125" y="4219575"/>
                <a:ext cx="171450" cy="171450"/>
                <a:chOff x="5953125" y="4219575"/>
                <a:chExt cx="171450" cy="17145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5972175" y="42386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123825" y="0"/>
                      </a:lnTo>
                      <a:cubicBezTo>
                        <a:pt x="129086" y="0"/>
                        <a:pt x="133350" y="4264"/>
                        <a:pt x="133350" y="9525"/>
                      </a:cubicBezTo>
                      <a:lnTo>
                        <a:pt x="133350" y="123825"/>
                      </a:lnTo>
                      <a:cubicBezTo>
                        <a:pt x="133350" y="129086"/>
                        <a:pt x="129086" y="133350"/>
                        <a:pt x="123825" y="133350"/>
                      </a:cubicBezTo>
                      <a:lnTo>
                        <a:pt x="9525" y="133350"/>
                      </a:lnTo>
                      <a:cubicBezTo>
                        <a:pt x="4264" y="133350"/>
                        <a:pt x="0" y="129086"/>
                        <a:pt x="0" y="12382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010275" y="42767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57150"/>
                      </a:lnTo>
                      <a:lnTo>
                        <a:pt x="0" y="5715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5953125" y="42862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5953125" y="43243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0" y="0"/>
                      </a:moveTo>
                      <a:lnTo>
                        <a:pt x="190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019800" y="421957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6057900" y="421957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6105525" y="42862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190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6105525" y="4324350"/>
                  <a:ext cx="190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9525">
                      <a:moveTo>
                        <a:pt x="1905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6057900" y="437197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6019800" y="4371975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190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6279642" y="42167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内存分发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5753100" y="4724400"/>
              <a:ext cx="2190750" cy="457200"/>
              <a:chOff x="5753100" y="4724400"/>
              <a:chExt cx="2190750" cy="4572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5753100" y="4724400"/>
                <a:ext cx="219075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5962650" y="4867275"/>
                <a:ext cx="152400" cy="171450"/>
                <a:chOff x="5962650" y="4867275"/>
                <a:chExt cx="152400" cy="171450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5962650" y="486727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5962650" y="48958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5962650" y="49530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6279642" y="4864418"/>
                <a:ext cx="12377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SQLite 持久化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5753100" y="5372100"/>
              <a:ext cx="2190750" cy="457200"/>
              <a:chOff x="5753100" y="5372100"/>
              <a:chExt cx="2190750" cy="4572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5753100" y="5372100"/>
                <a:ext cx="2190750" cy="457200"/>
              </a:xfrm>
              <a:prstGeom prst="roundRect">
                <a:avLst>
                  <a:gd name="adj" fmla="val 25000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5944756" y="5516131"/>
                <a:ext cx="188189" cy="154711"/>
                <a:chOff x="5944756" y="5516131"/>
                <a:chExt cx="188189" cy="154711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5944756" y="5516131"/>
                  <a:ext cx="188189" cy="154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189" h="154711">
                      <a:moveTo>
                        <a:pt x="154712" y="154711"/>
                      </a:moveTo>
                      <a:cubicBezTo>
                        <a:pt x="188189" y="121233"/>
                        <a:pt x="188189" y="66955"/>
                        <a:pt x="154711" y="33478"/>
                      </a:cubicBezTo>
                      <a:cubicBezTo>
                        <a:pt x="121233" y="0"/>
                        <a:pt x="66956" y="0"/>
                        <a:pt x="33478" y="33478"/>
                      </a:cubicBezTo>
                      <a:cubicBezTo>
                        <a:pt x="0" y="66955"/>
                        <a:pt x="0" y="121233"/>
                        <a:pt x="33477" y="154711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4" name="Freeform 74"/>
                <p:cNvSpPr/>
                <p:nvPr/>
              </p:nvSpPr>
              <p:spPr>
                <a:xfrm>
                  <a:off x="5986574" y="5557960"/>
                  <a:ext cx="104551" cy="85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51" h="85946">
                      <a:moveTo>
                        <a:pt x="85956" y="85946"/>
                      </a:moveTo>
                      <a:cubicBezTo>
                        <a:pt x="104551" y="67346"/>
                        <a:pt x="104548" y="37193"/>
                        <a:pt x="85950" y="18597"/>
                      </a:cubicBezTo>
                      <a:cubicBezTo>
                        <a:pt x="67352" y="0"/>
                        <a:pt x="37199" y="0"/>
                        <a:pt x="18601" y="18597"/>
                      </a:cubicBezTo>
                      <a:cubicBezTo>
                        <a:pt x="3" y="37193"/>
                        <a:pt x="0" y="67346"/>
                        <a:pt x="18595" y="85946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5" name="Freeform 75"/>
                <p:cNvSpPr/>
                <p:nvPr/>
              </p:nvSpPr>
              <p:spPr>
                <a:xfrm>
                  <a:off x="6029325" y="56007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77" name="TextBox 77"/>
              <p:cNvSpPr txBox="1"/>
              <p:nvPr/>
            </p:nvSpPr>
            <p:spPr>
              <a:xfrm>
                <a:off x="6279642" y="5512118"/>
                <a:ext cx="7722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SSE 推送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8241792" y="4216718"/>
              <a:ext cx="2876074" cy="1483233"/>
              <a:chOff x="8241792" y="4216718"/>
              <a:chExt cx="2876074" cy="1483233"/>
            </a:xfrm>
          </p:grpSpPr>
          <p:sp>
            <p:nvSpPr>
              <p:cNvPr id="79" name="TextBox 79"/>
              <p:cNvSpPr txBox="1"/>
              <p:nvPr/>
            </p:nvSpPr>
            <p:spPr>
              <a:xfrm>
                <a:off x="8241792" y="4216718"/>
                <a:ext cx="17899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前端 DAG 图实时渲染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8241792" y="4864418"/>
                <a:ext cx="28760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task_events 表 · 按 seq 断点续传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8241792" y="5435918"/>
                <a:ext cx="26034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断线重连 · seq 去重 · 轮询兜底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5747004" y="6042660"/>
              <a:ext cx="3451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节点状态 / Token / 检索指标全部结构化进事件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85" name="Line 85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5986691" cy="948690"/>
            <a:chOff x="899160" y="533400"/>
            <a:chExt cx="5986691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· 架构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598669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为什么不用 LangChain 等框架？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09600" y="1524000"/>
            <a:ext cx="10972800" cy="3505200"/>
            <a:chOff x="609600" y="1524000"/>
            <a:chExt cx="10972800" cy="3505200"/>
          </a:xfrm>
        </p:grpSpPr>
        <p:grpSp>
          <p:nvGrpSpPr>
            <p:cNvPr id="16" name="Group 16"/>
            <p:cNvGrpSpPr/>
            <p:nvPr/>
          </p:nvGrpSpPr>
          <p:grpSpPr>
            <a:xfrm>
              <a:off x="609600" y="1524000"/>
              <a:ext cx="3435782" cy="1676400"/>
              <a:chOff x="609600" y="1524000"/>
              <a:chExt cx="3435782" cy="1676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524000"/>
                <a:ext cx="3429000" cy="1676400"/>
              </a:xfrm>
              <a:prstGeom prst="roundRect">
                <a:avLst>
                  <a:gd name="adj" fmla="val 6818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70204" y="16611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zh-CN" sz="12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1159669" y="1647825"/>
                <a:ext cx="214312" cy="190500"/>
                <a:chOff x="1159669" y="1647825"/>
                <a:chExt cx="214312" cy="1905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59669" y="16954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47625" y="0"/>
                      </a:moveTo>
                      <a:lnTo>
                        <a:pt x="0" y="47625"/>
                      </a:lnTo>
                      <a:lnTo>
                        <a:pt x="47625" y="9525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326356" y="16954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0"/>
                      </a:moveTo>
                      <a:lnTo>
                        <a:pt x="47625" y="47625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43012" y="1647825"/>
                  <a:ext cx="476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190500">
                      <a:moveTo>
                        <a:pt x="47625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552956" y="16344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循环本身极简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9442" y="2121218"/>
                <a:ext cx="31759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while 循环 + 工具调用，1600 行写透，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69442" y="23879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框架抽象的收益远小于成本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381500" y="1524000"/>
              <a:ext cx="3429000" cy="1676400"/>
              <a:chOff x="4381500" y="1524000"/>
              <a:chExt cx="3429000" cy="1676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81500" y="1524000"/>
                <a:ext cx="3429000" cy="1676400"/>
              </a:xfrm>
              <a:prstGeom prst="roundRect">
                <a:avLst>
                  <a:gd name="adj" fmla="val 6818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42104" y="16611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zh-CN" sz="12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4931569" y="1635919"/>
                <a:ext cx="214312" cy="214312"/>
                <a:chOff x="4931569" y="1635919"/>
                <a:chExt cx="214312" cy="21431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5012580" y="1726251"/>
                  <a:ext cx="42981" cy="4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81" h="42975">
                      <a:moveTo>
                        <a:pt x="9298" y="0"/>
                      </a:moveTo>
                      <a:cubicBezTo>
                        <a:pt x="0" y="9301"/>
                        <a:pt x="3" y="24379"/>
                        <a:pt x="9304" y="33677"/>
                      </a:cubicBezTo>
                      <a:cubicBezTo>
                        <a:pt x="18605" y="42975"/>
                        <a:pt x="33683" y="42972"/>
                        <a:pt x="42981" y="33671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931569" y="1671619"/>
                  <a:ext cx="214312" cy="143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3024">
                      <a:moveTo>
                        <a:pt x="162889" y="127094"/>
                      </a:moveTo>
                      <a:cubicBezTo>
                        <a:pt x="146188" y="137544"/>
                        <a:pt x="126857" y="143024"/>
                        <a:pt x="107156" y="142894"/>
                      </a:cubicBezTo>
                      <a:cubicBezTo>
                        <a:pt x="64294" y="142894"/>
                        <a:pt x="28575" y="119081"/>
                        <a:pt x="0" y="71456"/>
                      </a:cubicBezTo>
                      <a:cubicBezTo>
                        <a:pt x="15145" y="46215"/>
                        <a:pt x="32290" y="27665"/>
                        <a:pt x="51435" y="15806"/>
                      </a:cubicBezTo>
                      <a:moveTo>
                        <a:pt x="85487" y="2162"/>
                      </a:moveTo>
                      <a:cubicBezTo>
                        <a:pt x="92619" y="718"/>
                        <a:pt x="99879" y="0"/>
                        <a:pt x="107156" y="19"/>
                      </a:cubicBezTo>
                      <a:cubicBezTo>
                        <a:pt x="150019" y="19"/>
                        <a:pt x="185738" y="23831"/>
                        <a:pt x="214312" y="71456"/>
                      </a:cubicBezTo>
                      <a:cubicBezTo>
                        <a:pt x="206383" y="84672"/>
                        <a:pt x="197894" y="96066"/>
                        <a:pt x="188857" y="105627"/>
                      </a:cubicBez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931569" y="16359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0"/>
                      </a:moveTo>
                      <a:lnTo>
                        <a:pt x="214312" y="214312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5324856" y="16344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抽象是黑盒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41342" y="2121218"/>
                <a:ext cx="28851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prompt 组装、上下文拼接被代劳，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41342" y="23879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出问题要穿透层层抽象救火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153400" y="1524000"/>
              <a:ext cx="3429000" cy="1676400"/>
              <a:chOff x="8153400" y="1524000"/>
              <a:chExt cx="3429000" cy="1676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153400" y="1524000"/>
                <a:ext cx="3429000" cy="1676400"/>
              </a:xfrm>
              <a:prstGeom prst="roundRect">
                <a:avLst>
                  <a:gd name="adj" fmla="val 6818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14004" y="16611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zh-CN" sz="12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8727281" y="16359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95250" y="0"/>
                    </a:moveTo>
                    <a:lnTo>
                      <a:pt x="95250" y="83344"/>
                    </a:lnTo>
                    <a:lnTo>
                      <a:pt x="166688" y="83344"/>
                    </a:lnTo>
                    <a:lnTo>
                      <a:pt x="71438" y="214312"/>
                    </a:lnTo>
                    <a:lnTo>
                      <a:pt x="71438" y="130969"/>
                    </a:lnTo>
                    <a:lnTo>
                      <a:pt x="0" y="130969"/>
                    </a:ln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096756" y="16344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机制要当一等公民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13242" y="2121218"/>
                <a:ext cx="29760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棘轮 / 预算 / 权限长在循环骨架上，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13242" y="23879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塞进框架只能靠扩展点硬改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9600" y="3352800"/>
              <a:ext cx="3429000" cy="1676400"/>
              <a:chOff x="609600" y="3352800"/>
              <a:chExt cx="3429000" cy="1676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09600" y="3352800"/>
                <a:ext cx="3429000" cy="1676400"/>
              </a:xfrm>
              <a:prstGeom prst="roundRect">
                <a:avLst>
                  <a:gd name="adj" fmla="val 6818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70204" y="34899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04</a:t>
                </a:r>
                <a:endParaRPr lang="zh-CN" sz="12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1159669" y="3464719"/>
                <a:ext cx="214312" cy="214312"/>
                <a:chOff x="1159669" y="3464719"/>
                <a:chExt cx="214312" cy="21431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159669" y="346471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231106" y="3523954"/>
                  <a:ext cx="71438" cy="95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95842">
                      <a:moveTo>
                        <a:pt x="69056" y="12202"/>
                      </a:moveTo>
                      <a:cubicBezTo>
                        <a:pt x="64661" y="4579"/>
                        <a:pt x="56420" y="0"/>
                        <a:pt x="47625" y="296"/>
                      </a:cubicBezTo>
                      <a:lnTo>
                        <a:pt x="23812" y="296"/>
                      </a:lnTo>
                      <a:cubicBezTo>
                        <a:pt x="10661" y="296"/>
                        <a:pt x="0" y="10957"/>
                        <a:pt x="0" y="24109"/>
                      </a:cubicBezTo>
                      <a:cubicBezTo>
                        <a:pt x="0" y="37260"/>
                        <a:pt x="10661" y="47921"/>
                        <a:pt x="23812" y="47921"/>
                      </a:cubicBezTo>
                      <a:lnTo>
                        <a:pt x="47625" y="47921"/>
                      </a:lnTo>
                      <a:cubicBezTo>
                        <a:pt x="60776" y="47921"/>
                        <a:pt x="71438" y="58582"/>
                        <a:pt x="71438" y="71734"/>
                      </a:cubicBezTo>
                      <a:cubicBezTo>
                        <a:pt x="71438" y="84885"/>
                        <a:pt x="60776" y="95546"/>
                        <a:pt x="47625" y="95546"/>
                      </a:cubicBezTo>
                      <a:lnTo>
                        <a:pt x="23812" y="95546"/>
                      </a:lnTo>
                      <a:cubicBezTo>
                        <a:pt x="15018" y="95842"/>
                        <a:pt x="6776" y="91264"/>
                        <a:pt x="2381" y="83640"/>
                      </a:cubicBez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266825" y="3512344"/>
                  <a:ext cx="952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19062">
                      <a:moveTo>
                        <a:pt x="0" y="0"/>
                      </a:moveTo>
                      <a:lnTo>
                        <a:pt x="0" y="119062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552956" y="34632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成本要精细控制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9442" y="3950018"/>
                <a:ext cx="20205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input 历史回传占 </a:t>
                </a:r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82%</a:t>
                </a:r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9442" y="42167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每轮回传与截断必须亲手控制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381500" y="3352800"/>
              <a:ext cx="3429000" cy="1676400"/>
              <a:chOff x="4381500" y="3352800"/>
              <a:chExt cx="3429000" cy="16764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381500" y="3352800"/>
                <a:ext cx="3429000" cy="1676400"/>
              </a:xfrm>
              <a:prstGeom prst="roundRect">
                <a:avLst>
                  <a:gd name="adj" fmla="val 6818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642104" y="34899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05</a:t>
                </a:r>
                <a:endParaRPr lang="zh-CN" sz="12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4943475" y="3464719"/>
                <a:ext cx="190500" cy="214312"/>
                <a:chOff x="4943475" y="3464719"/>
                <a:chExt cx="190500" cy="21431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4943475" y="3464719"/>
                  <a:ext cx="190500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14312">
                      <a:moveTo>
                        <a:pt x="95250" y="0"/>
                      </a:moveTo>
                      <a:lnTo>
                        <a:pt x="190500" y="53578"/>
                      </a:lnTo>
                      <a:lnTo>
                        <a:pt x="190500" y="160734"/>
                      </a:lnTo>
                      <a:lnTo>
                        <a:pt x="95250" y="214312"/>
                      </a:lnTo>
                      <a:lnTo>
                        <a:pt x="0" y="160734"/>
                      </a:lnTo>
                      <a:lnTo>
                        <a:pt x="0" y="53578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5038725" y="3518297"/>
                  <a:ext cx="95250" cy="53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53578">
                      <a:moveTo>
                        <a:pt x="0" y="53578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5038725" y="3571875"/>
                  <a:ext cx="9525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7156">
                      <a:moveTo>
                        <a:pt x="0" y="0"/>
                      </a:moveTo>
                      <a:lnTo>
                        <a:pt x="0" y="107156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4943475" y="3518297"/>
                  <a:ext cx="95250" cy="53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53578">
                      <a:moveTo>
                        <a:pt x="95250" y="5357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4991100" y="3491508"/>
                  <a:ext cx="95250" cy="53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53578">
                      <a:moveTo>
                        <a:pt x="95250" y="0"/>
                      </a:moveTo>
                      <a:lnTo>
                        <a:pt x="0" y="53578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5324856" y="34632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依赖要收敛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641342" y="3950018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框架迭代快、破坏性变更频繁，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641342" y="4216718"/>
                <a:ext cx="26021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我们只依赖模型 SDK + FastAPI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8153400" y="3352800"/>
              <a:ext cx="3429000" cy="1676400"/>
              <a:chOff x="8153400" y="3352800"/>
              <a:chExt cx="3429000" cy="16764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8153400" y="3352800"/>
                <a:ext cx="3429000" cy="1676400"/>
              </a:xfrm>
              <a:prstGeom prst="roundRect">
                <a:avLst>
                  <a:gd name="adj" fmla="val 6818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414004" y="34899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06</a:t>
                </a:r>
                <a:endParaRPr lang="zh-CN" sz="12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8691562" y="3488531"/>
                <a:ext cx="238125" cy="166687"/>
                <a:chOff x="8691562" y="3488531"/>
                <a:chExt cx="238125" cy="166687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8691562" y="3488531"/>
                  <a:ext cx="238125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19062">
                      <a:moveTo>
                        <a:pt x="238125" y="47625"/>
                      </a:moveTo>
                      <a:lnTo>
                        <a:pt x="119062" y="0"/>
                      </a:lnTo>
                      <a:lnTo>
                        <a:pt x="0" y="47625"/>
                      </a:lnTo>
                      <a:lnTo>
                        <a:pt x="119062" y="95250"/>
                      </a:lnTo>
                      <a:lnTo>
                        <a:pt x="238125" y="47625"/>
                      </a:lnTo>
                      <a:lnTo>
                        <a:pt x="238125" y="119062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8739188" y="3555206"/>
                  <a:ext cx="1428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00012">
                      <a:moveTo>
                        <a:pt x="0" y="0"/>
                      </a:moveTo>
                      <a:lnTo>
                        <a:pt x="0" y="64294"/>
                      </a:lnTo>
                      <a:cubicBezTo>
                        <a:pt x="0" y="84021"/>
                        <a:pt x="31984" y="100012"/>
                        <a:pt x="71438" y="100012"/>
                      </a:cubicBezTo>
                      <a:cubicBezTo>
                        <a:pt x="110891" y="100012"/>
                        <a:pt x="142875" y="84021"/>
                        <a:pt x="142875" y="64294"/>
                      </a:cubicBezTo>
                      <a:lnTo>
                        <a:pt x="142875" y="0"/>
                      </a:lnTo>
                    </a:path>
                  </a:pathLst>
                </a:custGeom>
                <a:noFill/>
                <a:ln w="23812">
                  <a:solidFill>
                    <a:schemeClr val="accent3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9096756" y="34632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能力要沉淀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413242" y="39500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每行循环代码都吃得透，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413242" y="4216718"/>
                <a:ext cx="21854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bug 五分钟定位到具体文件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9" name="Group 69"/>
          <p:cNvGrpSpPr/>
          <p:nvPr/>
        </p:nvGrpSpPr>
        <p:grpSpPr>
          <a:xfrm>
            <a:off x="609600" y="5295900"/>
            <a:ext cx="10972800" cy="800100"/>
            <a:chOff x="609600" y="5295900"/>
            <a:chExt cx="10972800" cy="800100"/>
          </a:xfrm>
        </p:grpSpPr>
        <p:sp>
          <p:nvSpPr>
            <p:cNvPr id="66" name="Rectangle 66"/>
            <p:cNvSpPr/>
            <p:nvPr/>
          </p:nvSpPr>
          <p:spPr>
            <a:xfrm>
              <a:off x="609600" y="5295900"/>
              <a:ext cx="10972800" cy="800100"/>
            </a:xfrm>
            <a:prstGeom prst="roundRect">
              <a:avLst>
                <a:gd name="adj" fmla="val 14286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  <a:effectLst>
              <a:glow rad="57150">
                <a:srgbClr val="2DD4BF">
                  <a:alpha val="25000"/>
                </a:srgbClr>
              </a:glow>
            </a:effectLst>
          </p:spPr>
        </p:sp>
        <p:sp>
          <p:nvSpPr>
            <p:cNvPr id="67" name="Rectangle 67"/>
            <p:cNvSpPr/>
            <p:nvPr/>
          </p:nvSpPr>
          <p:spPr>
            <a:xfrm>
              <a:off x="609600" y="5295900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268855" y="556450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框架提供的是</a:t>
              </a: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胶水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，而胶水恰恰是我们最需要自己掌控的部分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70" name="Line 70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8000365" cy="948690"/>
            <a:chOff x="899160" y="533400"/>
            <a:chExt cx="8000365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· 设计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800036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设计一：Hybrid DAG，能用代码绝不用模型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420100" y="1485900"/>
            <a:ext cx="3162300" cy="381000"/>
            <a:chOff x="8420100" y="1485900"/>
            <a:chExt cx="3162300" cy="381000"/>
          </a:xfrm>
        </p:grpSpPr>
        <p:sp>
          <p:nvSpPr>
            <p:cNvPr id="7" name="Rectangle 7"/>
            <p:cNvSpPr/>
            <p:nvPr/>
          </p:nvSpPr>
          <p:spPr>
            <a:xfrm>
              <a:off x="8420100" y="1485900"/>
              <a:ext cx="3162300" cy="3810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12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7004" y="1587818"/>
              <a:ext cx="3028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实测：单次日报 LLM 仅调用 5–6 次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2000250"/>
            <a:ext cx="10953750" cy="2228850"/>
            <a:chOff x="609600" y="2000250"/>
            <a:chExt cx="10953750" cy="2228850"/>
          </a:xfrm>
        </p:grpSpPr>
        <p:sp>
          <p:nvSpPr>
            <p:cNvPr id="10" name="Line 10"/>
            <p:cNvSpPr/>
            <p:nvPr/>
          </p:nvSpPr>
          <p:spPr>
            <a:xfrm>
              <a:off x="2419350" y="230505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4705350" y="230505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6991350" y="230505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9277350" y="230505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609600" y="2000250"/>
              <a:ext cx="1809750" cy="609600"/>
              <a:chOff x="609600" y="2000250"/>
              <a:chExt cx="1809750" cy="6096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09600" y="200025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03297" y="2225992"/>
                <a:ext cx="10223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load_config</a:t>
                </a:r>
                <a:endPara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895600" y="2000250"/>
              <a:ext cx="1809750" cy="609600"/>
              <a:chOff x="2895600" y="2000250"/>
              <a:chExt cx="1809750" cy="6096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2895600" y="200025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accent2">
                  <a:alpha val="1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430143" y="21688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微信导入</a:t>
                </a:r>
                <a:endPara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007109" y="2391728"/>
                <a:ext cx="15867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可选 · 允许一次深度思考</a:t>
                </a:r>
                <a:endPara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181600" y="2000250"/>
              <a:ext cx="1809750" cy="609600"/>
              <a:chOff x="5181600" y="2000250"/>
              <a:chExt cx="1809750" cy="6096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181600" y="200025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261800" y="222599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查询规划（模板化）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467600" y="2000250"/>
              <a:ext cx="1809750" cy="609600"/>
              <a:chOff x="7467600" y="2000250"/>
              <a:chExt cx="1809750" cy="6096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467600" y="200025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847152" y="2225992"/>
                <a:ext cx="1050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多源检索 ×N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753600" y="2000250"/>
              <a:ext cx="1809750" cy="609600"/>
              <a:chOff x="9753600" y="2000250"/>
              <a:chExt cx="1809750" cy="6096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9753600" y="200025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88143" y="222599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网页抓取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10915650" y="2762250"/>
              <a:ext cx="342900" cy="704850"/>
            </a:xfrm>
            <a:prstGeom prst="downArrow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 flipH="1">
              <a:off x="9353550" y="392430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2" name="Line 32"/>
            <p:cNvSpPr/>
            <p:nvPr/>
          </p:nvSpPr>
          <p:spPr>
            <a:xfrm flipH="1">
              <a:off x="7067550" y="392430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3" name="Line 33"/>
            <p:cNvSpPr/>
            <p:nvPr/>
          </p:nvSpPr>
          <p:spPr>
            <a:xfrm flipH="1">
              <a:off x="4781550" y="392430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4" name="Line 34"/>
            <p:cNvSpPr/>
            <p:nvPr/>
          </p:nvSpPr>
          <p:spPr>
            <a:xfrm flipH="1">
              <a:off x="2495550" y="3924300"/>
              <a:ext cx="400050" cy="1"/>
            </a:xfrm>
            <a:prstGeom prst="line">
              <a:avLst/>
            </a:prstGeom>
            <a:noFill/>
            <a:ln w="14288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09600" y="3619500"/>
              <a:ext cx="1809750" cy="609600"/>
              <a:chOff x="609600" y="3619500"/>
              <a:chExt cx="1809750" cy="6096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09600" y="361950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accent2">
                  <a:alpha val="1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325880" y="384524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撰写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2895600" y="3619500"/>
              <a:ext cx="1809750" cy="609600"/>
              <a:chOff x="2895600" y="3619500"/>
              <a:chExt cx="1809750" cy="6096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2895600" y="361950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accent2">
                  <a:alpha val="1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611880" y="384524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评审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5181600" y="3619500"/>
              <a:ext cx="1809750" cy="609600"/>
              <a:chOff x="5181600" y="3619500"/>
              <a:chExt cx="1809750" cy="609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5181600" y="361950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accent2">
                  <a:alpha val="1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716143" y="38452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引用核验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7467600" y="3619500"/>
              <a:ext cx="1809750" cy="609600"/>
              <a:chOff x="7467600" y="3619500"/>
              <a:chExt cx="1809750" cy="6096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467600" y="361950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accent2">
                  <a:alpha val="1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183880" y="384524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去重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753600" y="3619500"/>
              <a:ext cx="1809750" cy="609600"/>
              <a:chOff x="9753600" y="3619500"/>
              <a:chExt cx="1809750" cy="6096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753600" y="3619500"/>
                <a:ext cx="1809750" cy="609600"/>
              </a:xfrm>
              <a:prstGeom prst="roundRect">
                <a:avLst>
                  <a:gd name="adj" fmla="val 18750"/>
                </a:avLst>
              </a:prstGeom>
              <a:solidFill>
                <a:schemeClr val="accent2">
                  <a:alpha val="10000"/>
                </a:schemeClr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379012" y="38452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归一化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09600" y="4654868"/>
            <a:ext cx="3702406" cy="264033"/>
            <a:chOff x="609600" y="4654868"/>
            <a:chExt cx="3702406" cy="264033"/>
          </a:xfrm>
        </p:grpSpPr>
        <p:sp>
          <p:nvSpPr>
            <p:cNvPr id="51" name="Rectangle 51"/>
            <p:cNvSpPr/>
            <p:nvPr/>
          </p:nvSpPr>
          <p:spPr>
            <a:xfrm>
              <a:off x="609600" y="466725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9442" y="465486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确定性节点（零 LLM）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57500" y="466725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chemeClr val="accent2">
                <a:alpha val="25000"/>
              </a:schemeClr>
            </a:solidFill>
            <a:ln w="14288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17342" y="4654868"/>
              <a:ext cx="119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LLM 语义节点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02742" y="5184775"/>
            <a:ext cx="9660179" cy="972376"/>
            <a:chOff x="602742" y="5184775"/>
            <a:chExt cx="9660179" cy="972376"/>
          </a:xfrm>
        </p:grpSpPr>
        <p:grpSp>
          <p:nvGrpSpPr>
            <p:cNvPr id="63" name="Group 63"/>
            <p:cNvGrpSpPr/>
            <p:nvPr/>
          </p:nvGrpSpPr>
          <p:grpSpPr>
            <a:xfrm>
              <a:off x="602742" y="5207000"/>
              <a:ext cx="2794292" cy="950151"/>
              <a:chOff x="602742" y="5207000"/>
              <a:chExt cx="2794292" cy="950151"/>
            </a:xfrm>
          </p:grpSpPr>
          <p:grpSp>
            <p:nvGrpSpPr>
              <p:cNvPr id="59" name="Group 59"/>
              <p:cNvGrpSpPr/>
              <p:nvPr/>
            </p:nvGrpSpPr>
            <p:grpSpPr>
              <a:xfrm>
                <a:off x="642938" y="5207000"/>
                <a:ext cx="200025" cy="177801"/>
                <a:chOff x="642938" y="5207000"/>
                <a:chExt cx="200025" cy="177801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642938" y="525145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44450" y="0"/>
                      </a:moveTo>
                      <a:lnTo>
                        <a:pt x="0" y="44450"/>
                      </a:lnTo>
                      <a:lnTo>
                        <a:pt x="44450" y="8890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98513" y="5251450"/>
                  <a:ext cx="444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88900">
                      <a:moveTo>
                        <a:pt x="0" y="0"/>
                      </a:moveTo>
                      <a:lnTo>
                        <a:pt x="44450" y="44450"/>
                      </a:lnTo>
                      <a:lnTo>
                        <a:pt x="0" y="8890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20725" y="5207000"/>
                  <a:ext cx="44450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177801">
                      <a:moveTo>
                        <a:pt x="44450" y="0"/>
                      </a:moveTo>
                      <a:lnTo>
                        <a:pt x="0" y="177801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982980" y="5210175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确定性节点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02742" y="5626418"/>
                <a:ext cx="27942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查询规划 · 检索 · 抓取全用代码：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02742" y="5893118"/>
                <a:ext cx="13403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快 · 便宜 · 可控</a:t>
                </a:r>
                <a:endPara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4374642" y="5195888"/>
              <a:ext cx="2157298" cy="961263"/>
              <a:chOff x="4374642" y="5195888"/>
              <a:chExt cx="2157298" cy="961263"/>
            </a:xfrm>
          </p:grpSpPr>
          <p:grpSp>
            <p:nvGrpSpPr>
              <p:cNvPr id="70" name="Group 70"/>
              <p:cNvGrpSpPr/>
              <p:nvPr/>
            </p:nvGrpSpPr>
            <p:grpSpPr>
              <a:xfrm>
                <a:off x="4414838" y="5195888"/>
                <a:ext cx="200025" cy="200025"/>
                <a:chOff x="4414838" y="5195888"/>
                <a:chExt cx="200025" cy="200025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514850" y="5307013"/>
                  <a:ext cx="777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88900">
                      <a:moveTo>
                        <a:pt x="38894" y="0"/>
                      </a:moveTo>
                      <a:cubicBezTo>
                        <a:pt x="17413" y="0"/>
                        <a:pt x="0" y="17413"/>
                        <a:pt x="0" y="38894"/>
                      </a:cubicBezTo>
                      <a:lnTo>
                        <a:pt x="0" y="50006"/>
                      </a:lnTo>
                      <a:cubicBezTo>
                        <a:pt x="0" y="71487"/>
                        <a:pt x="17413" y="88900"/>
                        <a:pt x="38894" y="88900"/>
                      </a:cubicBezTo>
                      <a:cubicBezTo>
                        <a:pt x="60374" y="88900"/>
                        <a:pt x="77788" y="71487"/>
                        <a:pt x="77788" y="50006"/>
                      </a:cubicBezTo>
                      <a:lnTo>
                        <a:pt x="77788" y="30004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4437063" y="5307013"/>
                  <a:ext cx="7778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88900">
                      <a:moveTo>
                        <a:pt x="38894" y="0"/>
                      </a:moveTo>
                      <a:cubicBezTo>
                        <a:pt x="60374" y="0"/>
                        <a:pt x="77788" y="17413"/>
                        <a:pt x="77788" y="38894"/>
                      </a:cubicBezTo>
                      <a:lnTo>
                        <a:pt x="77788" y="50006"/>
                      </a:lnTo>
                      <a:cubicBezTo>
                        <a:pt x="77788" y="71487"/>
                        <a:pt x="60374" y="88900"/>
                        <a:pt x="38894" y="88900"/>
                      </a:cubicBezTo>
                      <a:cubicBezTo>
                        <a:pt x="17413" y="88900"/>
                        <a:pt x="0" y="71487"/>
                        <a:pt x="0" y="50006"/>
                      </a:cubicBezTo>
                      <a:lnTo>
                        <a:pt x="0" y="30004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570413" y="5262563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5556" y="77788"/>
                      </a:moveTo>
                      <a:cubicBezTo>
                        <a:pt x="27037" y="77788"/>
                        <a:pt x="44450" y="60374"/>
                        <a:pt x="44450" y="38894"/>
                      </a:cubicBezTo>
                      <a:cubicBezTo>
                        <a:pt x="44450" y="17413"/>
                        <a:pt x="27037" y="0"/>
                        <a:pt x="5556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4514850" y="5195888"/>
                  <a:ext cx="77788" cy="70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70009">
                      <a:moveTo>
                        <a:pt x="77788" y="70009"/>
                      </a:moveTo>
                      <a:lnTo>
                        <a:pt x="77788" y="38894"/>
                      </a:lnTo>
                      <a:cubicBezTo>
                        <a:pt x="77788" y="17413"/>
                        <a:pt x="60374" y="0"/>
                        <a:pt x="38894" y="0"/>
                      </a:cubicBezTo>
                      <a:cubicBezTo>
                        <a:pt x="17413" y="0"/>
                        <a:pt x="0" y="17413"/>
                        <a:pt x="0" y="38894"/>
                      </a:cubicBez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414838" y="5262563"/>
                  <a:ext cx="44450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77788">
                      <a:moveTo>
                        <a:pt x="38894" y="77788"/>
                      </a:moveTo>
                      <a:cubicBezTo>
                        <a:pt x="17413" y="77788"/>
                        <a:pt x="0" y="60374"/>
                        <a:pt x="0" y="38894"/>
                      </a:cubicBezTo>
                      <a:cubicBezTo>
                        <a:pt x="0" y="17413"/>
                        <a:pt x="17413" y="0"/>
                        <a:pt x="38894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4437063" y="5195888"/>
                  <a:ext cx="77788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788" h="150019">
                      <a:moveTo>
                        <a:pt x="0" y="70009"/>
                      </a:moveTo>
                      <a:lnTo>
                        <a:pt x="0" y="38894"/>
                      </a:lnTo>
                      <a:cubicBezTo>
                        <a:pt x="0" y="17413"/>
                        <a:pt x="17413" y="0"/>
                        <a:pt x="38894" y="0"/>
                      </a:cubicBezTo>
                      <a:cubicBezTo>
                        <a:pt x="60374" y="0"/>
                        <a:pt x="77788" y="17413"/>
                        <a:pt x="77788" y="38894"/>
                      </a:cubicBezTo>
                      <a:lnTo>
                        <a:pt x="77788" y="150019"/>
                      </a:lnTo>
                    </a:path>
                  </a:pathLst>
                </a:custGeom>
                <a:noFill/>
                <a:ln w="22225">
                  <a:solidFill>
                    <a:schemeClr val="accent2"/>
                  </a:solidFill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4754880" y="5210175"/>
                <a:ext cx="17770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只做语义环节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374642" y="5626418"/>
                <a:ext cx="18583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归一化 / 去重 / 核验 /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374642" y="5893118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评审 / 撰写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8146542" y="5184775"/>
              <a:ext cx="2116379" cy="972376"/>
              <a:chOff x="8146542" y="5184775"/>
              <a:chExt cx="2116379" cy="972376"/>
            </a:xfrm>
          </p:grpSpPr>
          <p:grpSp>
            <p:nvGrpSpPr>
              <p:cNvPr id="84" name="Group 84"/>
              <p:cNvGrpSpPr/>
              <p:nvPr/>
            </p:nvGrpSpPr>
            <p:grpSpPr>
              <a:xfrm>
                <a:off x="8175625" y="5184775"/>
                <a:ext cx="211138" cy="222251"/>
                <a:chOff x="8175625" y="5184775"/>
                <a:chExt cx="211138" cy="222251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8175625" y="5362576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8286750" y="51847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8286750" y="5362576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8231188" y="52736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79" name="Freeform 79"/>
                <p:cNvSpPr/>
                <p:nvPr/>
              </p:nvSpPr>
              <p:spPr>
                <a:xfrm>
                  <a:off x="8342313" y="52736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44450" y="22225"/>
                      </a:move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80" name="Freeform 80"/>
                <p:cNvSpPr/>
                <p:nvPr/>
              </p:nvSpPr>
              <p:spPr>
                <a:xfrm>
                  <a:off x="8209607" y="5314792"/>
                  <a:ext cx="32004" cy="51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04" h="51184">
                      <a:moveTo>
                        <a:pt x="0" y="51184"/>
                      </a:moveTo>
                      <a:lnTo>
                        <a:pt x="32004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81" name="Freeform 81"/>
                <p:cNvSpPr/>
                <p:nvPr/>
              </p:nvSpPr>
              <p:spPr>
                <a:xfrm>
                  <a:off x="8265203" y="5225880"/>
                  <a:ext cx="31971" cy="51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1" h="51162">
                      <a:moveTo>
                        <a:pt x="0" y="51162"/>
                      </a:moveTo>
                      <a:lnTo>
                        <a:pt x="31971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8265248" y="5314847"/>
                  <a:ext cx="31960" cy="51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60" h="51118">
                      <a:moveTo>
                        <a:pt x="0" y="0"/>
                      </a:moveTo>
                      <a:lnTo>
                        <a:pt x="31960" y="51118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8320788" y="5225891"/>
                  <a:ext cx="32015" cy="51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5" h="51229">
                      <a:moveTo>
                        <a:pt x="0" y="0"/>
                      </a:moveTo>
                      <a:lnTo>
                        <a:pt x="32015" y="51229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8526780" y="521017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波次并行执行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146542" y="56264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同一波次节点并行跑，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46542" y="5893118"/>
                <a:ext cx="21163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DAG 计划与状态全持久化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90" name="Line 90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5684520" cy="948690"/>
            <a:chOff x="899160" y="533400"/>
            <a:chExt cx="568452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· 设计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设计二：把成本当工程问题拆解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562100"/>
            <a:ext cx="4325464" cy="4324350"/>
            <a:chOff x="609600" y="1562100"/>
            <a:chExt cx="4325464" cy="4324350"/>
          </a:xfrm>
        </p:grpSpPr>
        <p:sp>
          <p:nvSpPr>
            <p:cNvPr id="7" name="Rectangle 7"/>
            <p:cNvSpPr/>
            <p:nvPr/>
          </p:nvSpPr>
          <p:spPr>
            <a:xfrm>
              <a:off x="609600" y="1562100"/>
              <a:ext cx="4305300" cy="4324350"/>
            </a:xfrm>
            <a:prstGeom prst="roundRect">
              <a:avLst>
                <a:gd name="adj" fmla="val 2655"/>
              </a:avLst>
            </a:prstGeom>
            <a:solidFill>
              <a:schemeClr val="accent5"/>
            </a:solidFill>
            <a:ln w="9525">
              <a:solidFill>
                <a:srgbClr val="26345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6780" y="1781175"/>
              <a:ext cx="29780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去向：20 家竞品专项实测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426854" y="2762031"/>
              <a:ext cx="2697768" cy="2579014"/>
              <a:chOff x="1426854" y="2762031"/>
              <a:chExt cx="2697768" cy="257901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26854" y="2762031"/>
                <a:ext cx="2697768" cy="2579014"/>
              </a:xfrm>
              <a:custGeom>
                <a:avLst/>
                <a:gdLst/>
                <a:ahLst/>
                <a:cxnLst/>
                <a:rect l="l" t="t" r="r" b="b"/>
                <a:pathLst>
                  <a:path w="2697768" h="2579014">
                    <a:moveTo>
                      <a:pt x="1354446" y="219"/>
                    </a:moveTo>
                    <a:cubicBezTo>
                      <a:pt x="1905257" y="0"/>
                      <a:pt x="2389995" y="363646"/>
                      <a:pt x="2543881" y="892524"/>
                    </a:cubicBezTo>
                    <a:cubicBezTo>
                      <a:pt x="2697768" y="1421402"/>
                      <a:pt x="2483803" y="1988348"/>
                      <a:pt x="2018862" y="2283681"/>
                    </a:cubicBezTo>
                    <a:cubicBezTo>
                      <a:pt x="1553920" y="2579014"/>
                      <a:pt x="949790" y="2531724"/>
                      <a:pt x="536465" y="2167643"/>
                    </a:cubicBezTo>
                    <a:cubicBezTo>
                      <a:pt x="123141" y="1803561"/>
                      <a:pt x="0" y="1210227"/>
                      <a:pt x="234306" y="711736"/>
                    </a:cubicBezTo>
                    <a:lnTo>
                      <a:pt x="514341" y="843181"/>
                    </a:lnTo>
                    <a:cubicBezTo>
                      <a:pt x="338500" y="1217012"/>
                      <a:pt x="430742" y="1662055"/>
                      <a:pt x="740679" y="1935200"/>
                    </a:cubicBezTo>
                    <a:cubicBezTo>
                      <a:pt x="1050617" y="2208346"/>
                      <a:pt x="1503724" y="2243916"/>
                      <a:pt x="1852487" y="2022479"/>
                    </a:cubicBezTo>
                    <a:cubicBezTo>
                      <a:pt x="2201250" y="1801042"/>
                      <a:pt x="2361807" y="1375844"/>
                      <a:pt x="2246452" y="979154"/>
                    </a:cubicBezTo>
                    <a:cubicBezTo>
                      <a:pt x="2131098" y="582464"/>
                      <a:pt x="1767568" y="309667"/>
                      <a:pt x="1354446" y="30978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661160" y="2762250"/>
                <a:ext cx="1120140" cy="842962"/>
              </a:xfrm>
              <a:custGeom>
                <a:avLst/>
                <a:gdLst/>
                <a:ahLst/>
                <a:cxnLst/>
                <a:rect l="l" t="t" r="r" b="b"/>
                <a:pathLst>
                  <a:path w="1120140" h="842962">
                    <a:moveTo>
                      <a:pt x="0" y="711517"/>
                    </a:moveTo>
                    <a:cubicBezTo>
                      <a:pt x="204047" y="277403"/>
                      <a:pt x="640463" y="191"/>
                      <a:pt x="1120140" y="0"/>
                    </a:cubicBezTo>
                    <a:lnTo>
                      <a:pt x="1120140" y="309562"/>
                    </a:lnTo>
                    <a:cubicBezTo>
                      <a:pt x="760437" y="309662"/>
                      <a:pt x="433139" y="517470"/>
                      <a:pt x="280035" y="84296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488541" y="3904298"/>
              <a:ext cx="585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35万</a:t>
              </a:r>
              <a:endPara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51913" y="42491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单次任务实测</a:t>
              </a:r>
              <a:endPara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6780" y="2333625"/>
              <a:ext cx="1001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input 82%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64280" y="2676525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output 18%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547401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input 占 82%，工具结果重复携带约 70%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19700" y="1562100"/>
            <a:ext cx="6286500" cy="2734056"/>
            <a:chOff x="5219700" y="1562100"/>
            <a:chExt cx="6286500" cy="2734056"/>
          </a:xfrm>
        </p:grpSpPr>
        <p:grpSp>
          <p:nvGrpSpPr>
            <p:cNvPr id="23" name="Group 23"/>
            <p:cNvGrpSpPr/>
            <p:nvPr/>
          </p:nvGrpSpPr>
          <p:grpSpPr>
            <a:xfrm>
              <a:off x="5219700" y="1562100"/>
              <a:ext cx="6286500" cy="1013651"/>
              <a:chOff x="5219700" y="1562100"/>
              <a:chExt cx="6286500" cy="1013651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219700" y="1562100"/>
                <a:ext cx="628650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545931" y="18264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95250" y="0"/>
                    </a:moveTo>
                    <a:lnTo>
                      <a:pt x="95250" y="83344"/>
                    </a:lnTo>
                    <a:lnTo>
                      <a:pt x="166688" y="83344"/>
                    </a:lnTo>
                    <a:lnTo>
                      <a:pt x="71438" y="214312"/>
                    </a:lnTo>
                    <a:lnTo>
                      <a:pt x="71438" y="130969"/>
                    </a:lnTo>
                    <a:lnTo>
                      <a:pt x="0" y="130969"/>
                    </a:ln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935980" y="17811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对策：掐住回传的大头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936742" y="2083118"/>
                <a:ext cx="35212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采集器限 2 轮工具调用 + 迭代耗尽强制收尾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36742" y="2311718"/>
                <a:ext cx="29851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——input 从 82% 的重复携带里省出来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219700" y="2667000"/>
              <a:ext cx="6286500" cy="1629156"/>
              <a:chOff x="5219700" y="2667000"/>
              <a:chExt cx="6286500" cy="1629156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219700" y="2667000"/>
                <a:ext cx="6286500" cy="154305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5534025" y="2905125"/>
                <a:ext cx="190501" cy="190500"/>
                <a:chOff x="5534025" y="2905125"/>
                <a:chExt cx="190501" cy="1905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534025" y="2905125"/>
                  <a:ext cx="178594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4" h="190500">
                      <a:moveTo>
                        <a:pt x="154781" y="47625"/>
                      </a:moveTo>
                      <a:lnTo>
                        <a:pt x="154781" y="11906"/>
                      </a:lnTo>
                      <a:cubicBezTo>
                        <a:pt x="154781" y="5331"/>
                        <a:pt x="149451" y="0"/>
                        <a:pt x="142875" y="0"/>
                      </a:cubicBezTo>
                      <a:lnTo>
                        <a:pt x="23812" y="0"/>
                      </a:ln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  <a:lnTo>
                        <a:pt x="166688" y="47625"/>
                      </a:lnTo>
                      <a:cubicBezTo>
                        <a:pt x="173263" y="47625"/>
                        <a:pt x="178594" y="52956"/>
                        <a:pt x="178594" y="59531"/>
                      </a:cubicBezTo>
                      <a:lnTo>
                        <a:pt x="178594" y="95250"/>
                      </a:lnTo>
                      <a:moveTo>
                        <a:pt x="178594" y="142875"/>
                      </a:moveTo>
                      <a:lnTo>
                        <a:pt x="178594" y="178594"/>
                      </a:lnTo>
                      <a:cubicBezTo>
                        <a:pt x="178594" y="185169"/>
                        <a:pt x="173263" y="190500"/>
                        <a:pt x="166688" y="190500"/>
                      </a:cubicBezTo>
                      <a:lnTo>
                        <a:pt x="23812" y="190500"/>
                      </a:lnTo>
                      <a:cubicBezTo>
                        <a:pt x="10661" y="190500"/>
                        <a:pt x="0" y="179839"/>
                        <a:pt x="0" y="166688"/>
                      </a:cubicBezTo>
                      <a:lnTo>
                        <a:pt x="0" y="23812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653088" y="3000375"/>
                  <a:ext cx="7143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47625">
                      <a:moveTo>
                        <a:pt x="71438" y="0"/>
                      </a:moveTo>
                      <a:lnTo>
                        <a:pt x="71438" y="47625"/>
                      </a:lnTo>
                      <a:lnTo>
                        <a:pt x="23812" y="47625"/>
                      </a:lnTo>
                      <a:cubicBezTo>
                        <a:pt x="10661" y="47625"/>
                        <a:pt x="0" y="36964"/>
                        <a:pt x="0" y="23812"/>
                      </a:cubicBezTo>
                      <a:cubicBezTo>
                        <a:pt x="0" y="10661"/>
                        <a:pt x="10661" y="0"/>
                        <a:pt x="23812" y="0"/>
                      </a:cubicBezTo>
                      <a:lnTo>
                        <a:pt x="71438" y="0"/>
                      </a:lnTo>
                    </a:path>
                  </a:pathLst>
                </a:custGeom>
                <a:noFill/>
                <a:ln w="23812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5935980" y="2905125"/>
                <a:ext cx="28422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预算公式（参数全部来自实测）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555742" y="3302318"/>
                <a:ext cx="42481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日报 = (5万保底 + 证据数×200 + 文章数×250) × 2.0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747004" y="3566160"/>
                <a:ext cx="17164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封顶 100 万 · 兜底 8 万</a:t>
                </a:r>
                <a:endParaRPr lang="zh-CN" sz="120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555742" y="3816668"/>
                <a:ext cx="36393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专项 = (10万 + 公司数×3万×时间系数) × 2.0</a:t>
                </a:r>
                <a:endParaRPr lang="zh-CN" sz="135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747004" y="4061460"/>
                <a:ext cx="2459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封顶 200 万 · 时间系数 0.6 ~ 2.0</a:t>
                </a:r>
                <a:endParaRPr lang="zh-CN" sz="1200" dirty="0">
                  <a:solidFill>
                    <a:schemeClr val="accent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5219700" y="4438650"/>
            <a:ext cx="6286500" cy="800100"/>
            <a:chOff x="5219700" y="4438650"/>
            <a:chExt cx="6286500" cy="800100"/>
          </a:xfrm>
        </p:grpSpPr>
        <p:sp>
          <p:nvSpPr>
            <p:cNvPr id="35" name="Rectangle 35"/>
            <p:cNvSpPr/>
            <p:nvPr/>
          </p:nvSpPr>
          <p:spPr>
            <a:xfrm>
              <a:off x="5219700" y="4438650"/>
              <a:ext cx="6286500" cy="8001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519738" y="4700588"/>
              <a:ext cx="200026" cy="200025"/>
              <a:chOff x="5519738" y="470058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519738" y="47005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559476" y="47450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594192" y="48561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936742" y="4616768"/>
              <a:ext cx="5054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保底 5 万来自实测：「5 个 LLM 节点固定成本 3.8 万+」，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36742" y="4883468"/>
              <a:ext cx="4475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早期按 1.5 万估算，曾把撰写节点 512 token </a:t>
              </a:r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直接掐断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19700" y="5410200"/>
            <a:ext cx="6286500" cy="495300"/>
            <a:chOff x="5219700" y="5410200"/>
            <a:chExt cx="6286500" cy="495300"/>
          </a:xfrm>
        </p:grpSpPr>
        <p:sp>
          <p:nvSpPr>
            <p:cNvPr id="43" name="Rectangle 43"/>
            <p:cNvSpPr/>
            <p:nvPr/>
          </p:nvSpPr>
          <p:spPr>
            <a:xfrm>
              <a:off x="5219700" y="5410200"/>
              <a:ext cx="6286500" cy="495300"/>
            </a:xfrm>
            <a:prstGeom prst="roundRect">
              <a:avLst>
                <a:gd name="adj" fmla="val 23077"/>
              </a:avLst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5517356" y="5574506"/>
              <a:ext cx="185737" cy="185737"/>
              <a:chOff x="5517356" y="5574506"/>
              <a:chExt cx="185737" cy="18573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517356" y="55745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579268" y="5625843"/>
                <a:ext cx="61912" cy="83063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3063">
                    <a:moveTo>
                      <a:pt x="59849" y="10575"/>
                    </a:moveTo>
                    <a:cubicBezTo>
                      <a:pt x="56040" y="3968"/>
                      <a:pt x="48897" y="0"/>
                      <a:pt x="41275" y="257"/>
                    </a:cubicBezTo>
                    <a:lnTo>
                      <a:pt x="20637" y="257"/>
                    </a:lnTo>
                    <a:cubicBezTo>
                      <a:pt x="9240" y="257"/>
                      <a:pt x="0" y="9496"/>
                      <a:pt x="0" y="20894"/>
                    </a:cubicBezTo>
                    <a:cubicBezTo>
                      <a:pt x="0" y="32292"/>
                      <a:pt x="9240" y="41531"/>
                      <a:pt x="20637" y="41531"/>
                    </a:cubicBezTo>
                    <a:lnTo>
                      <a:pt x="41275" y="41531"/>
                    </a:lnTo>
                    <a:cubicBezTo>
                      <a:pt x="52673" y="41531"/>
                      <a:pt x="61912" y="50771"/>
                      <a:pt x="61912" y="62169"/>
                    </a:cubicBezTo>
                    <a:cubicBezTo>
                      <a:pt x="61912" y="73567"/>
                      <a:pt x="52673" y="82806"/>
                      <a:pt x="41275" y="82806"/>
                    </a:cubicBezTo>
                    <a:lnTo>
                      <a:pt x="20637" y="82806"/>
                    </a:lnTo>
                    <a:cubicBezTo>
                      <a:pt x="13015" y="83063"/>
                      <a:pt x="5873" y="79095"/>
                      <a:pt x="2064" y="72488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610225" y="5615781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859780" y="5562600"/>
              <a:ext cx="5152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日报 ≈0.5 元/次 · 专项 20 家 ≈1 元/次 · 月成本 ≈30 元</a:t>
              </a:r>
              <a:endParaRPr lang="zh-CN" sz="15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50" name="Line 50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6492240" cy="948690"/>
            <a:chOff x="899160" y="533400"/>
            <a:chExt cx="649224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· 设计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设计三：证据纪律，让每句话可溯源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904875" y="1704975"/>
            <a:ext cx="5889879" cy="4198620"/>
            <a:chOff x="904875" y="1704975"/>
            <a:chExt cx="5889879" cy="4198620"/>
          </a:xfrm>
        </p:grpSpPr>
        <p:sp>
          <p:nvSpPr>
            <p:cNvPr id="7" name="Line 7"/>
            <p:cNvSpPr/>
            <p:nvPr/>
          </p:nvSpPr>
          <p:spPr>
            <a:xfrm>
              <a:off x="1047750" y="18478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4288">
              <a:solidFill>
                <a:srgbClr val="263450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04875" y="1704975"/>
              <a:ext cx="4657115" cy="331470"/>
              <a:chOff x="904875" y="1704975"/>
              <a:chExt cx="4657115" cy="331470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04875" y="170497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60786" y="17916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01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450975" y="1755775"/>
                <a:ext cx="165099" cy="17541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75418">
                    <a:moveTo>
                      <a:pt x="0" y="0"/>
                    </a:moveTo>
                    <a:lnTo>
                      <a:pt x="165099" y="0"/>
                    </a:lnTo>
                    <a:lnTo>
                      <a:pt x="165099" y="22412"/>
                    </a:lnTo>
                    <a:cubicBezTo>
                      <a:pt x="165098" y="27885"/>
                      <a:pt x="162923" y="33134"/>
                      <a:pt x="159053" y="37003"/>
                    </a:cubicBezTo>
                    <a:lnTo>
                      <a:pt x="113506" y="82550"/>
                    </a:lnTo>
                    <a:lnTo>
                      <a:pt x="113506" y="154781"/>
                    </a:lnTo>
                    <a:lnTo>
                      <a:pt x="51594" y="175418"/>
                    </a:lnTo>
                    <a:lnTo>
                      <a:pt x="51594" y="87709"/>
                    </a:lnTo>
                    <a:lnTo>
                      <a:pt x="5366" y="36858"/>
                    </a:lnTo>
                    <a:cubicBezTo>
                      <a:pt x="1914" y="33060"/>
                      <a:pt x="1" y="28112"/>
                      <a:pt x="0" y="22980"/>
                    </a:cubicBez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840230" y="1743075"/>
                <a:ext cx="37217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统一数据模型——原始响应不直接进 Agent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4875" y="2257425"/>
              <a:ext cx="4556379" cy="331470"/>
              <a:chOff x="904875" y="2257425"/>
              <a:chExt cx="4556379" cy="33147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904875" y="225742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60786" y="2344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02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450973" y="2303183"/>
                <a:ext cx="170128" cy="175162"/>
                <a:chOff x="1450973" y="2303183"/>
                <a:chExt cx="170128" cy="175162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502568" y="2359818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0" y="61912"/>
                      </a:move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523206" y="2303183"/>
                  <a:ext cx="97895" cy="97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95" h="97910">
                      <a:moveTo>
                        <a:pt x="0" y="25679"/>
                      </a:moveTo>
                      <a:lnTo>
                        <a:pt x="4778" y="20148"/>
                      </a:lnTo>
                      <a:cubicBezTo>
                        <a:pt x="24929" y="0"/>
                        <a:pt x="57598" y="2"/>
                        <a:pt x="77746" y="20154"/>
                      </a:cubicBezTo>
                      <a:cubicBezTo>
                        <a:pt x="97895" y="40305"/>
                        <a:pt x="97892" y="72974"/>
                        <a:pt x="77741" y="93122"/>
                      </a:cubicBezTo>
                      <a:lnTo>
                        <a:pt x="72231" y="9791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450973" y="2380456"/>
                  <a:ext cx="92870" cy="97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70" h="97889">
                      <a:moveTo>
                        <a:pt x="92870" y="72231"/>
                      </a:moveTo>
                      <a:lnTo>
                        <a:pt x="88773" y="77741"/>
                      </a:lnTo>
                      <a:cubicBezTo>
                        <a:pt x="68399" y="97889"/>
                        <a:pt x="35606" y="97889"/>
                        <a:pt x="15232" y="77741"/>
                      </a:cubicBezTo>
                      <a:cubicBezTo>
                        <a:pt x="5485" y="68104"/>
                        <a:pt x="0" y="54966"/>
                        <a:pt x="0" y="41259"/>
                      </a:cubicBezTo>
                      <a:cubicBezTo>
                        <a:pt x="0" y="27552"/>
                        <a:pt x="5485" y="14415"/>
                        <a:pt x="15232" y="4778"/>
                      </a:cubicBezTo>
                      <a:lnTo>
                        <a:pt x="2063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840230" y="2295525"/>
                <a:ext cx="36210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URL 规范化 + 双键去重（URL / 标题）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04875" y="2809875"/>
              <a:ext cx="4787265" cy="331470"/>
              <a:chOff x="904875" y="2809875"/>
              <a:chExt cx="4787265" cy="33147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904875" y="280987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60786" y="28965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03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1450975" y="2850356"/>
                <a:ext cx="165099" cy="185737"/>
                <a:chOff x="1450975" y="2850356"/>
                <a:chExt cx="165099" cy="185737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1450975" y="2870994"/>
                  <a:ext cx="165099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165099">
                      <a:moveTo>
                        <a:pt x="0" y="20637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144462" y="0"/>
                      </a:lnTo>
                      <a:cubicBezTo>
                        <a:pt x="155860" y="0"/>
                        <a:pt x="165099" y="9240"/>
                        <a:pt x="165099" y="20637"/>
                      </a:cubicBezTo>
                      <a:lnTo>
                        <a:pt x="165099" y="144462"/>
                      </a:lnTo>
                      <a:cubicBezTo>
                        <a:pt x="165099" y="155860"/>
                        <a:pt x="155860" y="165099"/>
                        <a:pt x="144462" y="165099"/>
                      </a:cubicBezTo>
                      <a:lnTo>
                        <a:pt x="20637" y="165099"/>
                      </a:lnTo>
                      <a:cubicBezTo>
                        <a:pt x="9240" y="165099"/>
                        <a:pt x="0" y="155860"/>
                        <a:pt x="0" y="144462"/>
                      </a:cubicBezTo>
                      <a:lnTo>
                        <a:pt x="0" y="20637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574799" y="2850356"/>
                  <a:ext cx="952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1275">
                      <a:moveTo>
                        <a:pt x="0" y="0"/>
                      </a:moveTo>
                      <a:lnTo>
                        <a:pt x="0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492250" y="2850356"/>
                  <a:ext cx="952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1275">
                      <a:moveTo>
                        <a:pt x="0" y="0"/>
                      </a:moveTo>
                      <a:lnTo>
                        <a:pt x="0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450975" y="2932906"/>
                  <a:ext cx="16509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525">
                      <a:moveTo>
                        <a:pt x="0" y="0"/>
                      </a:move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523206" y="2974181"/>
                  <a:ext cx="1031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9" h="9525">
                      <a:moveTo>
                        <a:pt x="0" y="0"/>
                      </a:moveTo>
                      <a:lnTo>
                        <a:pt x="1031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533525" y="2974181"/>
                  <a:ext cx="9525" cy="30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0956">
                      <a:moveTo>
                        <a:pt x="0" y="0"/>
                      </a:moveTo>
                      <a:lnTo>
                        <a:pt x="0" y="30956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840230" y="2847975"/>
                <a:ext cx="38519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日期窗口：无日期标记</a:t>
                </a:r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「未验证」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，不硬丢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04875" y="3362325"/>
              <a:ext cx="4470178" cy="331470"/>
              <a:chOff x="904875" y="3362325"/>
              <a:chExt cx="4470178" cy="33147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04875" y="336232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60786" y="34490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04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1430410" y="3392508"/>
                <a:ext cx="206085" cy="195983"/>
              </a:xfrm>
              <a:custGeom>
                <a:avLst/>
                <a:gdLst/>
                <a:ahLst/>
                <a:cxnLst/>
                <a:rect l="l" t="t" r="r" b="b"/>
                <a:pathLst>
                  <a:path w="206085" h="195983">
                    <a:moveTo>
                      <a:pt x="103115" y="162499"/>
                    </a:moveTo>
                    <a:lnTo>
                      <a:pt x="39428" y="195983"/>
                    </a:lnTo>
                    <a:lnTo>
                      <a:pt x="51594" y="125063"/>
                    </a:lnTo>
                    <a:lnTo>
                      <a:pt x="0" y="74842"/>
                    </a:lnTo>
                    <a:lnTo>
                      <a:pt x="71199" y="64523"/>
                    </a:lnTo>
                    <a:lnTo>
                      <a:pt x="103043" y="0"/>
                    </a:lnTo>
                    <a:lnTo>
                      <a:pt x="134886" y="64523"/>
                    </a:lnTo>
                    <a:lnTo>
                      <a:pt x="206085" y="74842"/>
                    </a:lnTo>
                    <a:lnTo>
                      <a:pt x="154492" y="125063"/>
                    </a:lnTo>
                    <a:lnTo>
                      <a:pt x="166658" y="195983"/>
                    </a:lnTo>
                    <a:lnTo>
                      <a:pt x="103115" y="162499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840230" y="3400425"/>
                <a:ext cx="35348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来源质量 / 相关性评分，排序取 Top N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04875" y="3914775"/>
              <a:ext cx="4780407" cy="331470"/>
              <a:chOff x="904875" y="3914775"/>
              <a:chExt cx="4780407" cy="33147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904875" y="391477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60786" y="40014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05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1461294" y="3955256"/>
                <a:ext cx="144462" cy="185737"/>
                <a:chOff x="1461294" y="3955256"/>
                <a:chExt cx="144462" cy="185737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1554162" y="3955256"/>
                  <a:ext cx="51594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4" h="51594">
                      <a:moveTo>
                        <a:pt x="0" y="0"/>
                      </a:moveTo>
                      <a:lnTo>
                        <a:pt x="0" y="41275"/>
                      </a:lnTo>
                      <a:cubicBezTo>
                        <a:pt x="0" y="46974"/>
                        <a:pt x="4620" y="51594"/>
                        <a:pt x="10319" y="51594"/>
                      </a:cubicBezTo>
                      <a:lnTo>
                        <a:pt x="51594" y="51594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461294" y="3955256"/>
                  <a:ext cx="144462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85737">
                      <a:moveTo>
                        <a:pt x="123825" y="185737"/>
                      </a:moveTo>
                      <a:lnTo>
                        <a:pt x="20637" y="185737"/>
                      </a:lnTo>
                      <a:cubicBezTo>
                        <a:pt x="9240" y="185737"/>
                        <a:pt x="0" y="176497"/>
                        <a:pt x="0" y="165099"/>
                      </a:cubicBezTo>
                      <a:lnTo>
                        <a:pt x="0" y="20637"/>
                      </a:ln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92868" y="0"/>
                      </a:lnTo>
                      <a:lnTo>
                        <a:pt x="144462" y="51594"/>
                      </a:lnTo>
                      <a:lnTo>
                        <a:pt x="144462" y="165099"/>
                      </a:lnTo>
                      <a:cubicBezTo>
                        <a:pt x="144462" y="176497"/>
                        <a:pt x="135222" y="185737"/>
                        <a:pt x="123825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1502568" y="4058443"/>
                  <a:ext cx="6191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41275">
                      <a:moveTo>
                        <a:pt x="0" y="20637"/>
                      </a:moveTo>
                      <a:lnTo>
                        <a:pt x="20637" y="41275"/>
                      </a:ln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1840230" y="3952875"/>
                <a:ext cx="3845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引用核验：只验证已有 URL，不新增搜索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04875" y="4467225"/>
              <a:ext cx="5577192" cy="331470"/>
              <a:chOff x="904875" y="4467225"/>
              <a:chExt cx="5577192" cy="33147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904875" y="446722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60786" y="45539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2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06</a:t>
                </a:r>
                <a:endParaRPr lang="zh-CN" sz="1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1426731" y="4507706"/>
                <a:ext cx="201506" cy="185737"/>
                <a:chOff x="1426731" y="4507706"/>
                <a:chExt cx="201506" cy="185737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1426731" y="4507706"/>
                  <a:ext cx="201506" cy="184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506" h="184148">
                      <a:moveTo>
                        <a:pt x="101222" y="184148"/>
                      </a:moveTo>
                      <a:cubicBezTo>
                        <a:pt x="36580" y="164110"/>
                        <a:pt x="0" y="95886"/>
                        <a:pt x="19085" y="30956"/>
                      </a:cubicBezTo>
                      <a:cubicBezTo>
                        <a:pt x="51233" y="32427"/>
                        <a:pt x="82691" y="21324"/>
                        <a:pt x="106794" y="0"/>
                      </a:cubicBezTo>
                      <a:cubicBezTo>
                        <a:pt x="130897" y="21324"/>
                        <a:pt x="162355" y="32427"/>
                        <a:pt x="194503" y="30956"/>
                      </a:cubicBezTo>
                      <a:cubicBezTo>
                        <a:pt x="201506" y="54783"/>
                        <a:pt x="201183" y="80166"/>
                        <a:pt x="193575" y="103806"/>
                      </a:cubicBez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564481" y="4652168"/>
                  <a:ext cx="61912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41275">
                      <a:moveTo>
                        <a:pt x="0" y="20637"/>
                      </a:moveTo>
                      <a:lnTo>
                        <a:pt x="20637" y="41275"/>
                      </a:lnTo>
                      <a:lnTo>
                        <a:pt x="61912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1840230" y="4505325"/>
                <a:ext cx="46418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硬校验：关键词重叠率 </a:t>
                </a:r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≥0.4</a:t>
                </a:r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判支持，零 LLM 成本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904875" y="5019675"/>
              <a:ext cx="5889879" cy="331470"/>
              <a:chOff x="904875" y="5019675"/>
              <a:chExt cx="5889879" cy="33147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904875" y="501967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60786" y="51063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07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1440656" y="5060156"/>
                <a:ext cx="185737" cy="185737"/>
                <a:chOff x="1440656" y="5060156"/>
                <a:chExt cx="185737" cy="185737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1533525" y="5163343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16169" y="0"/>
                        <a:pt x="0" y="16169"/>
                        <a:pt x="0" y="36116"/>
                      </a:cubicBezTo>
                      <a:lnTo>
                        <a:pt x="0" y="46434"/>
                      </a:lnTo>
                      <a:cubicBezTo>
                        <a:pt x="0" y="66380"/>
                        <a:pt x="16169" y="82550"/>
                        <a:pt x="36116" y="82550"/>
                      </a:cubicBezTo>
                      <a:cubicBezTo>
                        <a:pt x="56062" y="82550"/>
                        <a:pt x="72231" y="66380"/>
                        <a:pt x="72231" y="46434"/>
                      </a:cubicBezTo>
                      <a:lnTo>
                        <a:pt x="72231" y="27861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461294" y="5163343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56062" y="0"/>
                        <a:pt x="72231" y="16169"/>
                        <a:pt x="72231" y="36116"/>
                      </a:cubicBezTo>
                      <a:lnTo>
                        <a:pt x="72231" y="46434"/>
                      </a:lnTo>
                      <a:cubicBezTo>
                        <a:pt x="72231" y="66380"/>
                        <a:pt x="56062" y="82550"/>
                        <a:pt x="36116" y="82550"/>
                      </a:cubicBezTo>
                      <a:cubicBezTo>
                        <a:pt x="16169" y="82550"/>
                        <a:pt x="0" y="66380"/>
                        <a:pt x="0" y="46434"/>
                      </a:cubicBezTo>
                      <a:lnTo>
                        <a:pt x="0" y="27861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1585118" y="5122068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5159" y="72231"/>
                      </a:moveTo>
                      <a:cubicBezTo>
                        <a:pt x="25105" y="72231"/>
                        <a:pt x="41275" y="56062"/>
                        <a:pt x="41275" y="36116"/>
                      </a:cubicBezTo>
                      <a:cubicBezTo>
                        <a:pt x="41275" y="16169"/>
                        <a:pt x="25105" y="0"/>
                        <a:pt x="515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533525" y="5060156"/>
                  <a:ext cx="72231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65008">
                      <a:moveTo>
                        <a:pt x="72231" y="65008"/>
                      </a:moveTo>
                      <a:lnTo>
                        <a:pt x="72231" y="36116"/>
                      </a:lnTo>
                      <a:cubicBezTo>
                        <a:pt x="72231" y="16169"/>
                        <a:pt x="56062" y="0"/>
                        <a:pt x="36116" y="0"/>
                      </a:cubicBezTo>
                      <a:cubicBezTo>
                        <a:pt x="16169" y="0"/>
                        <a:pt x="0" y="16169"/>
                        <a:pt x="0" y="36116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1440656" y="5122068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36116" y="72231"/>
                      </a:moveTo>
                      <a:cubicBezTo>
                        <a:pt x="16169" y="72231"/>
                        <a:pt x="0" y="56062"/>
                        <a:pt x="0" y="36116"/>
                      </a:cubicBezTo>
                      <a:cubicBezTo>
                        <a:pt x="0" y="16169"/>
                        <a:pt x="16169" y="0"/>
                        <a:pt x="36116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461294" y="5060156"/>
                  <a:ext cx="72231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39303">
                      <a:moveTo>
                        <a:pt x="0" y="65008"/>
                      </a:moveTo>
                      <a:lnTo>
                        <a:pt x="0" y="36116"/>
                      </a:lnTo>
                      <a:cubicBezTo>
                        <a:pt x="0" y="16169"/>
                        <a:pt x="16169" y="0"/>
                        <a:pt x="36116" y="0"/>
                      </a:cubicBezTo>
                      <a:cubicBezTo>
                        <a:pt x="56062" y="0"/>
                        <a:pt x="72231" y="16169"/>
                        <a:pt x="72231" y="36116"/>
                      </a:cubicBezTo>
                      <a:lnTo>
                        <a:pt x="72231" y="139303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1840230" y="5057775"/>
                <a:ext cx="49545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 摘要标记「模型摘要」不当事实；撰写者直收证据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904875" y="5572125"/>
              <a:ext cx="4181475" cy="331470"/>
              <a:chOff x="904875" y="5572125"/>
              <a:chExt cx="4181475" cy="331470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904875" y="5572125"/>
                <a:ext cx="285750" cy="285750"/>
              </a:xfrm>
              <a:prstGeom prst="ellipse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60786" y="56588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08</a:t>
                </a:r>
                <a:endParaRPr lang="zh-CN" sz="1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1450975" y="5622925"/>
                <a:ext cx="165099" cy="17541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75418">
                    <a:moveTo>
                      <a:pt x="0" y="0"/>
                    </a:moveTo>
                    <a:lnTo>
                      <a:pt x="165099" y="0"/>
                    </a:lnTo>
                    <a:lnTo>
                      <a:pt x="165099" y="22412"/>
                    </a:lnTo>
                    <a:cubicBezTo>
                      <a:pt x="165098" y="27885"/>
                      <a:pt x="162923" y="33134"/>
                      <a:pt x="159053" y="37003"/>
                    </a:cubicBezTo>
                    <a:lnTo>
                      <a:pt x="113506" y="82550"/>
                    </a:lnTo>
                    <a:lnTo>
                      <a:pt x="113506" y="154781"/>
                    </a:lnTo>
                    <a:lnTo>
                      <a:pt x="51594" y="175418"/>
                    </a:lnTo>
                    <a:lnTo>
                      <a:pt x="51594" y="87709"/>
                    </a:lnTo>
                    <a:lnTo>
                      <a:pt x="5366" y="36858"/>
                    </a:lnTo>
                    <a:cubicBezTo>
                      <a:pt x="1914" y="33060"/>
                      <a:pt x="1" y="28112"/>
                      <a:pt x="0" y="22980"/>
                    </a:cubicBez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840230" y="5610225"/>
                <a:ext cx="32461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存储与展示两层剥离模型开场白话术</a:t>
                </a:r>
                <a:endPara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7749540" y="2171700"/>
            <a:ext cx="3276600" cy="2895600"/>
            <a:chOff x="8267700" y="2171700"/>
            <a:chExt cx="3276600" cy="2895600"/>
          </a:xfrm>
        </p:grpSpPr>
        <p:sp>
          <p:nvSpPr>
            <p:cNvPr id="69" name="Rectangle 69"/>
            <p:cNvSpPr/>
            <p:nvPr/>
          </p:nvSpPr>
          <p:spPr>
            <a:xfrm>
              <a:off x="8267700" y="2171700"/>
              <a:ext cx="3276600" cy="2895600"/>
            </a:xfrm>
            <a:prstGeom prst="roundRect">
              <a:avLst>
                <a:gd name="adj" fmla="val 3947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  <a:effectLst>
              <a:glow rad="57150">
                <a:srgbClr val="2DD4BF">
                  <a:alpha val="25000"/>
                </a:srgbClr>
              </a:glow>
            </a:effectLst>
          </p:spPr>
        </p:sp>
        <p:grpSp>
          <p:nvGrpSpPr>
            <p:cNvPr id="72" name="Group 72"/>
            <p:cNvGrpSpPr/>
            <p:nvPr/>
          </p:nvGrpSpPr>
          <p:grpSpPr>
            <a:xfrm>
              <a:off x="9610262" y="2657475"/>
              <a:ext cx="558019" cy="514350"/>
              <a:chOff x="9610262" y="2657475"/>
              <a:chExt cx="558019" cy="51435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9610262" y="2657475"/>
                <a:ext cx="558019" cy="509949"/>
              </a:xfrm>
              <a:custGeom>
                <a:avLst/>
                <a:gdLst/>
                <a:ahLst/>
                <a:cxnLst/>
                <a:rect l="l" t="t" r="r" b="b"/>
                <a:pathLst>
                  <a:path w="558019" h="509949">
                    <a:moveTo>
                      <a:pt x="280308" y="509949"/>
                    </a:moveTo>
                    <a:cubicBezTo>
                      <a:pt x="101299" y="454460"/>
                      <a:pt x="0" y="265531"/>
                      <a:pt x="52851" y="85725"/>
                    </a:cubicBezTo>
                    <a:cubicBezTo>
                      <a:pt x="141877" y="89799"/>
                      <a:pt x="228992" y="59052"/>
                      <a:pt x="295738" y="0"/>
                    </a:cubicBezTo>
                    <a:cubicBezTo>
                      <a:pt x="362485" y="59052"/>
                      <a:pt x="449600" y="89799"/>
                      <a:pt x="538626" y="85725"/>
                    </a:cubicBezTo>
                    <a:cubicBezTo>
                      <a:pt x="558019" y="151708"/>
                      <a:pt x="557123" y="221998"/>
                      <a:pt x="536054" y="287465"/>
                    </a:cubicBez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991725" y="305752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71450" y="0"/>
                    </a:lnTo>
                  </a:path>
                </a:pathLst>
              </a:custGeom>
              <a:noFill/>
              <a:ln w="57150">
                <a:solidFill>
                  <a:schemeClr val="accent2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9137332" y="34909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可溯源报告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99588" y="3969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每条结论都有证据链支撑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Line 75"/>
            <p:cNvSpPr/>
            <p:nvPr/>
          </p:nvSpPr>
          <p:spPr>
            <a:xfrm>
              <a:off x="8724900" y="4438650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0" y="0"/>
                  </a:moveTo>
                  <a:lnTo>
                    <a:pt x="23622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542934" y="4652010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核验失败 → 降级 partial，不阻断日报</a:t>
              </a:r>
              <a:endParaRPr lang="zh-CN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78" name="Line 78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3261360" cy="948690"/>
            <a:chOff x="899160" y="533400"/>
            <a:chExt cx="326136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· 工程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可靠性藏在细节里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9600" y="1485900"/>
            <a:ext cx="10972800" cy="3619500"/>
            <a:chOff x="609600" y="1485900"/>
            <a:chExt cx="10972800" cy="3619500"/>
          </a:xfrm>
        </p:grpSpPr>
        <p:grpSp>
          <p:nvGrpSpPr>
            <p:cNvPr id="15" name="Group 15"/>
            <p:cNvGrpSpPr/>
            <p:nvPr/>
          </p:nvGrpSpPr>
          <p:grpSpPr>
            <a:xfrm>
              <a:off x="609600" y="1485900"/>
              <a:ext cx="3562998" cy="1733550"/>
              <a:chOff x="609600" y="1485900"/>
              <a:chExt cx="3562998" cy="17335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485900"/>
                <a:ext cx="3429000" cy="1733550"/>
              </a:xfrm>
              <a:prstGeom prst="roundRect">
                <a:avLst>
                  <a:gd name="adj" fmla="val 659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900619" y="1748381"/>
                <a:ext cx="256151" cy="220068"/>
                <a:chOff x="900619" y="1748381"/>
                <a:chExt cx="256151" cy="220068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1028700" y="1828800"/>
                  <a:ext cx="9525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50800">
                      <a:moveTo>
                        <a:pt x="0" y="0"/>
                      </a:moveTo>
                      <a:lnTo>
                        <a:pt x="0" y="508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00619" y="1748381"/>
                  <a:ext cx="256151" cy="220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151" h="220068">
                      <a:moveTo>
                        <a:pt x="107291" y="11725"/>
                      </a:moveTo>
                      <a:lnTo>
                        <a:pt x="4345" y="183606"/>
                      </a:lnTo>
                      <a:cubicBezTo>
                        <a:pt x="26" y="191085"/>
                        <a:pt x="0" y="200293"/>
                        <a:pt x="4276" y="207796"/>
                      </a:cubicBezTo>
                      <a:cubicBezTo>
                        <a:pt x="8551" y="215299"/>
                        <a:pt x="16487" y="219971"/>
                        <a:pt x="25122" y="220068"/>
                      </a:cubicBezTo>
                      <a:lnTo>
                        <a:pt x="231039" y="220068"/>
                      </a:lnTo>
                      <a:cubicBezTo>
                        <a:pt x="239671" y="219968"/>
                        <a:pt x="247602" y="215299"/>
                        <a:pt x="251877" y="207800"/>
                      </a:cubicBezTo>
                      <a:cubicBezTo>
                        <a:pt x="256151" y="200300"/>
                        <a:pt x="256128" y="191097"/>
                        <a:pt x="251816" y="183619"/>
                      </a:cubicBezTo>
                      <a:lnTo>
                        <a:pt x="148870" y="11712"/>
                      </a:lnTo>
                      <a:cubicBezTo>
                        <a:pt x="144465" y="4441"/>
                        <a:pt x="136582" y="0"/>
                        <a:pt x="128081" y="0"/>
                      </a:cubicBezTo>
                      <a:cubicBezTo>
                        <a:pt x="119579" y="0"/>
                        <a:pt x="111696" y="4441"/>
                        <a:pt x="107291" y="11712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28700" y="1917699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27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324356" y="17487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诚实失败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69442" y="2254568"/>
                <a:ext cx="33031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预算耗尽返回占位说明，空报告判 failed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9442" y="254031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假成功比失败更糟</a:t>
                </a:r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，用户知道该做什么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381500" y="1485900"/>
              <a:ext cx="3535737" cy="1733550"/>
              <a:chOff x="4381500" y="1485900"/>
              <a:chExt cx="3535737" cy="17335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381500" y="1485900"/>
                <a:ext cx="3429000" cy="1733550"/>
              </a:xfrm>
              <a:prstGeom prst="roundRect">
                <a:avLst>
                  <a:gd name="adj" fmla="val 659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4686935" y="1750826"/>
                <a:ext cx="234340" cy="239721"/>
                <a:chOff x="4686935" y="1750826"/>
                <a:chExt cx="234340" cy="239721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4800600" y="1816100"/>
                  <a:ext cx="25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76200">
                      <a:moveTo>
                        <a:pt x="0" y="0"/>
                      </a:moveTo>
                      <a:lnTo>
                        <a:pt x="0" y="50800"/>
                      </a:lnTo>
                      <a:lnTo>
                        <a:pt x="25400" y="762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686935" y="1750826"/>
                  <a:ext cx="234340" cy="239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40" h="239721">
                      <a:moveTo>
                        <a:pt x="0" y="103373"/>
                      </a:moveTo>
                      <a:cubicBezTo>
                        <a:pt x="5892" y="45531"/>
                        <a:pt x="54268" y="1328"/>
                        <a:pt x="112406" y="664"/>
                      </a:cubicBezTo>
                      <a:cubicBezTo>
                        <a:pt x="170544" y="0"/>
                        <a:pt x="219917" y="43086"/>
                        <a:pt x="227128" y="100779"/>
                      </a:cubicBezTo>
                      <a:cubicBezTo>
                        <a:pt x="234340" y="158472"/>
                        <a:pt x="197092" y="212386"/>
                        <a:pt x="140580" y="226053"/>
                      </a:cubicBezTo>
                      <a:cubicBezTo>
                        <a:pt x="84067" y="239721"/>
                        <a:pt x="26299" y="208786"/>
                        <a:pt x="6350" y="154173"/>
                      </a:cubicBezTo>
                      <a:moveTo>
                        <a:pt x="0" y="217673"/>
                      </a:moveTo>
                      <a:lnTo>
                        <a:pt x="0" y="154173"/>
                      </a:lnTo>
                      <a:lnTo>
                        <a:pt x="63500" y="154173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5096256" y="17487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日报版本化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41342" y="2254568"/>
                <a:ext cx="32758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同一天 v1 / v2 共存，强制重生成出新版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41342" y="25403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历史版本可切换、可对比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153400" y="1485900"/>
              <a:ext cx="3429000" cy="1733550"/>
              <a:chOff x="8153400" y="1485900"/>
              <a:chExt cx="3429000" cy="1733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153400" y="1485900"/>
                <a:ext cx="3429000" cy="1733550"/>
              </a:xfrm>
              <a:prstGeom prst="roundRect">
                <a:avLst>
                  <a:gd name="adj" fmla="val 659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8470900" y="1752600"/>
                <a:ext cx="203199" cy="228599"/>
                <a:chOff x="8470900" y="1752600"/>
                <a:chExt cx="203199" cy="228599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470900" y="1752600"/>
                  <a:ext cx="203199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77800">
                      <a:moveTo>
                        <a:pt x="76200" y="25400"/>
                      </a:moveTo>
                      <a:cubicBezTo>
                        <a:pt x="76200" y="11372"/>
                        <a:pt x="87572" y="0"/>
                        <a:pt x="101600" y="0"/>
                      </a:cubicBezTo>
                      <a:cubicBezTo>
                        <a:pt x="115628" y="0"/>
                        <a:pt x="127000" y="11372"/>
                        <a:pt x="127000" y="25400"/>
                      </a:cubicBezTo>
                      <a:cubicBezTo>
                        <a:pt x="156720" y="39453"/>
                        <a:pt x="176258" y="68761"/>
                        <a:pt x="177800" y="101600"/>
                      </a:cubicBezTo>
                      <a:lnTo>
                        <a:pt x="177800" y="139700"/>
                      </a:lnTo>
                      <a:cubicBezTo>
                        <a:pt x="179738" y="155712"/>
                        <a:pt x="189165" y="169852"/>
                        <a:pt x="203199" y="177800"/>
                      </a:cubicBezTo>
                      <a:lnTo>
                        <a:pt x="0" y="177800"/>
                      </a:lnTo>
                      <a:cubicBezTo>
                        <a:pt x="14035" y="169852"/>
                        <a:pt x="23462" y="155712"/>
                        <a:pt x="25400" y="139700"/>
                      </a:cubicBezTo>
                      <a:lnTo>
                        <a:pt x="25400" y="101600"/>
                      </a:lnTo>
                      <a:cubicBezTo>
                        <a:pt x="26941" y="68761"/>
                        <a:pt x="46480" y="39453"/>
                        <a:pt x="7620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534400" y="1930399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0"/>
                      </a:moveTo>
                      <a:lnTo>
                        <a:pt x="0" y="12700"/>
                      </a:lnTo>
                      <a:cubicBezTo>
                        <a:pt x="0" y="33742"/>
                        <a:pt x="17058" y="50800"/>
                        <a:pt x="38100" y="50800"/>
                      </a:cubicBezTo>
                      <a:cubicBezTo>
                        <a:pt x="59142" y="50800"/>
                        <a:pt x="76200" y="33742"/>
                        <a:pt x="76200" y="12700"/>
                      </a:cubicBez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8868156" y="174879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推送幂等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413242" y="2254568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推送记录唯一键，按版本防重复打扰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413242" y="2540318"/>
                <a:ext cx="24035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失败重试 3 次，重启自动补发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9600" y="3371850"/>
              <a:ext cx="3429000" cy="1733550"/>
              <a:chOff x="609600" y="3371850"/>
              <a:chExt cx="3429000" cy="17335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09600" y="3371850"/>
                <a:ext cx="3429000" cy="1733550"/>
              </a:xfrm>
              <a:prstGeom prst="roundRect">
                <a:avLst>
                  <a:gd name="adj" fmla="val 659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927100" y="3646350"/>
                <a:ext cx="203199" cy="213000"/>
                <a:chOff x="927100" y="3646350"/>
                <a:chExt cx="203199" cy="2130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927100" y="3646350"/>
                  <a:ext cx="203199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3800">
                      <a:moveTo>
                        <a:pt x="203199" y="93800"/>
                      </a:moveTo>
                      <a:cubicBezTo>
                        <a:pt x="196815" y="47858"/>
                        <a:pt x="160475" y="11871"/>
                        <a:pt x="114473" y="5936"/>
                      </a:cubicBezTo>
                      <a:cubicBezTo>
                        <a:pt x="68472" y="0"/>
                        <a:pt x="24187" y="25584"/>
                        <a:pt x="6350" y="68400"/>
                      </a:cubicBezTo>
                      <a:moveTo>
                        <a:pt x="0" y="17600"/>
                      </a:moveTo>
                      <a:lnTo>
                        <a:pt x="0" y="68400"/>
                      </a:lnTo>
                      <a:lnTo>
                        <a:pt x="50800" y="684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927100" y="3765550"/>
                  <a:ext cx="203199" cy="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93800">
                      <a:moveTo>
                        <a:pt x="0" y="0"/>
                      </a:moveTo>
                      <a:cubicBezTo>
                        <a:pt x="6385" y="45942"/>
                        <a:pt x="42724" y="81928"/>
                        <a:pt x="88726" y="87864"/>
                      </a:cubicBezTo>
                      <a:cubicBezTo>
                        <a:pt x="134728" y="93800"/>
                        <a:pt x="179012" y="68216"/>
                        <a:pt x="196850" y="25400"/>
                      </a:cubicBezTo>
                      <a:moveTo>
                        <a:pt x="203199" y="76200"/>
                      </a:moveTo>
                      <a:lnTo>
                        <a:pt x="203199" y="25400"/>
                      </a:lnTo>
                      <a:lnTo>
                        <a:pt x="152400" y="254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324356" y="36347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启动三件套恢复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69442" y="41405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种子数据 / 中断任务标记 /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69442" y="4426268"/>
                <a:ext cx="23944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丢失推送补发——重启不丢状态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81500" y="3371850"/>
              <a:ext cx="3429000" cy="1733550"/>
              <a:chOff x="4381500" y="3371850"/>
              <a:chExt cx="3429000" cy="1733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381500" y="3371850"/>
                <a:ext cx="3429000" cy="1733550"/>
              </a:xfrm>
              <a:prstGeom prst="roundRect">
                <a:avLst>
                  <a:gd name="adj" fmla="val 659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686300" y="3638550"/>
                <a:ext cx="228599" cy="228599"/>
                <a:chOff x="4686300" y="3638550"/>
                <a:chExt cx="228599" cy="228599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4686300" y="3816349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864099" y="3638550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25400" y="50800"/>
                      </a:move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  <a:cubicBezTo>
                        <a:pt x="0" y="39428"/>
                        <a:pt x="11372" y="50800"/>
                        <a:pt x="25400" y="508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711700" y="3663950"/>
                  <a:ext cx="190500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77800">
                      <a:moveTo>
                        <a:pt x="76200" y="177800"/>
                      </a:moveTo>
                      <a:lnTo>
                        <a:pt x="146050" y="177800"/>
                      </a:lnTo>
                      <a:cubicBezTo>
                        <a:pt x="170599" y="177800"/>
                        <a:pt x="190500" y="157899"/>
                        <a:pt x="190500" y="133350"/>
                      </a:cubicBezTo>
                      <a:cubicBezTo>
                        <a:pt x="190500" y="108801"/>
                        <a:pt x="170599" y="88900"/>
                        <a:pt x="146050" y="88900"/>
                      </a:cubicBezTo>
                      <a:lnTo>
                        <a:pt x="44450" y="88900"/>
                      </a:ln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1016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096256" y="3634740"/>
                <a:ext cx="181385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fallback 语义学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41342" y="4140518"/>
                <a:ext cx="31577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未启用跳过 · 超时切换 · 认证失败拉黑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641342" y="4426268"/>
                <a:ext cx="24035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空结果切换 · </a:t>
                </a:r>
                <a:r>
                  <a:rPr lang="zh-CN" sz="13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全部失败不伪造</a:t>
                </a:r>
                <a:endPara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153400" y="3371850"/>
              <a:ext cx="3429000" cy="1733550"/>
              <a:chOff x="8153400" y="3371850"/>
              <a:chExt cx="3429000" cy="17335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153400" y="3371850"/>
                <a:ext cx="3429000" cy="1733550"/>
              </a:xfrm>
              <a:prstGeom prst="roundRect">
                <a:avLst>
                  <a:gd name="adj" fmla="val 659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8483600" y="3638550"/>
                <a:ext cx="177800" cy="228600"/>
                <a:chOff x="8483600" y="3638550"/>
                <a:chExt cx="177800" cy="2286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483600" y="3740150"/>
                  <a:ext cx="1778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270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52400" y="0"/>
                      </a:lnTo>
                      <a:cubicBezTo>
                        <a:pt x="166428" y="0"/>
                        <a:pt x="177800" y="11372"/>
                        <a:pt x="177800" y="25400"/>
                      </a:cubicBezTo>
                      <a:lnTo>
                        <a:pt x="177800" y="101600"/>
                      </a:lnTo>
                      <a:cubicBezTo>
                        <a:pt x="177800" y="115628"/>
                        <a:pt x="166428" y="127000"/>
                        <a:pt x="152400" y="127000"/>
                      </a:cubicBezTo>
                      <a:lnTo>
                        <a:pt x="25400" y="127000"/>
                      </a:lnTo>
                      <a:cubicBezTo>
                        <a:pt x="11372" y="127000"/>
                        <a:pt x="0" y="115628"/>
                        <a:pt x="0" y="1016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8559800" y="3790950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8521700" y="3638550"/>
                  <a:ext cx="1016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0" y="101600"/>
                      </a:moveTo>
                      <a:lnTo>
                        <a:pt x="0" y="50800"/>
                      </a:lnTo>
                      <a:cubicBezTo>
                        <a:pt x="0" y="22744"/>
                        <a:pt x="22744" y="0"/>
                        <a:pt x="50800" y="0"/>
                      </a:cubicBezTo>
                      <a:cubicBezTo>
                        <a:pt x="78856" y="0"/>
                        <a:pt x="101600" y="22744"/>
                        <a:pt x="101600" y="50800"/>
                      </a:cubicBezTo>
                      <a:lnTo>
                        <a:pt x="101600" y="1016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8868156" y="3634740"/>
                <a:ext cx="12024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SSRF 防护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13242" y="4140518"/>
                <a:ext cx="3105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DNS 解析后拒绝私网 / 云元数据地址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13242" y="4426268"/>
                <a:ext cx="25852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重定向逐跳重新校验，最多 5 跳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09600" y="5353050"/>
            <a:ext cx="10972800" cy="685800"/>
            <a:chOff x="609600" y="5353050"/>
            <a:chExt cx="10972800" cy="685800"/>
          </a:xfrm>
        </p:grpSpPr>
        <p:sp>
          <p:nvSpPr>
            <p:cNvPr id="59" name="Rectangle 59"/>
            <p:cNvSpPr/>
            <p:nvPr/>
          </p:nvSpPr>
          <p:spPr>
            <a:xfrm>
              <a:off x="609600" y="5353050"/>
              <a:ext cx="10972800" cy="6858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9525">
              <a:solidFill>
                <a:srgbClr val="263450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65200" y="5581650"/>
              <a:ext cx="203199" cy="228600"/>
              <a:chOff x="965200" y="5581650"/>
              <a:chExt cx="203199" cy="2286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65200" y="558165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65200" y="56197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65200" y="5695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440180" y="5610225"/>
              <a:ext cx="9437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SQLite 严肃用法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：WAL 模式 · 每次独立连接 · busy_timeout · 多进程调度守卫——单机也讲严肃可靠性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66" name="Line 66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99160" y="533400"/>
            <a:ext cx="3665220" cy="948690"/>
            <a:chOff x="899160" y="533400"/>
            <a:chExt cx="3665220" cy="948690"/>
          </a:xfrm>
        </p:grpSpPr>
        <p:sp>
          <p:nvSpPr>
            <p:cNvPr id="2" name="Rectangle 2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· 工程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9160" y="895350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三个代价换来的机制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09600" y="1485900"/>
            <a:ext cx="10972800" cy="3924300"/>
            <a:chOff x="609600" y="1485900"/>
            <a:chExt cx="10972800" cy="3924300"/>
          </a:xfrm>
        </p:grpSpPr>
        <p:grpSp>
          <p:nvGrpSpPr>
            <p:cNvPr id="30" name="Group 30"/>
            <p:cNvGrpSpPr/>
            <p:nvPr/>
          </p:nvGrpSpPr>
          <p:grpSpPr>
            <a:xfrm>
              <a:off x="609600" y="1485900"/>
              <a:ext cx="3429000" cy="3924300"/>
              <a:chOff x="609600" y="1485900"/>
              <a:chExt cx="3429000" cy="39243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485900"/>
                <a:ext cx="3429000" cy="3924300"/>
              </a:xfrm>
              <a:prstGeom prst="roundRect">
                <a:avLst>
                  <a:gd name="adj" fmla="val 333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12019" y="1774031"/>
                <a:ext cx="214312" cy="178595"/>
                <a:chOff x="912019" y="1774031"/>
                <a:chExt cx="214312" cy="178595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983456" y="1774031"/>
                  <a:ext cx="71438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47625">
                      <a:moveTo>
                        <a:pt x="0" y="47625"/>
                      </a:moveTo>
                      <a:lnTo>
                        <a:pt x="0" y="35719"/>
                      </a:lnTo>
                      <a:cubicBezTo>
                        <a:pt x="0" y="15992"/>
                        <a:pt x="15992" y="0"/>
                        <a:pt x="35719" y="0"/>
                      </a:cubicBezTo>
                      <a:cubicBezTo>
                        <a:pt x="55446" y="0"/>
                        <a:pt x="71438" y="15992"/>
                        <a:pt x="71438" y="35719"/>
                      </a:cubicBezTo>
                      <a:lnTo>
                        <a:pt x="71438" y="47625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959644" y="1821656"/>
                  <a:ext cx="119062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30969">
                      <a:moveTo>
                        <a:pt x="11906" y="0"/>
                      </a:moveTo>
                      <a:lnTo>
                        <a:pt x="107156" y="0"/>
                      </a:lnTo>
                      <a:cubicBezTo>
                        <a:pt x="114248" y="10627"/>
                        <a:pt x="118359" y="22962"/>
                        <a:pt x="119062" y="35719"/>
                      </a:cubicBezTo>
                      <a:lnTo>
                        <a:pt x="119062" y="71438"/>
                      </a:lnTo>
                      <a:cubicBezTo>
                        <a:pt x="119062" y="104316"/>
                        <a:pt x="92409" y="130969"/>
                        <a:pt x="59531" y="130969"/>
                      </a:cubicBezTo>
                      <a:cubicBezTo>
                        <a:pt x="26653" y="130969"/>
                        <a:pt x="0" y="104316"/>
                        <a:pt x="0" y="71438"/>
                      </a:cubicBezTo>
                      <a:lnTo>
                        <a:pt x="0" y="35719"/>
                      </a:lnTo>
                      <a:cubicBezTo>
                        <a:pt x="703" y="22962"/>
                        <a:pt x="4815" y="10627"/>
                        <a:pt x="11906" y="0"/>
                      </a:cubicBez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12019" y="1869281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8706" y="1869281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019175" y="1881188"/>
                  <a:ext cx="952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71438">
                      <a:moveTo>
                        <a:pt x="0" y="714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23925" y="1916906"/>
                  <a:ext cx="39886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86" h="23812">
                      <a:moveTo>
                        <a:pt x="0" y="23812"/>
                      </a:moveTo>
                      <a:lnTo>
                        <a:pt x="39886" y="0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74539" y="1916906"/>
                  <a:ext cx="39886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86" h="23812">
                      <a:moveTo>
                        <a:pt x="39886" y="238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23925" y="1797844"/>
                  <a:ext cx="44648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8" h="28575">
                      <a:moveTo>
                        <a:pt x="0" y="0"/>
                      </a:moveTo>
                      <a:lnTo>
                        <a:pt x="44648" y="28575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069777" y="1797844"/>
                  <a:ext cx="44648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8" h="28575">
                      <a:moveTo>
                        <a:pt x="44648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306830" y="17716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报告为空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70204" y="22707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87171"/>
                    </a:solidFill>
                    <a:latin typeface="+mn-lt"/>
                    <a:ea typeface="+mn-ea"/>
                    <a:cs typeface="+mn-cs"/>
                  </a:rPr>
                  <a:t>现象</a:t>
                </a:r>
                <a:endParaRPr lang="zh-CN" sz="120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69442" y="2540318"/>
                <a:ext cx="24126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thinking 推理块不可控地吃掉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9442" y="2807018"/>
                <a:ext cx="23853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32768 输出预算，正文被截断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876300" y="32004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1B2A45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70204" y="33756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根因</a:t>
                </a:r>
                <a:endPara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9442" y="36452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推理预算不设防，静默挤占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69442" y="39119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正文空间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876300" y="4305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1B2A45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70204" y="4480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4D399"/>
                    </a:solidFill>
                    <a:latin typeface="+mn-lt"/>
                    <a:ea typeface="+mn-ea"/>
                    <a:cs typeface="+mn-cs"/>
                  </a:rPr>
                  <a:t>修复</a:t>
                </a:r>
                <a:endParaRPr lang="zh-CN" sz="120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69442" y="475011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默认显式关闭 thinking，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9442" y="50168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需要推理的节点显式开启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81500" y="1485900"/>
              <a:ext cx="3429000" cy="3924300"/>
              <a:chOff x="4381500" y="1485900"/>
              <a:chExt cx="3429000" cy="39243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381500" y="1485900"/>
                <a:ext cx="3429000" cy="3924300"/>
              </a:xfrm>
              <a:prstGeom prst="roundRect">
                <a:avLst>
                  <a:gd name="adj" fmla="val 333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683919" y="1750219"/>
                <a:ext cx="214312" cy="214313"/>
                <a:chOff x="4683919" y="1750219"/>
                <a:chExt cx="214312" cy="214313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4683919" y="1750219"/>
                  <a:ext cx="214312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07156">
                      <a:moveTo>
                        <a:pt x="0" y="107156"/>
                      </a:moveTo>
                      <a:lnTo>
                        <a:pt x="11906" y="107156"/>
                      </a:lnTo>
                      <a:moveTo>
                        <a:pt x="107156" y="0"/>
                      </a:moveTo>
                      <a:lnTo>
                        <a:pt x="107156" y="11906"/>
                      </a:lnTo>
                      <a:moveTo>
                        <a:pt x="202406" y="107156"/>
                      </a:moveTo>
                      <a:lnTo>
                        <a:pt x="214312" y="107156"/>
                      </a:lnTo>
                      <a:moveTo>
                        <a:pt x="30956" y="30956"/>
                      </a:moveTo>
                      <a:lnTo>
                        <a:pt x="39291" y="39291"/>
                      </a:lnTo>
                      <a:moveTo>
                        <a:pt x="183356" y="30956"/>
                      </a:moveTo>
                      <a:lnTo>
                        <a:pt x="175022" y="39291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726496" y="1797844"/>
                  <a:ext cx="129159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159" h="166688">
                      <a:moveTo>
                        <a:pt x="28861" y="107156"/>
                      </a:moveTo>
                      <a:cubicBezTo>
                        <a:pt x="8361" y="91782"/>
                        <a:pt x="0" y="65015"/>
                        <a:pt x="8103" y="40706"/>
                      </a:cubicBezTo>
                      <a:cubicBezTo>
                        <a:pt x="16206" y="16397"/>
                        <a:pt x="38955" y="0"/>
                        <a:pt x="64579" y="0"/>
                      </a:cubicBezTo>
                      <a:cubicBezTo>
                        <a:pt x="90203" y="0"/>
                        <a:pt x="112953" y="16397"/>
                        <a:pt x="121056" y="40706"/>
                      </a:cubicBezTo>
                      <a:cubicBezTo>
                        <a:pt x="129159" y="65015"/>
                        <a:pt x="120797" y="91782"/>
                        <a:pt x="100298" y="107156"/>
                      </a:cubicBezTo>
                      <a:cubicBezTo>
                        <a:pt x="90870" y="116489"/>
                        <a:pt x="86449" y="129752"/>
                        <a:pt x="88392" y="142875"/>
                      </a:cubicBezTo>
                      <a:cubicBezTo>
                        <a:pt x="88392" y="156026"/>
                        <a:pt x="77731" y="166688"/>
                        <a:pt x="64579" y="166688"/>
                      </a:cubicBezTo>
                      <a:cubicBezTo>
                        <a:pt x="51428" y="166688"/>
                        <a:pt x="40767" y="156026"/>
                        <a:pt x="40767" y="142875"/>
                      </a:cubicBezTo>
                      <a:cubicBezTo>
                        <a:pt x="42710" y="129752"/>
                        <a:pt x="38288" y="116489"/>
                        <a:pt x="28861" y="107156"/>
                      </a:cubicBez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763691" y="1916906"/>
                  <a:ext cx="54769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69" h="9525">
                      <a:moveTo>
                        <a:pt x="0" y="0"/>
                      </a:moveTo>
                      <a:lnTo>
                        <a:pt x="54769" y="0"/>
                      </a:lnTo>
                    </a:path>
                  </a:pathLst>
                </a:custGeom>
                <a:noFill/>
                <a:ln w="23812">
                  <a:solidFill>
                    <a:srgbClr val="F8717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5078730" y="17716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搜索悄悄没结果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42104" y="22707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87171"/>
                    </a:solidFill>
                    <a:latin typeface="+mn-lt"/>
                    <a:ea typeface="+mn-ea"/>
                    <a:cs typeface="+mn-cs"/>
                  </a:rPr>
                  <a:t>现象</a:t>
                </a:r>
                <a:endParaRPr lang="zh-CN" sz="120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41342" y="2540318"/>
                <a:ext cx="20098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DuckDuckGo 并发请求时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41342" y="28070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返回空结果页，检索静默失败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4648200" y="32004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1B2A45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642104" y="33756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根因</a:t>
                </a:r>
                <a:endPara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641342" y="36452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对并发敏感，深度限流下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41342" y="39119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空页与真无结果难以区分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4648200" y="4305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1B2A45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642104" y="4480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4D399"/>
                    </a:solidFill>
                    <a:latin typeface="+mn-lt"/>
                    <a:ea typeface="+mn-ea"/>
                    <a:cs typeface="+mn-cs"/>
                  </a:rPr>
                  <a:t>修复</a:t>
                </a:r>
                <a:endParaRPr lang="zh-CN" sz="120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41342" y="47501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全局节流锁 + 3 秒间隔，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641342" y="501681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空结果重试 2 次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153400" y="1485900"/>
              <a:ext cx="3429000" cy="3924300"/>
              <a:chOff x="8153400" y="1485900"/>
              <a:chExt cx="3429000" cy="39243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153400" y="1485900"/>
                <a:ext cx="3429000" cy="3924300"/>
              </a:xfrm>
              <a:prstGeom prst="roundRect">
                <a:avLst>
                  <a:gd name="adj" fmla="val 3333"/>
                </a:avLst>
              </a:prstGeom>
              <a:solidFill>
                <a:schemeClr val="lt2"/>
              </a:solidFill>
              <a:ln w="9525">
                <a:solidFill>
                  <a:srgbClr val="26345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448725" y="1743125"/>
                <a:ext cx="225317" cy="225317"/>
              </a:xfrm>
              <a:custGeom>
                <a:avLst/>
                <a:gdLst/>
                <a:ahLst/>
                <a:cxnLst/>
                <a:rect l="l" t="t" r="r" b="b"/>
                <a:pathLst>
                  <a:path w="225317" h="225317">
                    <a:moveTo>
                      <a:pt x="54719" y="90438"/>
                    </a:moveTo>
                    <a:lnTo>
                      <a:pt x="90438" y="90438"/>
                    </a:lnTo>
                    <a:lnTo>
                      <a:pt x="90438" y="54719"/>
                    </a:lnTo>
                    <a:lnTo>
                      <a:pt x="48766" y="13047"/>
                    </a:lnTo>
                    <a:cubicBezTo>
                      <a:pt x="76084" y="0"/>
                      <a:pt x="108660" y="5589"/>
                      <a:pt x="130067" y="26996"/>
                    </a:cubicBezTo>
                    <a:cubicBezTo>
                      <a:pt x="151474" y="48403"/>
                      <a:pt x="157063" y="80979"/>
                      <a:pt x="144016" y="108297"/>
                    </a:cubicBezTo>
                    <a:lnTo>
                      <a:pt x="215453" y="179735"/>
                    </a:lnTo>
                    <a:cubicBezTo>
                      <a:pt x="225317" y="189598"/>
                      <a:pt x="225317" y="205590"/>
                      <a:pt x="215453" y="215453"/>
                    </a:cubicBezTo>
                    <a:cubicBezTo>
                      <a:pt x="205590" y="225317"/>
                      <a:pt x="189598" y="225317"/>
                      <a:pt x="179735" y="215453"/>
                    </a:cubicBezTo>
                    <a:lnTo>
                      <a:pt x="108297" y="144016"/>
                    </a:lnTo>
                    <a:cubicBezTo>
                      <a:pt x="80979" y="157063"/>
                      <a:pt x="48403" y="151474"/>
                      <a:pt x="26996" y="130067"/>
                    </a:cubicBezTo>
                    <a:cubicBezTo>
                      <a:pt x="5589" y="108660"/>
                      <a:pt x="0" y="76084"/>
                      <a:pt x="13047" y="48766"/>
                    </a:cubicBezTo>
                    <a:lnTo>
                      <a:pt x="54719" y="90438"/>
                    </a:lnTo>
                  </a:path>
                </a:pathLst>
              </a:custGeom>
              <a:noFill/>
              <a:ln w="23812">
                <a:solidFill>
                  <a:srgbClr val="F87171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850630" y="1771650"/>
                <a:ext cx="8788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DAG 空转</a:t>
                </a:r>
                <a:endPara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414004" y="22707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87171"/>
                    </a:solidFill>
                    <a:latin typeface="+mn-lt"/>
                    <a:ea typeface="+mn-ea"/>
                    <a:cs typeface="+mn-cs"/>
                  </a:rPr>
                  <a:t>现象</a:t>
                </a:r>
                <a:endParaRPr lang="zh-CN" sz="1200" dirty="0">
                  <a:solidFill>
                    <a:srgbClr val="F8717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413242" y="2540318"/>
                <a:ext cx="24673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采集 Agent 一直搜索不收敛，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13242" y="28070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后续分析撰写节点全部空转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8420100" y="32004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1B2A45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414004" y="33756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根因</a:t>
                </a:r>
                <a:endPara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413242" y="36452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没有硬停止条件，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13242" y="39119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模型倾向「再多搜一轮」</a:t>
                </a:r>
                <a:endPara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8420100" y="4305300"/>
                <a:ext cx="2895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95600" h="9525">
                    <a:moveTo>
                      <a:pt x="0" y="0"/>
                    </a:moveTo>
                    <a:lnTo>
                      <a:pt x="2895600" y="0"/>
                    </a:lnTo>
                  </a:path>
                </a:pathLst>
              </a:custGeom>
              <a:noFill/>
              <a:ln w="9525">
                <a:solidFill>
                  <a:srgbClr val="1B2A45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8414004" y="448056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4D399"/>
                    </a:solidFill>
                    <a:latin typeface="+mn-lt"/>
                    <a:ea typeface="+mn-ea"/>
                    <a:cs typeface="+mn-cs"/>
                  </a:rPr>
                  <a:t>修复</a:t>
                </a:r>
                <a:endParaRPr lang="zh-CN" sz="1200" dirty="0">
                  <a:solidFill>
                    <a:srgbClr val="34D399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413242" y="4750118"/>
                <a:ext cx="23672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prompt 硬停止（最多 2 轮）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413242" y="5016818"/>
                <a:ext cx="16220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 迭代耗尽强制收尾</a:t>
                </a:r>
                <a:endPara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609600" y="5581650"/>
            <a:ext cx="10972800" cy="476250"/>
            <a:chOff x="609600" y="5581650"/>
            <a:chExt cx="10972800" cy="476250"/>
          </a:xfrm>
        </p:grpSpPr>
        <p:sp>
          <p:nvSpPr>
            <p:cNvPr id="65" name="Rectangle 65"/>
            <p:cNvSpPr/>
            <p:nvPr/>
          </p:nvSpPr>
          <p:spPr>
            <a:xfrm>
              <a:off x="609600" y="5581650"/>
              <a:ext cx="10972800" cy="476250"/>
            </a:xfrm>
            <a:prstGeom prst="roundRect">
              <a:avLst>
                <a:gd name="adj" fmla="val 24000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912416" y="5742384"/>
              <a:ext cx="170258" cy="149622"/>
              <a:chOff x="912416" y="5742384"/>
              <a:chExt cx="170258" cy="149622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912416" y="5742384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12416" y="5804297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12416" y="5866209"/>
                <a:ext cx="41275" cy="25797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25797">
                    <a:moveTo>
                      <a:pt x="0" y="10319"/>
                    </a:moveTo>
                    <a:lnTo>
                      <a:pt x="15478" y="25797"/>
                    </a:ln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89806" y="5757862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89806" y="5819775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89806" y="5881687"/>
                <a:ext cx="9286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868" h="9525">
                    <a:moveTo>
                      <a:pt x="0" y="0"/>
                    </a:moveTo>
                    <a:lnTo>
                      <a:pt x="92868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268730" y="5724525"/>
              <a:ext cx="73049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审计修复文化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：每个修复都在代码注释里写明原因与实测数据——把踩坑史写进代码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75" name="Line 75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14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4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50000" t="15000" r="50000" b="85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99160" y="533400"/>
            <a:ext cx="2453640" cy="948690"/>
            <a:chOff x="899160" y="533400"/>
            <a:chExt cx="2453640" cy="948690"/>
          </a:xfrm>
        </p:grpSpPr>
        <p:sp>
          <p:nvSpPr>
            <p:cNvPr id="3" name="Rectangle 3"/>
            <p:cNvSpPr/>
            <p:nvPr/>
          </p:nvSpPr>
          <p:spPr>
            <a:xfrm>
              <a:off x="914400" y="533400"/>
              <a:ext cx="12573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rgbClr val="26345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86650" y="611981"/>
              <a:ext cx="71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spc="75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· 收束</a:t>
              </a:r>
              <a:endParaRPr lang="zh-CN" sz="1120" spc="75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9160" y="8953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带走三条原则</a:t>
              </a:r>
              <a:endParaRPr lang="zh-CN" sz="30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" y="1333500"/>
              <a:ext cx="5334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96112" y="1966912"/>
            <a:ext cx="6226569" cy="710756"/>
            <a:chOff x="896112" y="1966912"/>
            <a:chExt cx="6226569" cy="710756"/>
          </a:xfrm>
        </p:grpSpPr>
        <p:sp>
          <p:nvSpPr>
            <p:cNvPr id="8" name="TextBox 8"/>
            <p:cNvSpPr txBox="1"/>
            <p:nvPr/>
          </p:nvSpPr>
          <p:spPr>
            <a:xfrm>
              <a:off x="896112" y="19735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01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79320" y="196691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能用代码的绝不用模型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83892" y="2406968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确定性是最大的可靠性——查询规划、检索、抓取都不需要智能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6112" y="2976562"/>
            <a:ext cx="5526881" cy="710756"/>
            <a:chOff x="896112" y="2976562"/>
            <a:chExt cx="5526881" cy="710756"/>
          </a:xfrm>
        </p:grpSpPr>
        <p:sp>
          <p:nvSpPr>
            <p:cNvPr id="12" name="TextBox 12"/>
            <p:cNvSpPr txBox="1"/>
            <p:nvPr/>
          </p:nvSpPr>
          <p:spPr>
            <a:xfrm>
              <a:off x="896112" y="298323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02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79320" y="297656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预算与证据双约束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83892" y="3416618"/>
              <a:ext cx="4239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钱和事实都要可核算——三级预算 + 证据纪律缺一不可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6112" y="3986212"/>
            <a:ext cx="5849493" cy="710756"/>
            <a:chOff x="896112" y="3986212"/>
            <a:chExt cx="5849493" cy="710756"/>
          </a:xfrm>
        </p:grpSpPr>
        <p:sp>
          <p:nvSpPr>
            <p:cNvPr id="16" name="TextBox 16"/>
            <p:cNvSpPr txBox="1"/>
            <p:nvPr/>
          </p:nvSpPr>
          <p:spPr>
            <a:xfrm>
              <a:off x="896112" y="39928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03</a:t>
              </a:r>
              <a:endParaRPr lang="zh-CN" sz="36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79320" y="3986212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错误要变成约束，而不是寄望重试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83892" y="4426268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棘轮机制——每次踩坑都沉淀为循环里的一条永久约束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7542" y="4883468"/>
            <a:ext cx="5712311" cy="264033"/>
            <a:chOff x="907542" y="4883468"/>
            <a:chExt cx="5712311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907542" y="4883468"/>
              <a:ext cx="5712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下一步：OpenTelemetry 深度埋点 · PostgreSQL 迁移 · 分布式部署</a:t>
              </a:r>
              <a:endPara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5334000"/>
            <a:ext cx="10972800" cy="762000"/>
            <a:chOff x="609600" y="5334000"/>
            <a:chExt cx="10972800" cy="762000"/>
          </a:xfrm>
        </p:grpSpPr>
        <p:sp>
          <p:nvSpPr>
            <p:cNvPr id="22" name="Rectangle 22"/>
            <p:cNvSpPr/>
            <p:nvPr/>
          </p:nvSpPr>
          <p:spPr>
            <a:xfrm>
              <a:off x="609600" y="5334000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5334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746915" y="5602605"/>
              <a:ext cx="66981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effectLst>
                    <a:glow rad="57150">
                      <a:srgbClr val="2DD4BF">
                        <a:alpha val="3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Agent = 模型 + Harness——</a:t>
              </a:r>
              <a:r>
                <a:rPr lang="zh-CN" sz="2100" b="1" dirty="0">
                  <a:solidFill>
                    <a:schemeClr val="accent2"/>
                  </a:solidFill>
                  <a:effectLst>
                    <a:glow rad="57150">
                      <a:srgbClr val="2DD4BF">
                        <a:alpha val="3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把工程做厚，模型才可靠</a:t>
              </a:r>
              <a:endParaRPr lang="zh-CN" sz="2100" b="1" dirty="0">
                <a:solidFill>
                  <a:schemeClr val="accent2"/>
                </a:solidFill>
                <a:effectLst>
                  <a:glow rad="57150">
                    <a:srgbClr val="2DD4BF">
                      <a:alpha val="30000"/>
                    </a:srgbClr>
                  </a:glow>
                </a:effectLst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14400" y="6507956"/>
            <a:ext cx="10368915" cy="220028"/>
            <a:chOff x="914400" y="6507956"/>
            <a:chExt cx="10368915" cy="220028"/>
          </a:xfrm>
        </p:grpSpPr>
        <p:sp>
          <p:nvSpPr>
            <p:cNvPr id="26" name="Line 26"/>
            <p:cNvSpPr/>
            <p:nvPr/>
          </p:nvSpPr>
          <p:spPr>
            <a:xfrm>
              <a:off x="914400" y="6572250"/>
              <a:ext cx="9410700" cy="9525"/>
            </a:xfrm>
            <a:custGeom>
              <a:avLst/>
              <a:gdLst/>
              <a:ahLst/>
              <a:cxnLst/>
              <a:rect l="l" t="t" r="r" b="b"/>
              <a:pathLst>
                <a:path w="9410700" h="9525">
                  <a:moveTo>
                    <a:pt x="0" y="0"/>
                  </a:moveTo>
                  <a:lnTo>
                    <a:pt x="9410700" y="0"/>
                  </a:lnTo>
                </a:path>
              </a:pathLst>
            </a:custGeom>
            <a:noFill/>
            <a:ln w="9525">
              <a:solidFill>
                <a:srgbClr val="26345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0439400" y="6534150"/>
              <a:ext cx="762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57275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706100" y="6534150"/>
              <a:ext cx="76200" cy="76200"/>
            </a:xfrm>
            <a:prstGeom prst="rect">
              <a:avLst/>
            </a:prstGeom>
            <a:solidFill>
              <a:srgbClr val="26345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766791" y="65079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15 / 15</a:t>
              </a:r>
              <a:endParaRPr lang="zh-CN" sz="112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2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3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4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5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6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7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8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9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0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1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2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3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4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5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6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7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8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19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20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ags/tag21.xml><?xml version="1.0" encoding="utf-8"?>
<p:tagLst xmlns:p="http://schemas.openxmlformats.org/presentationml/2006/main">
  <p:tag name="KSO_WM_DIAGRAM_VIRTUALLY_FRAME" val="{&quot;height&quot;:249,&quot;left&quot;:48,&quot;top&quot;:228,&quot;width&quot;:525}"/>
</p:tagLst>
</file>

<file path=ppt/theme/theme1.xml><?xml version="1.0" encoding="utf-8"?>
<a:theme xmlns:a="http://schemas.openxmlformats.org/drawingml/2006/main" name="competitive-agent-sharing">
  <a:themeElements>
    <a:clrScheme name="competitive-agent-sharing">
      <a:dk1>
        <a:srgbClr val="E8EEF7"/>
      </a:dk1>
      <a:lt1>
        <a:srgbClr val="0B1220"/>
      </a:lt1>
      <a:dk2>
        <a:srgbClr val="1F497D"/>
      </a:dk2>
      <a:lt2>
        <a:srgbClr val="131E33"/>
      </a:lt2>
      <a:accent1>
        <a:srgbClr val="4F8DF9"/>
      </a:accent1>
      <a:accent2>
        <a:srgbClr val="2DD4BF"/>
      </a:accent2>
      <a:accent3>
        <a:srgbClr val="F5A623"/>
      </a:accent3>
      <a:accent4>
        <a:srgbClr val="4F8DF9"/>
      </a:accent4>
      <a:accent5>
        <a:srgbClr val="101A2E"/>
      </a:accent5>
      <a:accent6>
        <a:srgbClr val="9FB0C7"/>
      </a:accent6>
      <a:hlink>
        <a:srgbClr val="2DD4BF"/>
      </a:hlink>
      <a:folHlink>
        <a:srgbClr val="F5A623"/>
      </a:folHlink>
    </a:clrScheme>
    <a:fontScheme name="competitive-agent-shar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etitive-agent-sha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mpetitive-agent-sharing">
  <a:themeElements>
    <a:clrScheme name="competitive-agent-sharing">
      <a:dk1>
        <a:srgbClr val="E8EEF7"/>
      </a:dk1>
      <a:lt1>
        <a:srgbClr val="0B1220"/>
      </a:lt1>
      <a:dk2>
        <a:srgbClr val="1F497D"/>
      </a:dk2>
      <a:lt2>
        <a:srgbClr val="131E33"/>
      </a:lt2>
      <a:accent1>
        <a:srgbClr val="4F8DF9"/>
      </a:accent1>
      <a:accent2>
        <a:srgbClr val="2DD4BF"/>
      </a:accent2>
      <a:accent3>
        <a:srgbClr val="F5A623"/>
      </a:accent3>
      <a:accent4>
        <a:srgbClr val="4F8DF9"/>
      </a:accent4>
      <a:accent5>
        <a:srgbClr val="101A2E"/>
      </a:accent5>
      <a:accent6>
        <a:srgbClr val="9FB0C7"/>
      </a:accent6>
      <a:hlink>
        <a:srgbClr val="2DD4BF"/>
      </a:hlink>
      <a:folHlink>
        <a:srgbClr val="F5A623"/>
      </a:folHlink>
    </a:clrScheme>
    <a:fontScheme name="competitive-agent-shar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etitive-agent-sha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4109</Words>
  <Application>WPS 演示</Application>
  <PresentationFormat>On-screen Show (16:9)</PresentationFormat>
  <Paragraphs>682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Consolas</vt:lpstr>
      <vt:lpstr>微软雅黑</vt:lpstr>
      <vt:lpstr>Arial Unicode MS</vt:lpstr>
      <vt:lpstr>competitive-agent-sharing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施俊杰</cp:lastModifiedBy>
  <cp:revision>5</cp:revision>
  <dcterms:created xsi:type="dcterms:W3CDTF">2026-08-31T02:32:00Z</dcterms:created>
  <dcterms:modified xsi:type="dcterms:W3CDTF">2026-08-31T08:28:29Z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CD2C3A50C6D540918CA0035266A8A5F6_12</vt:lpwstr>
  </property>
</Properties>
</file>